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347" r:id="rId3"/>
    <p:sldId id="348" r:id="rId4"/>
    <p:sldId id="385" r:id="rId5"/>
    <p:sldId id="350" r:id="rId6"/>
    <p:sldId id="351" r:id="rId7"/>
    <p:sldId id="352" r:id="rId8"/>
    <p:sldId id="353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87" r:id="rId33"/>
    <p:sldId id="388" r:id="rId34"/>
    <p:sldId id="389" r:id="rId35"/>
    <p:sldId id="391" r:id="rId36"/>
    <p:sldId id="392" r:id="rId37"/>
    <p:sldId id="393" r:id="rId38"/>
    <p:sldId id="394" r:id="rId39"/>
    <p:sldId id="395" r:id="rId40"/>
    <p:sldId id="396" r:id="rId41"/>
    <p:sldId id="397" r:id="rId42"/>
    <p:sldId id="398" r:id="rId43"/>
    <p:sldId id="399" r:id="rId44"/>
    <p:sldId id="400" r:id="rId45"/>
    <p:sldId id="401" r:id="rId46"/>
    <p:sldId id="403" r:id="rId47"/>
    <p:sldId id="404" r:id="rId48"/>
    <p:sldId id="380" r:id="rId49"/>
    <p:sldId id="381" r:id="rId50"/>
    <p:sldId id="382" r:id="rId51"/>
    <p:sldId id="383" r:id="rId52"/>
    <p:sldId id="412" r:id="rId53"/>
    <p:sldId id="384" r:id="rId54"/>
    <p:sldId id="405" r:id="rId55"/>
    <p:sldId id="406" r:id="rId56"/>
    <p:sldId id="407" r:id="rId57"/>
    <p:sldId id="408" r:id="rId58"/>
    <p:sldId id="409" r:id="rId59"/>
    <p:sldId id="410" r:id="rId60"/>
    <p:sldId id="411" r:id="rId6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75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83" d="100"/>
          <a:sy n="83" d="100"/>
        </p:scale>
        <p:origin x="3855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8D14A-A2BF-4D2C-97B1-47523DF8FA26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26E42-DDF8-4127-B88A-D6D542749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72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404" y="2055224"/>
            <a:ext cx="7541623" cy="160278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404" y="3750085"/>
            <a:ext cx="754162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60FA-70EF-4CD3-89A3-57483281B23F}" type="datetime1">
              <a:rPr lang="ru-RU" smtClean="0"/>
              <a:t>29.09.2026</a:t>
            </a:fld>
            <a:endParaRPr lang="ru-RU"/>
          </a:p>
        </p:txBody>
      </p:sp>
      <p:pic>
        <p:nvPicPr>
          <p:cNvPr id="1028" name="Picture 4" descr="https://habrastorage.org/getpro/habr/post_images/f0b/a0e/c89/f0ba0ec89f55b3982050105920980c70.jpg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06" r="14873"/>
          <a:stretch/>
        </p:blipFill>
        <p:spPr bwMode="auto">
          <a:xfrm flipH="1">
            <a:off x="9336069" y="478970"/>
            <a:ext cx="2585962" cy="57563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softEdge rad="127000"/>
          </a:effectLst>
        </p:spPr>
      </p:pic>
      <p:pic>
        <p:nvPicPr>
          <p:cNvPr id="1030" name="Picture 6" descr="https://www.spbstu.ru/upload/branding/logo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14"/>
            <a:ext cx="5235031" cy="196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09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909" y="0"/>
            <a:ext cx="10125891" cy="1087927"/>
          </a:xfrm>
        </p:spPr>
        <p:txBody>
          <a:bodyPr>
            <a:normAutofit/>
          </a:bodyPr>
          <a:lstStyle>
            <a:lvl1pPr>
              <a:defRPr sz="3200" b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271451"/>
            <a:ext cx="11747863" cy="5355772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0" y="0"/>
            <a:ext cx="838200" cy="1087927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fld id="{7B1085B8-078E-46E9-8900-DD129496809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50" name="Picture 2" descr="https://www.spbstu.ru/upload/branding/logo_03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7909" cy="108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113211" y="1087927"/>
            <a:ext cx="119220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90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Титульный слайд">
    <p:bg>
      <p:bgPr>
        <a:blipFill dpi="0"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saturation sat="0"/>
                    </a14:imgEffect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0" y="1944547"/>
            <a:ext cx="12192000" cy="20602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4400" y="2448640"/>
            <a:ext cx="10363200" cy="119444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ctr" fontAlgn="t">
              <a:defRPr sz="2400" b="1" i="0"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pic>
        <p:nvPicPr>
          <p:cNvPr id="10" name="Изображение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80" y="179929"/>
            <a:ext cx="1418385" cy="2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843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8F1F6-3B01-4815-8B35-A2FA67A63612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085B8-078E-46E9-8900-DD12949680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53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protocol-numbers/protocol-numbers.x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/>
              <a:t>Сети ЭВМ и телекоммуникации компьютерных сетей</a:t>
            </a:r>
            <a:endParaRPr lang="ru-RU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 3: Сетевой уровень. Часть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3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Ограничения мостов и </a:t>
            </a:r>
            <a:r>
              <a:rPr lang="ru-RU" dirty="0" smtClean="0"/>
              <a:t>коммутаторов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Поддержка только топологий без петель</a:t>
            </a:r>
          </a:p>
          <a:p>
            <a:r>
              <a:rPr lang="ru-RU" dirty="0"/>
              <a:t>Слабая изоляция сети  (широковещательный трафик)</a:t>
            </a:r>
          </a:p>
          <a:p>
            <a:r>
              <a:rPr lang="ru-RU" dirty="0"/>
              <a:t>Поддержка сетей только с одинаковым MTU</a:t>
            </a:r>
          </a:p>
          <a:p>
            <a:r>
              <a:rPr lang="ru-RU" dirty="0"/>
              <a:t>Привязка к МАС-адресам и “схожим технологиям”</a:t>
            </a:r>
          </a:p>
          <a:p>
            <a:r>
              <a:rPr lang="ru-RU" dirty="0"/>
              <a:t>Крупные сети:   или   a) переделка канального уровня</a:t>
            </a:r>
          </a:p>
          <a:p>
            <a:pPr marL="0" indent="0">
              <a:buNone/>
            </a:pPr>
            <a:r>
              <a:rPr lang="ru-RU" dirty="0"/>
              <a:t>                           </a:t>
            </a:r>
            <a:r>
              <a:rPr lang="ru-RU" dirty="0" smtClean="0"/>
              <a:t>   или   </a:t>
            </a:r>
            <a:r>
              <a:rPr lang="ru-RU" dirty="0"/>
              <a:t>b) введение дополнительного (сетевого) уровня</a:t>
            </a:r>
          </a:p>
          <a:p>
            <a:endParaRPr lang="ru-RU" dirty="0" smtClean="0"/>
          </a:p>
          <a:p>
            <a:pPr marL="0" indent="0">
              <a:buNone/>
            </a:pPr>
            <a:r>
              <a:rPr lang="ru-RU" b="1" dirty="0" smtClean="0">
                <a:solidFill>
                  <a:srgbClr val="276D3F"/>
                </a:solidFill>
              </a:rPr>
              <a:t>Сетевой </a:t>
            </a:r>
            <a:r>
              <a:rPr lang="ru-RU" b="1" dirty="0">
                <a:solidFill>
                  <a:srgbClr val="276D3F"/>
                </a:solidFill>
              </a:rPr>
              <a:t>уровень  </a:t>
            </a:r>
          </a:p>
          <a:p>
            <a:r>
              <a:rPr lang="ru-RU" dirty="0"/>
              <a:t>Задача: Объединение (отдельных) сетей в единую составную сеть</a:t>
            </a:r>
          </a:p>
          <a:p>
            <a:r>
              <a:rPr lang="ru-RU" dirty="0"/>
              <a:t>Функции: </a:t>
            </a:r>
          </a:p>
          <a:p>
            <a:pPr lvl="1"/>
            <a:r>
              <a:rPr lang="ru-RU" dirty="0"/>
              <a:t>Передача пакетов между узлами различных подсетей составной сети произвольной топологии</a:t>
            </a:r>
          </a:p>
          <a:p>
            <a:pPr lvl="1"/>
            <a:r>
              <a:rPr lang="ru-RU" dirty="0"/>
              <a:t>Выбор маршрута</a:t>
            </a:r>
          </a:p>
          <a:p>
            <a:pPr lvl="1"/>
            <a:r>
              <a:rPr lang="ru-RU" dirty="0"/>
              <a:t>Согласование протоколов канального уровня</a:t>
            </a:r>
          </a:p>
          <a:p>
            <a:endParaRPr lang="ru-RU" dirty="0"/>
          </a:p>
          <a:p>
            <a:r>
              <a:rPr lang="ru-RU" dirty="0"/>
              <a:t>Программная реализация :   Хосты и маршрутизаторы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24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Необходима универсальная адресация любого узла составной сети</a:t>
            </a:r>
            <a:r>
              <a:rPr lang="ru-RU" dirty="0" smtClean="0"/>
              <a:t>, </a:t>
            </a:r>
            <a:r>
              <a:rPr lang="ru-RU" dirty="0"/>
              <a:t>не связанная с МАС-адресами узлов в отдельной подсети </a:t>
            </a:r>
          </a:p>
          <a:p>
            <a:r>
              <a:rPr lang="ru-RU" dirty="0" smtClean="0"/>
              <a:t>Естественный </a:t>
            </a:r>
            <a:r>
              <a:rPr lang="ru-RU" dirty="0"/>
              <a:t>путь –  N сети + N узла в сети.  </a:t>
            </a:r>
          </a:p>
          <a:p>
            <a:r>
              <a:rPr lang="ru-RU" dirty="0" smtClean="0"/>
              <a:t>N </a:t>
            </a:r>
            <a:r>
              <a:rPr lang="ru-RU" dirty="0"/>
              <a:t>сети должен указывать маршрут (направление) передачи</a:t>
            </a:r>
          </a:p>
          <a:p>
            <a:r>
              <a:rPr lang="ru-RU" dirty="0" smtClean="0"/>
              <a:t>Внутри </a:t>
            </a:r>
            <a:r>
              <a:rPr lang="ru-RU" dirty="0"/>
              <a:t>подсети - Локальные адреса (MAC, Х25, АТМ)</a:t>
            </a:r>
          </a:p>
          <a:p>
            <a:r>
              <a:rPr lang="ru-RU" dirty="0" smtClean="0"/>
              <a:t>Адрес:</a:t>
            </a:r>
          </a:p>
          <a:p>
            <a:pPr lvl="1"/>
            <a:r>
              <a:rPr lang="ru-RU" dirty="0" smtClean="0"/>
              <a:t>а</a:t>
            </a:r>
            <a:r>
              <a:rPr lang="ru-RU" dirty="0"/>
              <a:t>) Где</a:t>
            </a:r>
            <a:r>
              <a:rPr lang="ru-RU" dirty="0" smtClean="0"/>
              <a:t>?</a:t>
            </a:r>
          </a:p>
          <a:p>
            <a:pPr lvl="1"/>
            <a:r>
              <a:rPr lang="ru-RU" dirty="0" smtClean="0"/>
              <a:t>б</a:t>
            </a:r>
            <a:r>
              <a:rPr lang="ru-RU" dirty="0"/>
              <a:t>) Кто?  </a:t>
            </a:r>
          </a:p>
          <a:p>
            <a:r>
              <a:rPr lang="ru-RU" dirty="0" smtClean="0"/>
              <a:t>Сетевой </a:t>
            </a:r>
            <a:r>
              <a:rPr lang="ru-RU" dirty="0"/>
              <a:t>уровень – свой пакет. Формат пакета  не зависит от канального уровня. Заголовок включает адрес и др. информацию - фрагментация, TTL, </a:t>
            </a:r>
            <a:r>
              <a:rPr lang="ru-RU" dirty="0" err="1"/>
              <a:t>QoS</a:t>
            </a:r>
            <a:r>
              <a:rPr lang="ru-RU" dirty="0"/>
              <a:t>…</a:t>
            </a:r>
          </a:p>
          <a:p>
            <a:r>
              <a:rPr lang="ru-RU" b="1" dirty="0" smtClean="0">
                <a:solidFill>
                  <a:srgbClr val="276D3F"/>
                </a:solidFill>
              </a:rPr>
              <a:t>Сетевой </a:t>
            </a:r>
            <a:r>
              <a:rPr lang="ru-RU" b="1" dirty="0">
                <a:solidFill>
                  <a:srgbClr val="276D3F"/>
                </a:solidFill>
              </a:rPr>
              <a:t>уровень – передача пакета между сетями.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85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Составная сеть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2406" y="1271451"/>
            <a:ext cx="5822840" cy="535577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Совокупность сетей, соединенных особыми устройствами – маршрутизаторами</a:t>
            </a:r>
          </a:p>
          <a:p>
            <a:r>
              <a:rPr lang="ru-RU" dirty="0"/>
              <a:t>Компоненты: </a:t>
            </a:r>
            <a:r>
              <a:rPr lang="en-US" dirty="0"/>
              <a:t>LAN, WAN</a:t>
            </a:r>
            <a:endParaRPr lang="ru-RU" dirty="0"/>
          </a:p>
          <a:p>
            <a:r>
              <a:rPr lang="ru-RU" dirty="0"/>
              <a:t>Различные технологии и топологии</a:t>
            </a:r>
          </a:p>
          <a:p>
            <a:r>
              <a:rPr lang="ru-RU" dirty="0"/>
              <a:t>Внутренняя структура серей не существенна</a:t>
            </a:r>
          </a:p>
          <a:p>
            <a:r>
              <a:rPr lang="ru-RU" dirty="0"/>
              <a:t>Адреса внутри сети – локальные (</a:t>
            </a:r>
            <a:r>
              <a:rPr lang="en-US" dirty="0"/>
              <a:t>MAC, X25, ATM)</a:t>
            </a:r>
            <a:endParaRPr lang="ru-RU" dirty="0"/>
          </a:p>
          <a:p>
            <a:r>
              <a:rPr lang="ru-RU" dirty="0"/>
              <a:t>Необходима адресация сетей</a:t>
            </a:r>
          </a:p>
          <a:p>
            <a:r>
              <a:rPr lang="ru-RU" dirty="0"/>
              <a:t>Подсети объединяются маршрутизаторами, в них (и в хостах) и реализуются функции сетевого </a:t>
            </a:r>
            <a:r>
              <a:rPr lang="ru-RU" dirty="0" smtClean="0"/>
              <a:t>уровня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6" name="Объект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41" y="1496302"/>
            <a:ext cx="4859894" cy="480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2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Инкапсуляция данных на передающей стороне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0683" y="1170041"/>
            <a:ext cx="3804993" cy="2773920"/>
          </a:xfrm>
        </p:spPr>
        <p:txBody>
          <a:bodyPr>
            <a:normAutofit/>
          </a:bodyPr>
          <a:lstStyle/>
          <a:p>
            <a:r>
              <a:rPr lang="ru-RU" dirty="0" smtClean="0"/>
              <a:t>Служебная информация </a:t>
            </a:r>
            <a:r>
              <a:rPr lang="en-US" dirty="0" smtClean="0"/>
              <a:t>N-</a:t>
            </a:r>
            <a:r>
              <a:rPr lang="ru-RU" dirty="0" err="1" smtClean="0"/>
              <a:t>го</a:t>
            </a:r>
            <a:r>
              <a:rPr lang="ru-RU" dirty="0" smtClean="0"/>
              <a:t> уровня передается, как данные </a:t>
            </a:r>
            <a:r>
              <a:rPr lang="en-US" dirty="0" smtClean="0"/>
              <a:t>N-1</a:t>
            </a:r>
            <a:r>
              <a:rPr lang="ru-RU" dirty="0" smtClean="0"/>
              <a:t>-го</a:t>
            </a:r>
          </a:p>
          <a:p>
            <a:r>
              <a:rPr lang="ru-RU" dirty="0" smtClean="0"/>
              <a:t>Независимость уровней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388" y="1333679"/>
            <a:ext cx="6387301" cy="482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1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Маршрутизаторы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Функции межсетевого взаимодействия  реализуются  </a:t>
            </a:r>
          </a:p>
          <a:p>
            <a:pPr lvl="1"/>
            <a:r>
              <a:rPr lang="ru-RU" dirty="0" smtClean="0"/>
              <a:t>в </a:t>
            </a:r>
            <a:r>
              <a:rPr lang="ru-RU" dirty="0"/>
              <a:t>хостах  (модуль ПО)  </a:t>
            </a:r>
          </a:p>
          <a:p>
            <a:pPr lvl="1"/>
            <a:r>
              <a:rPr lang="ru-RU" dirty="0" smtClean="0"/>
              <a:t>в </a:t>
            </a:r>
            <a:r>
              <a:rPr lang="ru-RU" dirty="0"/>
              <a:t>специализированных пограничных устройствах сети – </a:t>
            </a:r>
            <a:r>
              <a:rPr lang="ru-RU" dirty="0" smtClean="0"/>
              <a:t>маршрутизаторах</a:t>
            </a:r>
            <a:endParaRPr lang="ru-RU" dirty="0"/>
          </a:p>
          <a:p>
            <a:r>
              <a:rPr lang="ru-RU" dirty="0" smtClean="0"/>
              <a:t>Маршрутизатор:</a:t>
            </a:r>
          </a:p>
          <a:p>
            <a:pPr lvl="1"/>
            <a:r>
              <a:rPr lang="ru-RU" dirty="0" smtClean="0"/>
              <a:t>специализированное </a:t>
            </a:r>
            <a:r>
              <a:rPr lang="ru-RU" dirty="0"/>
              <a:t>устройство </a:t>
            </a:r>
            <a:endParaRPr lang="ru-RU" dirty="0" smtClean="0"/>
          </a:p>
          <a:p>
            <a:pPr lvl="1"/>
            <a:r>
              <a:rPr lang="ru-RU" dirty="0" smtClean="0"/>
              <a:t>универсальный </a:t>
            </a:r>
            <a:r>
              <a:rPr lang="ru-RU" dirty="0"/>
              <a:t>PC c 2+ сетевыми портами. Каждый   порт – узел конкретной сети (адрес сети и адрес узла)</a:t>
            </a:r>
          </a:p>
          <a:p>
            <a:r>
              <a:rPr lang="ru-RU" dirty="0" smtClean="0"/>
              <a:t>Маршрутизатор </a:t>
            </a:r>
            <a:r>
              <a:rPr lang="ru-RU" dirty="0"/>
              <a:t>– содержит таблицы маршрутизации</a:t>
            </a:r>
          </a:p>
          <a:p>
            <a:endParaRPr lang="ru-RU" dirty="0"/>
          </a:p>
          <a:p>
            <a:r>
              <a:rPr lang="ru-RU" dirty="0" smtClean="0"/>
              <a:t>Передача </a:t>
            </a:r>
            <a:r>
              <a:rPr lang="ru-RU" dirty="0"/>
              <a:t>внутри сети (подсети) – канальный уровень</a:t>
            </a:r>
          </a:p>
          <a:p>
            <a:r>
              <a:rPr lang="ru-RU" dirty="0" smtClean="0"/>
              <a:t>Передача </a:t>
            </a:r>
            <a:r>
              <a:rPr lang="ru-RU" dirty="0"/>
              <a:t>между сетями  - сетевой уровень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889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Маршрутизация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539342" y="1468716"/>
            <a:ext cx="3423252" cy="20903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Таблица маршрутизации:</a:t>
            </a:r>
          </a:p>
          <a:p>
            <a:r>
              <a:rPr lang="ru-RU" dirty="0" smtClean="0"/>
              <a:t>Адрес </a:t>
            </a:r>
            <a:r>
              <a:rPr lang="ru-RU" dirty="0"/>
              <a:t>сети назначения</a:t>
            </a:r>
          </a:p>
          <a:p>
            <a:r>
              <a:rPr lang="ru-RU" dirty="0"/>
              <a:t>Адрес </a:t>
            </a:r>
            <a:r>
              <a:rPr lang="ru-RU" dirty="0" smtClean="0"/>
              <a:t>сл</a:t>
            </a:r>
            <a:r>
              <a:rPr lang="ru-RU" dirty="0"/>
              <a:t>. маршрутизатора</a:t>
            </a:r>
          </a:p>
          <a:p>
            <a:r>
              <a:rPr lang="ru-RU" dirty="0"/>
              <a:t>Адрес выходного интерфейса</a:t>
            </a:r>
          </a:p>
          <a:p>
            <a:r>
              <a:rPr lang="ru-RU" dirty="0"/>
              <a:t>Метрика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270" y="1087927"/>
            <a:ext cx="5681128" cy="5800846"/>
          </a:xfrm>
          <a:prstGeom prst="rect">
            <a:avLst/>
          </a:prstGeom>
        </p:spPr>
      </p:pic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5158219" y="5963743"/>
            <a:ext cx="708523" cy="341767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038092" y="5354954"/>
            <a:ext cx="2087943" cy="679290"/>
          </a:xfrm>
          <a:prstGeom prst="rect">
            <a:avLst/>
          </a:prstGeom>
          <a:noFill/>
          <a:ln w="9525" cap="flat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100" b="1" dirty="0">
                <a:solidFill>
                  <a:srgbClr val="000000"/>
                </a:solidFill>
              </a:rPr>
              <a:t>Таблица маршрутизации</a:t>
            </a:r>
          </a:p>
          <a:p>
            <a:pPr>
              <a:buClrTx/>
              <a:buFontTx/>
              <a:buNone/>
            </a:pPr>
            <a:endParaRPr lang="ru-RU" altLang="ru-RU" sz="600" b="1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sz="1100" b="1" dirty="0">
                <a:solidFill>
                  <a:srgbClr val="000000"/>
                </a:solidFill>
              </a:rPr>
              <a:t>     S12		</a:t>
            </a:r>
            <a:r>
              <a:rPr lang="ru-RU" altLang="ru-RU" sz="1000" b="1" dirty="0">
                <a:solidFill>
                  <a:srgbClr val="000000"/>
                </a:solidFill>
              </a:rPr>
              <a:t>--</a:t>
            </a:r>
            <a:r>
              <a:rPr lang="ru-RU" altLang="ru-RU" sz="1000" b="1" dirty="0"/>
              <a:t>	</a:t>
            </a:r>
            <a:r>
              <a:rPr lang="ru-RU" altLang="ru-RU" sz="1000" b="1" dirty="0">
                <a:solidFill>
                  <a:srgbClr val="000000"/>
                </a:solidFill>
              </a:rPr>
              <a:t>A	0</a:t>
            </a:r>
          </a:p>
          <a:p>
            <a:pPr>
              <a:buClrTx/>
              <a:buFontTx/>
              <a:buNone/>
            </a:pPr>
            <a:r>
              <a:rPr lang="ru-RU" altLang="ru-RU" sz="1000" b="1" dirty="0" err="1">
                <a:solidFill>
                  <a:srgbClr val="000000"/>
                </a:solidFill>
              </a:rPr>
              <a:t>Default</a:t>
            </a:r>
            <a:r>
              <a:rPr lang="ru-RU" altLang="ru-RU" sz="1000" b="1" dirty="0">
                <a:solidFill>
                  <a:srgbClr val="000000"/>
                </a:solidFill>
              </a:rPr>
              <a:t>		M11(1)	А	-</a:t>
            </a:r>
          </a:p>
        </p:txBody>
      </p:sp>
    </p:spTree>
    <p:extLst>
      <p:ext uri="{BB962C8B-B14F-4D97-AF65-F5344CB8AC3E}">
        <p14:creationId xmlns:p14="http://schemas.microsoft.com/office/powerpoint/2010/main" val="166220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Сетевой уровень. 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Функции</a:t>
            </a:r>
            <a:r>
              <a:rPr lang="ru-RU" dirty="0"/>
              <a:t>:</a:t>
            </a:r>
          </a:p>
          <a:p>
            <a:pPr lvl="1"/>
            <a:r>
              <a:rPr lang="ru-RU" dirty="0" smtClean="0"/>
              <a:t>Объединение </a:t>
            </a:r>
            <a:r>
              <a:rPr lang="ru-RU" dirty="0"/>
              <a:t>отдельных сетей в составную сеть</a:t>
            </a:r>
          </a:p>
          <a:p>
            <a:pPr lvl="1"/>
            <a:r>
              <a:rPr lang="ru-RU" dirty="0" smtClean="0"/>
              <a:t>Передача </a:t>
            </a:r>
            <a:r>
              <a:rPr lang="ru-RU" dirty="0"/>
              <a:t>пакетов между сетями </a:t>
            </a:r>
          </a:p>
          <a:p>
            <a:pPr lvl="1"/>
            <a:r>
              <a:rPr lang="ru-RU" dirty="0" smtClean="0"/>
              <a:t>Маршрутизация</a:t>
            </a:r>
            <a:endParaRPr lang="ru-RU" dirty="0"/>
          </a:p>
          <a:p>
            <a:pPr lvl="1"/>
            <a:r>
              <a:rPr lang="ru-RU" dirty="0" smtClean="0"/>
              <a:t>Согласование </a:t>
            </a:r>
            <a:r>
              <a:rPr lang="ru-RU" dirty="0"/>
              <a:t>сетевых технологий</a:t>
            </a:r>
          </a:p>
          <a:p>
            <a:r>
              <a:rPr lang="ru-RU" dirty="0" smtClean="0"/>
              <a:t>Свой </a:t>
            </a:r>
            <a:r>
              <a:rPr lang="ru-RU" dirty="0"/>
              <a:t>вид адресации – N сети и N узла (маски)</a:t>
            </a:r>
          </a:p>
          <a:p>
            <a:r>
              <a:rPr lang="ru-RU" dirty="0" smtClean="0"/>
              <a:t>Маршрутизатор </a:t>
            </a:r>
            <a:r>
              <a:rPr lang="ru-RU" dirty="0"/>
              <a:t>– многофункциональное устройство с нескольким сетевыми портами, создает таблицу маршрутизации и на ее основе – маршрут</a:t>
            </a:r>
          </a:p>
          <a:p>
            <a:r>
              <a:rPr lang="ru-RU" dirty="0" smtClean="0"/>
              <a:t>Протоколы </a:t>
            </a:r>
            <a:r>
              <a:rPr lang="ru-RU" dirty="0"/>
              <a:t>сетевого уровня </a:t>
            </a:r>
          </a:p>
          <a:p>
            <a:pPr lvl="1"/>
            <a:r>
              <a:rPr lang="ru-RU" dirty="0" smtClean="0"/>
              <a:t>Сетевые </a:t>
            </a:r>
            <a:r>
              <a:rPr lang="ru-RU" dirty="0"/>
              <a:t>	</a:t>
            </a:r>
            <a:r>
              <a:rPr lang="ru-RU" dirty="0" smtClean="0"/>
              <a:t>( </a:t>
            </a:r>
            <a:r>
              <a:rPr lang="ru-RU" dirty="0"/>
              <a:t>выбор маршрута)</a:t>
            </a:r>
          </a:p>
          <a:p>
            <a:pPr lvl="1"/>
            <a:r>
              <a:rPr lang="ru-RU" dirty="0" smtClean="0"/>
              <a:t>Маршрутизации</a:t>
            </a:r>
            <a:r>
              <a:rPr lang="ru-RU" dirty="0"/>
              <a:t>	(заполнение таблиц маршрутизации)</a:t>
            </a:r>
          </a:p>
          <a:p>
            <a:pPr lvl="1"/>
            <a:r>
              <a:rPr lang="ru-RU" dirty="0" smtClean="0"/>
              <a:t>Служебные (</a:t>
            </a:r>
            <a:r>
              <a:rPr lang="ru-RU" dirty="0"/>
              <a:t>диагностика, служебные сообщения) </a:t>
            </a:r>
          </a:p>
          <a:p>
            <a:r>
              <a:rPr lang="ru-RU" dirty="0" smtClean="0"/>
              <a:t>Большинство </a:t>
            </a:r>
            <a:r>
              <a:rPr lang="ru-RU" dirty="0"/>
              <a:t>компьютерных сетей  - IP-сети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642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Адресация в </a:t>
            </a:r>
            <a:r>
              <a:rPr lang="en-US" dirty="0"/>
              <a:t>IP-</a:t>
            </a:r>
            <a:r>
              <a:rPr lang="ru-RU" dirty="0" smtClean="0"/>
              <a:t>сетях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Типы адресов стека TCP/IP</a:t>
            </a:r>
          </a:p>
          <a:p>
            <a:endParaRPr lang="ru-RU" dirty="0"/>
          </a:p>
          <a:p>
            <a:r>
              <a:rPr lang="ru-RU" dirty="0"/>
              <a:t>Аппаратный </a:t>
            </a:r>
            <a:r>
              <a:rPr lang="ru-RU" dirty="0" smtClean="0"/>
              <a:t>адрес</a:t>
            </a:r>
            <a:r>
              <a:rPr lang="en-US" dirty="0" smtClean="0"/>
              <a:t> (MAC)	</a:t>
            </a:r>
            <a:r>
              <a:rPr lang="ru-RU" dirty="0" smtClean="0"/>
              <a:t>00:80:48:b3:1d:e1  </a:t>
            </a:r>
            <a:endParaRPr lang="ru-RU" dirty="0"/>
          </a:p>
          <a:p>
            <a:r>
              <a:rPr lang="ru-RU" dirty="0"/>
              <a:t>IP-адрес				</a:t>
            </a:r>
            <a:r>
              <a:rPr lang="ru-RU" dirty="0" smtClean="0"/>
              <a:t>213.180.204.11</a:t>
            </a:r>
            <a:endParaRPr lang="ru-RU" dirty="0"/>
          </a:p>
          <a:p>
            <a:r>
              <a:rPr lang="ru-RU" dirty="0"/>
              <a:t>Символьный адрес 	</a:t>
            </a:r>
            <a:r>
              <a:rPr lang="en-US" dirty="0" smtClean="0"/>
              <a:t>	</a:t>
            </a:r>
            <a:r>
              <a:rPr lang="ru-RU" dirty="0" smtClean="0"/>
              <a:t>www.yandex.ru</a:t>
            </a:r>
            <a:endParaRPr lang="ru-RU" dirty="0"/>
          </a:p>
          <a:p>
            <a:endParaRPr lang="ru-RU" dirty="0"/>
          </a:p>
          <a:p>
            <a:r>
              <a:rPr lang="ru-RU" dirty="0" smtClean="0"/>
              <a:t>Отображение</a:t>
            </a:r>
            <a:r>
              <a:rPr lang="en-US" dirty="0" smtClean="0"/>
              <a:t> </a:t>
            </a:r>
            <a:r>
              <a:rPr lang="ru-RU" dirty="0" smtClean="0"/>
              <a:t>1 </a:t>
            </a:r>
            <a:r>
              <a:rPr lang="ru-RU" dirty="0"/>
              <a:t>– 2	  -	ARP/RARP   </a:t>
            </a:r>
          </a:p>
          <a:p>
            <a:r>
              <a:rPr lang="ru-RU" dirty="0" smtClean="0"/>
              <a:t>Отображение</a:t>
            </a:r>
            <a:r>
              <a:rPr lang="en-US" dirty="0" smtClean="0"/>
              <a:t> </a:t>
            </a:r>
            <a:r>
              <a:rPr lang="ru-RU" dirty="0" smtClean="0"/>
              <a:t>2 </a:t>
            </a:r>
            <a:r>
              <a:rPr lang="ru-RU" dirty="0"/>
              <a:t>– 3	  -	DNS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87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IP- адреса.  Классы IP- </a:t>
            </a:r>
            <a:r>
              <a:rPr lang="ru-RU" dirty="0" smtClean="0"/>
              <a:t>сетей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94859" y="1168530"/>
            <a:ext cx="8289563" cy="89185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Формат IP адреса – 32 бита, 4 октета</a:t>
            </a:r>
          </a:p>
          <a:p>
            <a:r>
              <a:rPr lang="ru-RU" dirty="0" smtClean="0"/>
              <a:t>Пример</a:t>
            </a:r>
            <a:r>
              <a:rPr lang="en-US" dirty="0" smtClean="0"/>
              <a:t> </a:t>
            </a:r>
            <a:r>
              <a:rPr lang="ru-RU" dirty="0" smtClean="0"/>
              <a:t>128.10.2.30</a:t>
            </a:r>
            <a:r>
              <a:rPr lang="en-US" dirty="0" smtClean="0"/>
              <a:t> </a:t>
            </a:r>
            <a:r>
              <a:rPr lang="ru-RU" dirty="0" smtClean="0"/>
              <a:t>10000000 </a:t>
            </a:r>
            <a:r>
              <a:rPr lang="ru-RU" dirty="0"/>
              <a:t>00001010 00000010 00011110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38" y="2060384"/>
            <a:ext cx="8318377" cy="465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4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Диапазоны номеров сетей различных классов 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788431"/>
              </p:ext>
            </p:extLst>
          </p:nvPr>
        </p:nvGraphicFramePr>
        <p:xfrm>
          <a:off x="1772341" y="1296143"/>
          <a:ext cx="8709232" cy="477309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648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0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1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04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5844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класс</a:t>
                      </a: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первые биты</a:t>
                      </a: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распределение байт (С — сеть, Х — хост)</a:t>
                      </a: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число возможных сетей</a:t>
                      </a: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число возможных хостов</a:t>
                      </a: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u="none" strike="noStrike" dirty="0">
                          <a:effectLst/>
                        </a:rPr>
                        <a:t>маска подсети</a:t>
                      </a:r>
                      <a:endParaRPr lang="ru-RU" sz="1400" dirty="0">
                        <a:effectLst/>
                      </a:endParaRP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начальный адрес</a:t>
                      </a: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конечный адрес</a:t>
                      </a:r>
                    </a:p>
                  </a:txBody>
                  <a:tcPr marL="70886" marR="70886" marT="35443" marB="3544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A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С.Х.Х.Х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126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16 777 214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255.0.0.0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1.0.0.0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126.255.255.255</a:t>
                      </a:r>
                    </a:p>
                  </a:txBody>
                  <a:tcPr marL="70886" marR="70886" marT="35443" marB="3544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С.С.Х.Х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16 384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65 534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255.255.0.0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128.0.0.0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191.255.255.255</a:t>
                      </a:r>
                    </a:p>
                  </a:txBody>
                  <a:tcPr marL="70886" marR="70886" marT="35443" marB="3544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C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110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С.С.С.Х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2 097 152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254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255.255.255.0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192.0.0.0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223.255.255.255</a:t>
                      </a:r>
                    </a:p>
                  </a:txBody>
                  <a:tcPr marL="70886" marR="70886" marT="35443" marB="3544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D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1110</a:t>
                      </a:r>
                    </a:p>
                  </a:txBody>
                  <a:tcPr marL="70886" marR="70886" marT="35443" marB="35443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групповой адрес</a:t>
                      </a:r>
                    </a:p>
                  </a:txBody>
                  <a:tcPr marL="70886" marR="70886" marT="35443" marB="35443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224.0.0.0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239.255.255.255</a:t>
                      </a:r>
                    </a:p>
                  </a:txBody>
                  <a:tcPr marL="70886" marR="70886" marT="35443" marB="3544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E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11110</a:t>
                      </a:r>
                    </a:p>
                  </a:txBody>
                  <a:tcPr marL="70886" marR="70886" marT="35443" marB="35443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зарезервировано</a:t>
                      </a:r>
                    </a:p>
                  </a:txBody>
                  <a:tcPr marL="70886" marR="70886" marT="35443" marB="35443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240.0.0.0</a:t>
                      </a:r>
                    </a:p>
                  </a:txBody>
                  <a:tcPr marL="70886" marR="70886" marT="35443" marB="354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247.255.255.255</a:t>
                      </a:r>
                    </a:p>
                  </a:txBody>
                  <a:tcPr marL="70886" marR="70886" marT="35443" marB="3544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850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Специальные </a:t>
            </a:r>
            <a:r>
              <a:rPr lang="en-US" dirty="0"/>
              <a:t>IP-</a:t>
            </a:r>
            <a:r>
              <a:rPr lang="ru-RU" dirty="0" smtClean="0"/>
              <a:t>адреса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024" y="4644271"/>
            <a:ext cx="8289563" cy="1432439"/>
          </a:xfrm>
        </p:spPr>
        <p:txBody>
          <a:bodyPr>
            <a:normAutofit fontScale="47500" lnSpcReduction="20000"/>
          </a:bodyPr>
          <a:lstStyle/>
          <a:p>
            <a:pPr algn="ctr">
              <a:lnSpc>
                <a:spcPct val="115000"/>
              </a:lnSpc>
              <a:buClrTx/>
              <a:buFontTx/>
              <a:buNone/>
            </a:pPr>
            <a:r>
              <a:rPr lang="ru-RU" altLang="ru-RU" sz="4000" b="1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Адреса для частных сетей </a:t>
            </a:r>
          </a:p>
          <a:p>
            <a:pPr>
              <a:lnSpc>
                <a:spcPct val="115000"/>
              </a:lnSpc>
              <a:buClrTx/>
              <a:buFontTx/>
              <a:buNone/>
            </a:pPr>
            <a:r>
              <a:rPr lang="ru-RU" altLang="ru-RU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Класс А (1)   10.0.0.0    - 10.255.255.255  (10/8 </a:t>
            </a:r>
            <a:r>
              <a:rPr lang="ru-RU" altLang="ru-RU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prefix</a:t>
            </a:r>
            <a:r>
              <a:rPr lang="ru-RU" altLang="ru-RU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15000"/>
              </a:lnSpc>
              <a:buClrTx/>
              <a:buFontTx/>
              <a:buNone/>
            </a:pPr>
            <a:r>
              <a:rPr lang="ru-RU" altLang="ru-RU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Класс В (16)  172.16.0.0  - 172.31.255.255  (172.16/12 </a:t>
            </a:r>
            <a:r>
              <a:rPr lang="ru-RU" altLang="ru-RU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prefix</a:t>
            </a:r>
            <a:r>
              <a:rPr lang="ru-RU" altLang="ru-RU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15000"/>
              </a:lnSpc>
              <a:buClrTx/>
              <a:buFontTx/>
              <a:buNone/>
            </a:pPr>
            <a:r>
              <a:rPr lang="ru-RU" altLang="ru-RU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Класс С (256) 192.168.0.0 - 192.168.255.255 (192.168/16 </a:t>
            </a:r>
            <a:r>
              <a:rPr lang="ru-RU" altLang="ru-RU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prefix</a:t>
            </a:r>
            <a:r>
              <a:rPr lang="ru-RU" altLang="ru-RU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ru-RU" altLang="ru-RU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12</a:t>
            </a:fld>
            <a:endParaRPr lang="ru-RU" dirty="0"/>
          </a:p>
        </p:txBody>
      </p:sp>
      <p:graphicFrame>
        <p:nvGraphicFramePr>
          <p:cNvPr id="5" name="Group 1"/>
          <p:cNvGraphicFramePr>
            <a:graphicFrameLocks noGrp="1"/>
          </p:cNvGraphicFramePr>
          <p:nvPr>
            <p:extLst/>
          </p:nvPr>
        </p:nvGraphicFramePr>
        <p:xfrm>
          <a:off x="1927023" y="1088270"/>
          <a:ext cx="8459788" cy="3556000"/>
        </p:xfrm>
        <a:graphic>
          <a:graphicData uri="http://schemas.openxmlformats.org/drawingml/2006/table">
            <a:tbl>
              <a:tblPr/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250">
                <a:tc gridSpan="2"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  <a:cs typeface="Times New Roman" pitchFamily="16" charset="0"/>
                        </a:rPr>
                        <a:t>IP-адрес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Может указывать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Описание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N сети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N узла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Источник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Приемник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Нет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Адрес узла, сгенерировавшего пакет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N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Нет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Адрес узла той же сети 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127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любой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Loopback  (b)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«-1»</a:t>
                      </a:r>
                      <a:b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</a:b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(11…1)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«-1» </a:t>
                      </a:r>
                      <a:b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</a:b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(11…1)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Нет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Ограниченный широковещательный адрес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N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«-1»</a:t>
                      </a:r>
                      <a:b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</a:b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(11…1)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Нет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Широковещательный адрес сети N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169.254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любой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4500" algn="l"/>
                          <a:tab pos="893763" algn="l"/>
                          <a:tab pos="1343025" algn="l"/>
                          <a:tab pos="1792288" algn="l"/>
                          <a:tab pos="2241550" algn="l"/>
                          <a:tab pos="2690813" algn="l"/>
                          <a:tab pos="3140075" algn="l"/>
                          <a:tab pos="3589338" algn="l"/>
                          <a:tab pos="4038600" algn="l"/>
                          <a:tab pos="4487863" algn="l"/>
                          <a:tab pos="4937125" algn="l"/>
                          <a:tab pos="5386388" algn="l"/>
                          <a:tab pos="5835650" algn="l"/>
                          <a:tab pos="6284913" algn="l"/>
                          <a:tab pos="6734175" algn="l"/>
                          <a:tab pos="7183438" algn="l"/>
                          <a:tab pos="7632700" algn="l"/>
                          <a:tab pos="8081963" algn="l"/>
                          <a:tab pos="8531225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Да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Link-Local</a:t>
                      </a: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 </a:t>
                      </a:r>
                      <a:r>
                        <a:rPr kumimoji="0" lang="ru-RU" altLang="ru-RU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Address</a:t>
                      </a:r>
                      <a:endParaRPr kumimoji="0" lang="ru-RU" alt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2A6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72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Распределение </a:t>
            </a:r>
            <a:r>
              <a:rPr lang="en-US" dirty="0"/>
              <a:t>IP-</a:t>
            </a:r>
            <a:r>
              <a:rPr lang="ru-RU" dirty="0" smtClean="0"/>
              <a:t>адресов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Распределение </a:t>
            </a:r>
            <a:r>
              <a:rPr lang="en-US" dirty="0"/>
              <a:t>N </a:t>
            </a:r>
            <a:r>
              <a:rPr lang="ru-RU" dirty="0"/>
              <a:t>сети </a:t>
            </a:r>
          </a:p>
          <a:p>
            <a:pPr lvl="1"/>
            <a:r>
              <a:rPr lang="ru-RU" dirty="0"/>
              <a:t>Сеть </a:t>
            </a:r>
            <a:r>
              <a:rPr lang="ru-RU" dirty="0" smtClean="0"/>
              <a:t>автономная - </a:t>
            </a:r>
            <a:r>
              <a:rPr lang="ru-RU" dirty="0"/>
              <a:t>произвольное</a:t>
            </a:r>
          </a:p>
          <a:p>
            <a:pPr lvl="1"/>
            <a:r>
              <a:rPr lang="ru-RU" dirty="0"/>
              <a:t>Сеть – часть </a:t>
            </a:r>
            <a:r>
              <a:rPr lang="en-US" dirty="0"/>
              <a:t>Internet </a:t>
            </a:r>
            <a:r>
              <a:rPr lang="en-US" dirty="0" smtClean="0"/>
              <a:t>- </a:t>
            </a:r>
            <a:r>
              <a:rPr lang="en-US" dirty="0" err="1"/>
              <a:t>InterNIC</a:t>
            </a:r>
            <a:r>
              <a:rPr lang="en-US" dirty="0"/>
              <a:t> </a:t>
            </a:r>
            <a:r>
              <a:rPr lang="ru-RU" dirty="0"/>
              <a:t>и др</a:t>
            </a:r>
            <a:r>
              <a:rPr lang="ru-RU" dirty="0" smtClean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/>
              <a:t>N </a:t>
            </a:r>
            <a:r>
              <a:rPr lang="ru-RU" dirty="0" smtClean="0"/>
              <a:t>узла </a:t>
            </a:r>
            <a:r>
              <a:rPr lang="ru-RU" dirty="0"/>
              <a:t>в сети</a:t>
            </a:r>
            <a:r>
              <a:rPr lang="ru-RU" dirty="0" smtClean="0"/>
              <a:t>:</a:t>
            </a:r>
          </a:p>
          <a:p>
            <a:pPr lvl="1"/>
            <a:r>
              <a:rPr lang="ru-RU" dirty="0" smtClean="0"/>
              <a:t>назначается </a:t>
            </a:r>
            <a:r>
              <a:rPr lang="ru-RU" dirty="0"/>
              <a:t>администратором</a:t>
            </a:r>
          </a:p>
          <a:p>
            <a:pPr lvl="1"/>
            <a:r>
              <a:rPr lang="ru-RU" dirty="0" smtClean="0"/>
              <a:t>сетевой </a:t>
            </a:r>
            <a:r>
              <a:rPr lang="ru-RU" dirty="0"/>
              <a:t>адрес (</a:t>
            </a:r>
            <a:r>
              <a:rPr lang="en-US" dirty="0"/>
              <a:t>N </a:t>
            </a:r>
            <a:r>
              <a:rPr lang="ru-RU" dirty="0"/>
              <a:t>узла=0)</a:t>
            </a:r>
          </a:p>
          <a:p>
            <a:pPr lvl="1"/>
            <a:r>
              <a:rPr lang="ru-RU" dirty="0" smtClean="0"/>
              <a:t>широковещательный </a:t>
            </a:r>
            <a:r>
              <a:rPr lang="ru-RU" dirty="0"/>
              <a:t>адрес  (-1)	</a:t>
            </a:r>
          </a:p>
          <a:p>
            <a:endParaRPr lang="ru-RU" dirty="0"/>
          </a:p>
          <a:p>
            <a:r>
              <a:rPr lang="ru-RU" dirty="0"/>
              <a:t>Дефицит </a:t>
            </a:r>
            <a:r>
              <a:rPr lang="ru-RU" dirty="0" smtClean="0"/>
              <a:t>адресов:</a:t>
            </a:r>
            <a:endParaRPr lang="ru-RU" dirty="0"/>
          </a:p>
          <a:p>
            <a:pPr lvl="1"/>
            <a:r>
              <a:rPr lang="en-US" dirty="0"/>
              <a:t>IPv6 – </a:t>
            </a:r>
            <a:r>
              <a:rPr lang="ru-RU" dirty="0"/>
              <a:t>адрес 16 байт, </a:t>
            </a:r>
            <a:r>
              <a:rPr lang="en-US" dirty="0" smtClean="0"/>
              <a:t>NAT</a:t>
            </a:r>
            <a:r>
              <a:rPr lang="ru-RU" dirty="0" smtClean="0"/>
              <a:t> </a:t>
            </a:r>
            <a:r>
              <a:rPr lang="en-US" dirty="0" smtClean="0"/>
              <a:t>(RFC </a:t>
            </a:r>
            <a:r>
              <a:rPr lang="en-US" dirty="0"/>
              <a:t>1631) </a:t>
            </a:r>
          </a:p>
          <a:p>
            <a:pPr lvl="1"/>
            <a:r>
              <a:rPr lang="ru-RU" dirty="0" smtClean="0"/>
              <a:t>Маски </a:t>
            </a:r>
            <a:r>
              <a:rPr lang="ru-RU" dirty="0"/>
              <a:t>(</a:t>
            </a:r>
            <a:r>
              <a:rPr lang="en-US" dirty="0"/>
              <a:t>CIDR Classless </a:t>
            </a:r>
            <a:r>
              <a:rPr lang="en-US" dirty="0" err="1"/>
              <a:t>InterDomain</a:t>
            </a:r>
            <a:r>
              <a:rPr lang="en-US" dirty="0"/>
              <a:t> Routing)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626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Вырожденная сеть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Нерациональное использование пространства адресов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08148"/>
            <a:ext cx="9144000" cy="445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5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Маски в </a:t>
            </a:r>
            <a:r>
              <a:rPr lang="en-US" dirty="0"/>
              <a:t>IP-</a:t>
            </a:r>
            <a:r>
              <a:rPr lang="ru-RU" dirty="0" smtClean="0"/>
              <a:t>сетях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Формат </a:t>
            </a:r>
            <a:r>
              <a:rPr lang="en-US" dirty="0"/>
              <a:t>IP-</a:t>
            </a:r>
            <a:r>
              <a:rPr lang="ru-RU" dirty="0"/>
              <a:t>адреса    (</a:t>
            </a:r>
            <a:r>
              <a:rPr lang="en-US" dirty="0"/>
              <a:t>IP v4) 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pPr>
              <a:spcAft>
                <a:spcPts val="288"/>
              </a:spcAft>
              <a:buNone/>
            </a:pPr>
            <a:r>
              <a:rPr lang="ru-RU" altLang="ru-RU" dirty="0" smtClean="0">
                <a:solidFill>
                  <a:srgbClr val="000000"/>
                </a:solidFill>
              </a:rPr>
              <a:t>№ </a:t>
            </a:r>
            <a:r>
              <a:rPr lang="ru-RU" altLang="ru-RU" dirty="0">
                <a:solidFill>
                  <a:srgbClr val="000000"/>
                </a:solidFill>
              </a:rPr>
              <a:t>сети  -  в старших разрядах адреса</a:t>
            </a:r>
          </a:p>
          <a:p>
            <a:pPr>
              <a:spcAft>
                <a:spcPts val="288"/>
              </a:spcAft>
              <a:buNone/>
            </a:pPr>
            <a:r>
              <a:rPr lang="ru-RU" altLang="ru-RU" dirty="0">
                <a:solidFill>
                  <a:srgbClr val="000000"/>
                </a:solidFill>
              </a:rPr>
              <a:t>Разделитель в адресе не предусмотрен</a:t>
            </a:r>
          </a:p>
          <a:p>
            <a:endParaRPr lang="ru-RU" dirty="0" smtClean="0"/>
          </a:p>
          <a:p>
            <a:r>
              <a:rPr lang="ru-RU" dirty="0" smtClean="0"/>
              <a:t>Маска </a:t>
            </a:r>
            <a:r>
              <a:rPr lang="ru-RU" dirty="0"/>
              <a:t>- число (в паре с IP-адресом), двоичное представление </a:t>
            </a:r>
            <a:r>
              <a:rPr lang="ru-RU" dirty="0" smtClean="0"/>
              <a:t>которого </a:t>
            </a:r>
            <a:r>
              <a:rPr lang="ru-RU" dirty="0"/>
              <a:t>имеет “1” в разрядах, указывающих </a:t>
            </a:r>
            <a:r>
              <a:rPr lang="ru-RU" dirty="0" smtClean="0"/>
              <a:t>№ </a:t>
            </a:r>
            <a:r>
              <a:rPr lang="ru-RU" dirty="0"/>
              <a:t>сети</a:t>
            </a:r>
          </a:p>
          <a:p>
            <a:r>
              <a:rPr lang="ru-RU" dirty="0"/>
              <a:t>Используется: </a:t>
            </a:r>
          </a:p>
          <a:p>
            <a:pPr lvl="1"/>
            <a:r>
              <a:rPr lang="ru-RU" dirty="0" smtClean="0"/>
              <a:t>для </a:t>
            </a:r>
            <a:r>
              <a:rPr lang="ru-RU" dirty="0"/>
              <a:t>структуризации сетей (разделение на подсети) </a:t>
            </a:r>
          </a:p>
          <a:p>
            <a:pPr lvl="1"/>
            <a:r>
              <a:rPr lang="ru-RU" dirty="0" smtClean="0"/>
              <a:t>для </a:t>
            </a:r>
            <a:r>
              <a:rPr lang="ru-RU" dirty="0"/>
              <a:t>определения номера сети при маршрутизации</a:t>
            </a:r>
          </a:p>
          <a:p>
            <a:pPr lvl="1"/>
            <a:r>
              <a:rPr lang="ru-RU" dirty="0" smtClean="0"/>
              <a:t>для </a:t>
            </a:r>
            <a:r>
              <a:rPr lang="ru-RU" dirty="0"/>
              <a:t>уменьшения таблиц маршрутизации</a:t>
            </a:r>
          </a:p>
          <a:p>
            <a:r>
              <a:rPr lang="ru-RU" dirty="0"/>
              <a:t>Маска не входит в состав IP-пакета и по сети не передается</a:t>
            </a:r>
          </a:p>
          <a:p>
            <a:r>
              <a:rPr lang="ru-RU" dirty="0" smtClean="0"/>
              <a:t>(</a:t>
            </a:r>
            <a:r>
              <a:rPr lang="ru-RU" dirty="0"/>
              <a:t>Маска сетей класса А  –  255.0.0.0)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15</a:t>
            </a:fld>
            <a:endParaRPr lang="ru-RU" dirty="0"/>
          </a:p>
        </p:txBody>
      </p:sp>
      <p:graphicFrame>
        <p:nvGraphicFramePr>
          <p:cNvPr id="5" name="Group 3"/>
          <p:cNvGraphicFramePr>
            <a:graphicFrameLocks noGrp="1"/>
          </p:cNvGraphicFramePr>
          <p:nvPr>
            <p:extLst/>
          </p:nvPr>
        </p:nvGraphicFramePr>
        <p:xfrm>
          <a:off x="2910211" y="1443351"/>
          <a:ext cx="6815138" cy="698500"/>
        </p:xfrm>
        <a:graphic>
          <a:graphicData uri="http://schemas.openxmlformats.org/drawingml/2006/table">
            <a:tbl>
              <a:tblPr/>
              <a:tblGrid>
                <a:gridCol w="2605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31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№ сети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C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</a:rPr>
                        <a:t>№ узла в сети</a:t>
                      </a:r>
                    </a:p>
                  </a:txBody>
                  <a:tcPr marL="90000" marR="90000" marT="46800" marB="4680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68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Маска </a:t>
            </a:r>
            <a:r>
              <a:rPr lang="ru-RU" dirty="0" smtClean="0"/>
              <a:t>подсети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Примеры разделение сети класса B на подсети</a:t>
            </a:r>
          </a:p>
          <a:p>
            <a:pPr lvl="1"/>
            <a:r>
              <a:rPr lang="ru-RU" dirty="0" smtClean="0"/>
              <a:t>Адрес </a:t>
            </a:r>
            <a:r>
              <a:rPr lang="ru-RU" dirty="0"/>
              <a:t>сети  </a:t>
            </a:r>
            <a:r>
              <a:rPr lang="ru-RU" dirty="0" smtClean="0"/>
              <a:t>140.252.0.0</a:t>
            </a:r>
          </a:p>
          <a:p>
            <a:pPr lvl="1"/>
            <a:r>
              <a:rPr lang="ru-RU" dirty="0" smtClean="0"/>
              <a:t>Класс B</a:t>
            </a:r>
          </a:p>
          <a:p>
            <a:pPr lvl="1"/>
            <a:r>
              <a:rPr lang="ru-RU" dirty="0" smtClean="0"/>
              <a:t>Маска  </a:t>
            </a:r>
            <a:r>
              <a:rPr lang="ru-RU" dirty="0"/>
              <a:t>255.255.0.0.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555" y="3360926"/>
            <a:ext cx="8692586" cy="218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Использование масок для структуризации </a:t>
            </a:r>
            <a:r>
              <a:rPr lang="ru-RU" dirty="0" smtClean="0"/>
              <a:t>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Адрес класса </a:t>
            </a:r>
            <a:r>
              <a:rPr lang="ru-RU" dirty="0" smtClean="0"/>
              <a:t>В: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129.44.0.0     10000001.00101100.00000000.00000000</a:t>
            </a:r>
          </a:p>
          <a:p>
            <a:r>
              <a:rPr lang="ru-RU" dirty="0" smtClean="0"/>
              <a:t>Маска: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255.255.192.0  11111111.11111111.11000000.00000000</a:t>
            </a:r>
          </a:p>
          <a:p>
            <a:endParaRPr lang="ru-RU" dirty="0"/>
          </a:p>
          <a:p>
            <a:r>
              <a:rPr lang="ru-RU" dirty="0" smtClean="0"/>
              <a:t>Подсети:</a:t>
            </a:r>
            <a:endParaRPr lang="ru-RU" dirty="0"/>
          </a:p>
          <a:p>
            <a:r>
              <a:rPr lang="ru-RU" dirty="0"/>
              <a:t>129.44.0.0     </a:t>
            </a:r>
            <a:r>
              <a:rPr lang="ru-RU" dirty="0" smtClean="0"/>
              <a:t> </a:t>
            </a:r>
            <a:r>
              <a:rPr lang="ru-RU" b="1" dirty="0" smtClean="0">
                <a:solidFill>
                  <a:srgbClr val="276D3F"/>
                </a:solidFill>
              </a:rPr>
              <a:t>10000001.00101100.00</a:t>
            </a:r>
            <a:r>
              <a:rPr lang="ru-RU" dirty="0" smtClean="0"/>
              <a:t>000000.00000000</a:t>
            </a:r>
          </a:p>
          <a:p>
            <a:r>
              <a:rPr lang="ru-RU" dirty="0" smtClean="0"/>
              <a:t>129.44.64.0    </a:t>
            </a:r>
            <a:r>
              <a:rPr lang="ru-RU" b="1" dirty="0" smtClean="0">
                <a:solidFill>
                  <a:srgbClr val="276D3F"/>
                </a:solidFill>
              </a:rPr>
              <a:t>10000001.00101100.01</a:t>
            </a:r>
            <a:r>
              <a:rPr lang="ru-RU" dirty="0" smtClean="0"/>
              <a:t>000000.00000000</a:t>
            </a:r>
          </a:p>
          <a:p>
            <a:r>
              <a:rPr lang="ru-RU" dirty="0" smtClean="0"/>
              <a:t>129.44.128.0  </a:t>
            </a:r>
            <a:r>
              <a:rPr lang="ru-RU" b="1" dirty="0" smtClean="0">
                <a:solidFill>
                  <a:srgbClr val="276D3F"/>
                </a:solidFill>
              </a:rPr>
              <a:t>10000001.00101100.10</a:t>
            </a:r>
            <a:r>
              <a:rPr lang="ru-RU" dirty="0" smtClean="0"/>
              <a:t>000000.00000000</a:t>
            </a:r>
            <a:endParaRPr lang="ru-RU" dirty="0"/>
          </a:p>
          <a:p>
            <a:r>
              <a:rPr lang="ru-RU" dirty="0"/>
              <a:t>129.44.192.0  </a:t>
            </a:r>
            <a:r>
              <a:rPr lang="ru-RU" b="1" dirty="0" smtClean="0">
                <a:solidFill>
                  <a:srgbClr val="276D3F"/>
                </a:solidFill>
              </a:rPr>
              <a:t>10000001.00101100.11</a:t>
            </a:r>
            <a:r>
              <a:rPr lang="ru-RU" dirty="0" smtClean="0"/>
              <a:t>000000.00000000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53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номера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IP-адрес </a:t>
            </a:r>
          </a:p>
          <a:p>
            <a:pPr marL="0" indent="0">
              <a:buNone/>
            </a:pPr>
            <a:r>
              <a:rPr lang="ru-RU" dirty="0" smtClean="0"/>
              <a:t> 129.64.134.5  </a:t>
            </a:r>
            <a:r>
              <a:rPr lang="ru-RU" dirty="0"/>
              <a:t>	 </a:t>
            </a:r>
            <a:r>
              <a:rPr lang="ru-RU" dirty="0" smtClean="0"/>
              <a:t>10000001.01000000.10000110.00000101</a:t>
            </a:r>
            <a:endParaRPr lang="ru-RU" dirty="0"/>
          </a:p>
          <a:p>
            <a:r>
              <a:rPr lang="ru-RU" dirty="0"/>
              <a:t>Маска </a:t>
            </a:r>
          </a:p>
          <a:p>
            <a:pPr marL="0" indent="0">
              <a:buNone/>
            </a:pPr>
            <a:r>
              <a:rPr lang="ru-RU" dirty="0" smtClean="0"/>
              <a:t> 255.255.128.0</a:t>
            </a:r>
            <a:r>
              <a:rPr lang="ru-RU" dirty="0"/>
              <a:t>	</a:t>
            </a:r>
            <a:r>
              <a:rPr lang="ru-RU" dirty="0" smtClean="0"/>
              <a:t> 11111111. 11111111.  10000000.00000000</a:t>
            </a:r>
            <a:endParaRPr lang="ru-RU" dirty="0"/>
          </a:p>
          <a:p>
            <a:endParaRPr lang="ru-RU" dirty="0"/>
          </a:p>
          <a:p>
            <a:r>
              <a:rPr lang="ru-RU" dirty="0"/>
              <a:t>N сети 		</a:t>
            </a:r>
          </a:p>
          <a:p>
            <a:pPr marL="0" indent="0">
              <a:buNone/>
            </a:pPr>
            <a:r>
              <a:rPr lang="ru-RU" dirty="0" smtClean="0"/>
              <a:t> 129.64.128.0  </a:t>
            </a:r>
            <a:r>
              <a:rPr lang="ru-RU" dirty="0"/>
              <a:t>	</a:t>
            </a:r>
            <a:r>
              <a:rPr lang="ru-RU" dirty="0" smtClean="0"/>
              <a:t> 10000001.01000000.10000000.00000000</a:t>
            </a:r>
            <a:endParaRPr lang="ru-RU" dirty="0"/>
          </a:p>
          <a:p>
            <a:r>
              <a:rPr lang="ru-RU" dirty="0"/>
              <a:t>N узла</a:t>
            </a:r>
          </a:p>
          <a:p>
            <a:pPr marL="0" indent="0">
              <a:buNone/>
            </a:pPr>
            <a:r>
              <a:rPr lang="ru-RU" dirty="0" smtClean="0"/>
              <a:t> 0.0.6.5</a:t>
            </a:r>
            <a:r>
              <a:rPr lang="ru-RU" dirty="0"/>
              <a:t>	      	</a:t>
            </a:r>
            <a:r>
              <a:rPr lang="ru-RU" dirty="0" smtClean="0"/>
              <a:t> 00000000.00000000.00000110.00000101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Принадлежность IP-адреса “своей” подсети определяется   IP-адресом и маской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Бесклассовая </a:t>
            </a:r>
            <a:r>
              <a:rPr lang="ru-RU" dirty="0" smtClean="0"/>
              <a:t>адресация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Classless Inter-Domain Routing, CIDR - </a:t>
            </a:r>
            <a:r>
              <a:rPr lang="ru-RU" dirty="0"/>
              <a:t>бесклассовая маршрутизация</a:t>
            </a:r>
          </a:p>
          <a:p>
            <a:endParaRPr lang="ru-RU" dirty="0" smtClean="0"/>
          </a:p>
          <a:p>
            <a:r>
              <a:rPr lang="ru-RU" dirty="0" smtClean="0"/>
              <a:t>Маски </a:t>
            </a:r>
            <a:r>
              <a:rPr lang="ru-RU" dirty="0"/>
              <a:t>подсети – основа метода CIDR. </a:t>
            </a:r>
          </a:p>
          <a:p>
            <a:r>
              <a:rPr lang="ru-RU" dirty="0"/>
              <a:t>При этом подходе </a:t>
            </a:r>
          </a:p>
          <a:p>
            <a:pPr lvl="1"/>
            <a:r>
              <a:rPr lang="ru-RU" dirty="0"/>
              <a:t>N сети и N узла определяются не на основе старших битов адреса</a:t>
            </a:r>
            <a:r>
              <a:rPr lang="ru-RU" dirty="0" smtClean="0"/>
              <a:t>, а </a:t>
            </a:r>
            <a:r>
              <a:rPr lang="ru-RU" dirty="0"/>
              <a:t>на основе маски переменной длины.</a:t>
            </a:r>
          </a:p>
          <a:p>
            <a:pPr lvl="1"/>
            <a:r>
              <a:rPr lang="ru-RU" dirty="0"/>
              <a:t>Маску подсети записывают вместе с IP-адресом в формате «IP-адрес/количество единичных бит в маске».</a:t>
            </a:r>
          </a:p>
          <a:p>
            <a:endParaRPr lang="ru-RU" dirty="0"/>
          </a:p>
          <a:p>
            <a:r>
              <a:rPr lang="ru-RU" dirty="0"/>
              <a:t>Префиксная запись  192.0.2.35/27 </a:t>
            </a:r>
          </a:p>
          <a:p>
            <a:endParaRPr lang="ru-RU" dirty="0"/>
          </a:p>
          <a:p>
            <a:r>
              <a:rPr lang="ru-RU" dirty="0"/>
              <a:t>IP-адрес		</a:t>
            </a:r>
            <a:r>
              <a:rPr lang="ru-RU" dirty="0" smtClean="0"/>
              <a:t>11000000 </a:t>
            </a:r>
            <a:r>
              <a:rPr lang="ru-RU" dirty="0"/>
              <a:t>00000000 00000010 00100011 </a:t>
            </a:r>
          </a:p>
          <a:p>
            <a:r>
              <a:rPr lang="ru-RU" dirty="0"/>
              <a:t>Маска подсети	11111111 </a:t>
            </a:r>
            <a:r>
              <a:rPr lang="ru-RU" dirty="0" smtClean="0"/>
              <a:t>  11111111   11111111   11100000</a:t>
            </a:r>
            <a:endParaRPr lang="ru-RU" dirty="0"/>
          </a:p>
          <a:p>
            <a:r>
              <a:rPr lang="ru-RU" dirty="0"/>
              <a:t>Маска подсети	255.255.255.224</a:t>
            </a:r>
          </a:p>
          <a:p>
            <a:pPr marL="0" indent="0">
              <a:buNone/>
            </a:pPr>
            <a:r>
              <a:rPr lang="ru-RU" dirty="0"/>
              <a:t>	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61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Длина префикса, значение маски </a:t>
            </a:r>
            <a:br>
              <a:rPr lang="ru-RU" dirty="0"/>
            </a:br>
            <a:r>
              <a:rPr lang="ru-RU" dirty="0"/>
              <a:t>и число узлов </a:t>
            </a:r>
            <a:r>
              <a:rPr lang="ru-RU" dirty="0" smtClean="0"/>
              <a:t>подсети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953230"/>
              </p:ext>
            </p:extLst>
          </p:nvPr>
        </p:nvGraphicFramePr>
        <p:xfrm>
          <a:off x="1227909" y="1150996"/>
          <a:ext cx="4167646" cy="5668166"/>
        </p:xfrm>
        <a:graphic>
          <a:graphicData uri="http://schemas.openxmlformats.org/drawingml/2006/table">
            <a:tbl>
              <a:tblPr/>
              <a:tblGrid>
                <a:gridCol w="65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77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effectLst/>
                        </a:rPr>
                        <a:t>IP/</a:t>
                      </a:r>
                      <a:r>
                        <a:rPr lang="ru-RU" sz="900" dirty="0">
                          <a:effectLst/>
                        </a:rPr>
                        <a:t>маска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dirty="0">
                          <a:effectLst/>
                        </a:rPr>
                        <a:t>До последнего </a:t>
                      </a:r>
                      <a:r>
                        <a:rPr lang="en-US" sz="900" dirty="0">
                          <a:effectLst/>
                        </a:rPr>
                        <a:t>IP</a:t>
                      </a:r>
                      <a:r>
                        <a:rPr lang="ru-RU" sz="900" dirty="0">
                          <a:effectLst/>
                        </a:rPr>
                        <a:t>в подсети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dirty="0">
                          <a:effectLst/>
                        </a:rPr>
                        <a:t>Маска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dirty="0">
                          <a:effectLst/>
                        </a:rPr>
                        <a:t>Всего адресов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Узловых</a:t>
                      </a:r>
                      <a:r>
                        <a:rPr lang="ru-RU" sz="900" dirty="0">
                          <a:solidFill>
                            <a:schemeClr val="tx1"/>
                          </a:solidFill>
                          <a:effectLst/>
                        </a:rPr>
                        <a:t> адресов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dirty="0">
                          <a:effectLst/>
                        </a:rPr>
                        <a:t>Класс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/32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>
                          <a:effectLst/>
                        </a:rPr>
                        <a:t>(нет)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1/256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/31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+0.0.0.1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255.255.255.254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effectLst/>
                        </a:rPr>
                        <a:t>0(2)</a:t>
                      </a:r>
                      <a:endParaRPr lang="ru-RU" sz="900" dirty="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1/128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/30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+0.0.0.3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255.255.255.252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1/64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/29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+0.0.0.7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255.255.255.248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8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1/32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/28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+0.0.0.15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255.255.255.240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1/16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/27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+0.0.0.31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255.255.255.224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32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30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1/8 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/26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+0.0.0.63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255.255.255.192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64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62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1/4 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a.b.c.d</a:t>
                      </a:r>
                      <a:r>
                        <a:rPr lang="en-US" sz="900" b="1">
                          <a:effectLst/>
                        </a:rPr>
                        <a:t>/25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+0.0.0.127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255.255.255.128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128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126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1/2 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/24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+0.0.0.255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255.255.255.000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/23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+0.0.1.255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255.255.254.000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512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510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2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/22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+0.0.3.255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255.255.252.000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1024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1022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4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/21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+0.0.7.255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255.255.248.000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2048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2046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8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/20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+0.0.15.255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255.255.240.000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4096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4094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16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/19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+0.0.31.255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255.255.224.000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8192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8190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32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/18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+0.0.63.255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255.255.192.000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16 384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16 382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64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a.b.c.0</a:t>
                      </a:r>
                      <a:r>
                        <a:rPr lang="en-US" sz="900" b="1">
                          <a:effectLst/>
                        </a:rPr>
                        <a:t>/17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+0.0.127.255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255.255.128.000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32 768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32 766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128 C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66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a.b.0.0</a:t>
                      </a:r>
                      <a:r>
                        <a:rPr lang="en-US" sz="900" b="1">
                          <a:effectLst/>
                        </a:rPr>
                        <a:t>/16</a:t>
                      </a:r>
                      <a:endParaRPr lang="en-US" sz="900">
                        <a:effectLst/>
                      </a:endParaRP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+0.0.255.255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255.255.000.000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65 536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65 534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256 C = 1 B</a:t>
                      </a:r>
                    </a:p>
                  </a:txBody>
                  <a:tcPr marL="43805" marR="43805" marT="21903" marB="2190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20</a:t>
            </a:fld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729531"/>
              </p:ext>
            </p:extLst>
          </p:nvPr>
        </p:nvGraphicFramePr>
        <p:xfrm>
          <a:off x="5819464" y="1150996"/>
          <a:ext cx="4831687" cy="5386531"/>
        </p:xfrm>
        <a:graphic>
          <a:graphicData uri="http://schemas.openxmlformats.org/drawingml/2006/table">
            <a:tbl>
              <a:tblPr/>
              <a:tblGrid>
                <a:gridCol w="647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2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87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9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IP/</a:t>
                      </a:r>
                      <a:r>
                        <a:rPr lang="ru-RU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маска</a:t>
                      </a:r>
                    </a:p>
                  </a:txBody>
                  <a:tcPr marL="43721" marR="43721" marT="21859" marB="21859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 последнего 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r>
                        <a:rPr lang="ru-RU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подсети</a:t>
                      </a:r>
                    </a:p>
                  </a:txBody>
                  <a:tcPr marL="43721" marR="43721" marT="21859" marB="21859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Маска</a:t>
                      </a:r>
                    </a:p>
                  </a:txBody>
                  <a:tcPr marL="43721" marR="43721" marT="21859" marB="21859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Всего адресов</a:t>
                      </a:r>
                    </a:p>
                  </a:txBody>
                  <a:tcPr marL="43721" marR="43721" marT="21859" marB="21859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900" u="non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Узловых</a:t>
                      </a:r>
                      <a:r>
                        <a:rPr lang="ru-RU" sz="900" u="non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9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адресов</a:t>
                      </a:r>
                      <a:endParaRPr lang="ru-RU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721" marR="43721" marT="21859" marB="21859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Класс</a:t>
                      </a:r>
                    </a:p>
                  </a:txBody>
                  <a:tcPr marL="43721" marR="43721" marT="21859" marB="21859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a.b.0.0</a:t>
                      </a:r>
                      <a:r>
                        <a:rPr lang="en-US" sz="900" b="1" dirty="0">
                          <a:effectLst/>
                        </a:rPr>
                        <a:t>/15</a:t>
                      </a:r>
                      <a:endParaRPr lang="en-US" sz="900" dirty="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>
                          <a:effectLst/>
                        </a:rPr>
                        <a:t>+0.1.255.255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>
                          <a:effectLst/>
                        </a:rPr>
                        <a:t>255.254.000.000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>
                          <a:effectLst/>
                        </a:rPr>
                        <a:t>131 072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>
                          <a:effectLst/>
                        </a:rPr>
                        <a:t>131 070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2 B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22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a.b.0.0</a:t>
                      </a:r>
                      <a:r>
                        <a:rPr lang="en-US" sz="900" b="1">
                          <a:effectLst/>
                        </a:rPr>
                        <a:t>/14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>
                          <a:effectLst/>
                        </a:rPr>
                        <a:t>+0.3.255.255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255.252.000.000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262 144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262 142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4 B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a.b.0.0</a:t>
                      </a:r>
                      <a:r>
                        <a:rPr lang="en-US" sz="900" b="1">
                          <a:effectLst/>
                        </a:rPr>
                        <a:t>/13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+0.7.255.255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255.248.000.000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524 288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524 286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8 B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24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a.b.0.0</a:t>
                      </a:r>
                      <a:r>
                        <a:rPr lang="en-US" sz="900" b="1">
                          <a:effectLst/>
                        </a:rPr>
                        <a:t>/12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+0.15.255.255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dirty="0">
                          <a:effectLst/>
                        </a:rPr>
                        <a:t>255.240.000.000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1 048 576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1 048 574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16 B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9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a.b.0.0</a:t>
                      </a:r>
                      <a:r>
                        <a:rPr lang="en-US" sz="900" b="1">
                          <a:effectLst/>
                        </a:rPr>
                        <a:t>/11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+0.31.255.255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255.224.000.000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2 097 152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2 097 150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32 B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a.b.0.0</a:t>
                      </a:r>
                      <a:r>
                        <a:rPr lang="en-US" sz="900" b="1">
                          <a:effectLst/>
                        </a:rPr>
                        <a:t>/10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+0.63.255.255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255.192.000.000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4 194 304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4 194 302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64 B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a.b.0.0</a:t>
                      </a:r>
                      <a:r>
                        <a:rPr lang="en-US" sz="900" b="1">
                          <a:effectLst/>
                        </a:rPr>
                        <a:t>/9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+0.127.255.255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255.128.000.000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8 388 608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8 388 606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128 B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/8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+0.255.255.255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255.000.000.000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16 777 216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16 777 214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256 B = 1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/7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+1.255.255.255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254.000.000.000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33 554 432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33 554 430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2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7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/6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+3.255.255.255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252.000.000.000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67 108 864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67 108 862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4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/5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+7.255.255.255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248.000.000.000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134 217 728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134 217 726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8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22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/4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+15.255.255.255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240.000.000.000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268 435 456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268 435 454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16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531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/3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+31.255.255.255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224.000.000.000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536 870 912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536 870 910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32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054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/2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+63.255.255.255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192.000.000.000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1 073 741 824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1 073 741 822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64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054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a.0.0.0</a:t>
                      </a:r>
                      <a:r>
                        <a:rPr lang="en-US" sz="900" b="1">
                          <a:effectLst/>
                        </a:rPr>
                        <a:t>/1</a:t>
                      </a:r>
                      <a:endParaRPr lang="en-US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+127.255.255.255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128.000.000.000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2 147 483 648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2 147 483 646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128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2054"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0.0.0.0</a:t>
                      </a:r>
                      <a:r>
                        <a:rPr lang="ru-RU" sz="900" b="1">
                          <a:effectLst/>
                        </a:rPr>
                        <a:t>/0</a:t>
                      </a:r>
                      <a:endParaRPr lang="ru-RU" sz="900">
                        <a:effectLst/>
                      </a:endParaRP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+255.255.255.255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000.000.000.000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4 294 967 296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4 294 967 294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256 A</a:t>
                      </a:r>
                    </a:p>
                  </a:txBody>
                  <a:tcPr marL="42933" marR="42933" marT="21467" marB="21467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19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Маски разной </a:t>
            </a:r>
            <a:r>
              <a:rPr lang="ru-RU" dirty="0" smtClean="0"/>
              <a:t>длины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842856" y="1219200"/>
            <a:ext cx="3479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Сеть N  IP  	196.11.22.0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Маска 		255.255.255.0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391400" y="1295400"/>
            <a:ext cx="1447800" cy="5029200"/>
          </a:xfrm>
          <a:prstGeom prst="rect">
            <a:avLst/>
          </a:prstGeom>
          <a:solidFill>
            <a:srgbClr val="BBE0E3">
              <a:alpha val="53999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>
              <a:latin typeface="PT San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839200" y="1143000"/>
            <a:ext cx="16764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196.11.22.0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842375" y="6096000"/>
            <a:ext cx="163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196.11.22.255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449899" y="2478288"/>
            <a:ext cx="3624263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Маска 255.255.255.128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Подсеть N1   196.11.22.0/25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449898" y="3124602"/>
            <a:ext cx="3787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spcBef>
                <a:spcPts val="1125"/>
              </a:spcBef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Подсеть  N2  196.11.22.128/25</a:t>
            </a:r>
          </a:p>
        </p:txBody>
      </p:sp>
      <p:sp>
        <p:nvSpPr>
          <p:cNvPr id="11" name="Freeform 8"/>
          <p:cNvSpPr>
            <a:spLocks noChangeArrowheads="1"/>
          </p:cNvSpPr>
          <p:nvPr/>
        </p:nvSpPr>
        <p:spPr bwMode="auto">
          <a:xfrm>
            <a:off x="7391400" y="3886200"/>
            <a:ext cx="1447800" cy="1588"/>
          </a:xfrm>
          <a:custGeom>
            <a:avLst/>
            <a:gdLst>
              <a:gd name="T0" fmla="*/ 0 w 4023"/>
              <a:gd name="T1" fmla="*/ 0 h 5"/>
              <a:gd name="T2" fmla="*/ 4022 w 4023"/>
              <a:gd name="T3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023" h="5">
                <a:moveTo>
                  <a:pt x="0" y="0"/>
                </a:moveTo>
                <a:lnTo>
                  <a:pt x="4022" y="4"/>
                </a:lnTo>
              </a:path>
            </a:pathLst>
          </a:custGeom>
          <a:noFill/>
          <a:ln w="2232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>
              <a:latin typeface="PT Sans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8915400" y="3581400"/>
            <a:ext cx="1752600" cy="5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lnSpc>
                <a:spcPct val="60000"/>
              </a:lnSpc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196.11.22.127</a:t>
            </a:r>
          </a:p>
          <a:p>
            <a:pPr>
              <a:lnSpc>
                <a:spcPct val="60000"/>
              </a:lnSpc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196.11.22.128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7543800" y="1600200"/>
            <a:ext cx="7620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N1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7543800" y="4038600"/>
            <a:ext cx="609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N2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867025" y="4610441"/>
            <a:ext cx="4148138" cy="148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lnSpc>
                <a:spcPct val="60000"/>
              </a:lnSpc>
              <a:spcBef>
                <a:spcPts val="1125"/>
              </a:spcBef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Подсеть  N2  196.11.22.128/26</a:t>
            </a:r>
          </a:p>
          <a:p>
            <a:pPr>
              <a:lnSpc>
                <a:spcPct val="60000"/>
              </a:lnSpc>
              <a:spcBef>
                <a:spcPts val="1125"/>
              </a:spcBef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Маска            255.255.255.192</a:t>
            </a:r>
          </a:p>
          <a:p>
            <a:pPr>
              <a:lnSpc>
                <a:spcPct val="60000"/>
              </a:lnSpc>
              <a:spcBef>
                <a:spcPts val="1125"/>
              </a:spcBef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	</a:t>
            </a:r>
          </a:p>
          <a:p>
            <a:pPr>
              <a:lnSpc>
                <a:spcPct val="60000"/>
              </a:lnSpc>
              <a:spcBef>
                <a:spcPts val="1125"/>
              </a:spcBef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Подсеть  N3  196.11.22.192/26</a:t>
            </a:r>
          </a:p>
          <a:p>
            <a:pPr>
              <a:lnSpc>
                <a:spcPct val="60000"/>
              </a:lnSpc>
              <a:spcBef>
                <a:spcPts val="1125"/>
              </a:spcBef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Маска            255.255.255.192</a:t>
            </a: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2867026" y="4066713"/>
            <a:ext cx="3965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PT Sans"/>
              </a:rPr>
              <a:t>N2 :  Маска 255.255.255.192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7543800" y="5562600"/>
            <a:ext cx="5334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N3</a:t>
            </a:r>
          </a:p>
        </p:txBody>
      </p:sp>
      <p:sp>
        <p:nvSpPr>
          <p:cNvPr id="18" name="Freeform 15"/>
          <p:cNvSpPr>
            <a:spLocks noChangeArrowheads="1"/>
          </p:cNvSpPr>
          <p:nvPr/>
        </p:nvSpPr>
        <p:spPr bwMode="auto">
          <a:xfrm>
            <a:off x="7391400" y="5105400"/>
            <a:ext cx="1447800" cy="1588"/>
          </a:xfrm>
          <a:custGeom>
            <a:avLst/>
            <a:gdLst>
              <a:gd name="T0" fmla="*/ 0 w 4023"/>
              <a:gd name="T1" fmla="*/ 0 h 5"/>
              <a:gd name="T2" fmla="*/ 4022 w 4023"/>
              <a:gd name="T3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023" h="5">
                <a:moveTo>
                  <a:pt x="0" y="0"/>
                </a:moveTo>
                <a:lnTo>
                  <a:pt x="4022" y="4"/>
                </a:lnTo>
              </a:path>
            </a:pathLst>
          </a:cu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>
              <a:latin typeface="PT Sans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8915400" y="4800600"/>
            <a:ext cx="17526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lnSpc>
                <a:spcPct val="75000"/>
              </a:lnSpc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196.11.22.191</a:t>
            </a:r>
          </a:p>
          <a:p>
            <a:pPr>
              <a:lnSpc>
                <a:spcPct val="75000"/>
              </a:lnSpc>
              <a:spcBef>
                <a:spcPts val="1125"/>
              </a:spcBef>
            </a:pPr>
            <a:r>
              <a:rPr lang="ru-RU" altLang="ru-RU">
                <a:solidFill>
                  <a:srgbClr val="000000"/>
                </a:solidFill>
                <a:latin typeface="PT Sans"/>
              </a:rPr>
              <a:t>196.11.22.192</a:t>
            </a:r>
          </a:p>
        </p:txBody>
      </p:sp>
    </p:spTree>
    <p:extLst>
      <p:ext uri="{BB962C8B-B14F-4D97-AF65-F5344CB8AC3E}">
        <p14:creationId xmlns:p14="http://schemas.microsoft.com/office/powerpoint/2010/main" val="301657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,5" calcmode="lin" valueType="num">
                                      <p:cBhvr additive="repl">
                                        <p:cTn id="6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1" presetID="4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1,5" calcmode="lin" valueType="num">
                                      <p:cBhvr additive="repl">
                                        <p:cTn id="6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indefinite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Arial Unicode MS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6" dur="indefinite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Arial Unicode MS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8" dur="indefinite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Arial Unicode MS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0" dur="indefinite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Arial Unicode MS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2" dur="indefinite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Arial Unicode MS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1,5" calcmode="lin" valueType="num">
                                      <p:cBhvr additive="repl">
                                        <p:cTn id="74" dur="2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5" presetID="4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1,5" calcmode="lin" valueType="num">
                                      <p:cBhvr additive="repl">
                                        <p:cTn id="76" dur="2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7" presetID="4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1,5" calcmode="lin" valueType="num">
                                      <p:cBhvr additive="repl">
                                        <p:cTn id="78" dur="2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9" presetID="4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1,5" calcmode="lin" valueType="num">
                                      <p:cBhvr additive="repl">
                                        <p:cTn id="80" dur="2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1" presetID="4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1,5" calcmode="lin" valueType="num">
                                      <p:cBhvr additive="repl">
                                        <p:cTn id="82" dur="2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3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</a:t>
            </a:r>
            <a:r>
              <a:rPr lang="ru-RU" dirty="0" smtClean="0"/>
              <a:t>функции </a:t>
            </a:r>
            <a:r>
              <a:rPr lang="en-US" dirty="0" smtClean="0"/>
              <a:t>IP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 маршрута передачи</a:t>
            </a:r>
          </a:p>
          <a:p>
            <a:r>
              <a:rPr lang="ru-RU" dirty="0"/>
              <a:t>Передача пакетов между сетями</a:t>
            </a:r>
          </a:p>
          <a:p>
            <a:r>
              <a:rPr lang="ru-RU" dirty="0"/>
              <a:t>Фрагментация пакетов</a:t>
            </a:r>
          </a:p>
          <a:p>
            <a:r>
              <a:rPr lang="ru-RU" dirty="0"/>
              <a:t>Протокол без установления соединения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674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Формат </a:t>
            </a:r>
            <a:r>
              <a:rPr lang="en-US" dirty="0"/>
              <a:t>IP-</a:t>
            </a:r>
            <a:r>
              <a:rPr lang="ru-RU" dirty="0"/>
              <a:t>пакета версии </a:t>
            </a:r>
            <a:r>
              <a:rPr lang="en-US" dirty="0" smtClean="0"/>
              <a:t>IPv4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701" y="1253432"/>
            <a:ext cx="7633756" cy="510381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20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Флаги</a:t>
            </a:r>
            <a:r>
              <a:rPr lang="en-US" dirty="0"/>
              <a:t> TOS (Type Of Service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3504" y="2440065"/>
            <a:ext cx="8289563" cy="4261283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Три младших бита (“</a:t>
            </a:r>
            <a:r>
              <a:rPr lang="ru-RU" dirty="0" err="1"/>
              <a:t>Precedence</a:t>
            </a:r>
            <a:r>
              <a:rPr lang="ru-RU" dirty="0"/>
              <a:t>”) определяют приоритет </a:t>
            </a:r>
            <a:r>
              <a:rPr lang="ru-RU" dirty="0" smtClean="0"/>
              <a:t>пакета: </a:t>
            </a:r>
            <a:endParaRPr lang="ru-RU" dirty="0"/>
          </a:p>
          <a:p>
            <a:pPr lvl="1"/>
            <a:r>
              <a:rPr lang="ru-RU" dirty="0" smtClean="0"/>
              <a:t>111 - управление сетью  	(максимальный приоритет)</a:t>
            </a:r>
          </a:p>
          <a:p>
            <a:pPr lvl="1"/>
            <a:r>
              <a:rPr lang="ru-RU" dirty="0" smtClean="0"/>
              <a:t>110 - </a:t>
            </a:r>
          </a:p>
          <a:p>
            <a:pPr lvl="1"/>
            <a:r>
              <a:rPr lang="ru-RU" dirty="0" smtClean="0"/>
              <a:t>101 - </a:t>
            </a:r>
          </a:p>
          <a:p>
            <a:pPr lvl="1"/>
            <a:r>
              <a:rPr lang="ru-RU" dirty="0" smtClean="0"/>
              <a:t>100 - </a:t>
            </a:r>
          </a:p>
          <a:p>
            <a:pPr lvl="1"/>
            <a:r>
              <a:rPr lang="ru-RU" dirty="0" smtClean="0"/>
              <a:t>011 -  </a:t>
            </a:r>
          </a:p>
          <a:p>
            <a:pPr lvl="1"/>
            <a:r>
              <a:rPr lang="ru-RU" dirty="0" smtClean="0"/>
              <a:t>010 -  </a:t>
            </a:r>
          </a:p>
          <a:p>
            <a:pPr lvl="1"/>
            <a:r>
              <a:rPr lang="ru-RU" dirty="0" smtClean="0"/>
              <a:t>001 -  </a:t>
            </a:r>
          </a:p>
          <a:p>
            <a:pPr lvl="1"/>
            <a:r>
              <a:rPr lang="ru-RU" dirty="0" smtClean="0"/>
              <a:t>000 – обычная передача	(минимальный приоритет)</a:t>
            </a:r>
          </a:p>
          <a:p>
            <a:endParaRPr lang="ru-RU" dirty="0"/>
          </a:p>
          <a:p>
            <a:r>
              <a:rPr lang="ru-RU" dirty="0"/>
              <a:t>Биты D,T,R,C определяют желаемый тип маршрутизации: </a:t>
            </a:r>
          </a:p>
          <a:p>
            <a:pPr lvl="1"/>
            <a:r>
              <a:rPr lang="ru-RU" dirty="0"/>
              <a:t>D (</a:t>
            </a:r>
            <a:r>
              <a:rPr lang="ru-RU" dirty="0" err="1"/>
              <a:t>Delay</a:t>
            </a:r>
            <a:r>
              <a:rPr lang="ru-RU" dirty="0"/>
              <a:t>) 		- минимальная задержка, </a:t>
            </a:r>
          </a:p>
          <a:p>
            <a:pPr lvl="1"/>
            <a:r>
              <a:rPr lang="ru-RU" dirty="0"/>
              <a:t>T (</a:t>
            </a:r>
            <a:r>
              <a:rPr lang="ru-RU" dirty="0" err="1"/>
              <a:t>Throughput</a:t>
            </a:r>
            <a:r>
              <a:rPr lang="ru-RU" dirty="0"/>
              <a:t>) 	- максимальная пропускная способность, </a:t>
            </a:r>
          </a:p>
          <a:p>
            <a:pPr lvl="1"/>
            <a:r>
              <a:rPr lang="ru-RU" dirty="0"/>
              <a:t>R (</a:t>
            </a:r>
            <a:r>
              <a:rPr lang="ru-RU" dirty="0" err="1"/>
              <a:t>Reliability</a:t>
            </a:r>
            <a:r>
              <a:rPr lang="ru-RU" dirty="0"/>
              <a:t>) 	- максимальная надежность, </a:t>
            </a:r>
          </a:p>
          <a:p>
            <a:pPr lvl="1"/>
            <a:r>
              <a:rPr lang="ru-RU" dirty="0"/>
              <a:t>C (</a:t>
            </a:r>
            <a:r>
              <a:rPr lang="ru-RU" dirty="0" err="1"/>
              <a:t>Cost</a:t>
            </a:r>
            <a:r>
              <a:rPr lang="ru-RU" dirty="0"/>
              <a:t>) 		- минимальная стоимость.</a:t>
            </a:r>
          </a:p>
          <a:p>
            <a:r>
              <a:rPr lang="ru-RU" dirty="0"/>
              <a:t>В </a:t>
            </a:r>
            <a:r>
              <a:rPr lang="ru-RU" dirty="0" smtClean="0"/>
              <a:t>пакете </a:t>
            </a:r>
            <a:r>
              <a:rPr lang="ru-RU" dirty="0"/>
              <a:t>может быть установлен только один из битов D,T,R,C. Старший бит байта не используется.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605810" y="2966814"/>
            <a:ext cx="304800" cy="1282825"/>
          </a:xfrm>
          <a:prstGeom prst="upArrow">
            <a:avLst>
              <a:gd name="adj1" fmla="val 50000"/>
              <a:gd name="adj2" fmla="val 112500"/>
            </a:avLst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415" y="1173558"/>
            <a:ext cx="4852144" cy="11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3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Другие типы приоритета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QoS</a:t>
            </a:r>
            <a:r>
              <a:rPr lang="en-US" dirty="0"/>
              <a:t> - Quality of </a:t>
            </a:r>
            <a:r>
              <a:rPr lang="en-US" dirty="0" smtClean="0"/>
              <a:t>Service</a:t>
            </a:r>
            <a:r>
              <a:rPr lang="ru-RU" dirty="0" smtClean="0"/>
              <a:t>:</a:t>
            </a:r>
          </a:p>
          <a:p>
            <a:pPr lvl="1"/>
            <a:r>
              <a:rPr lang="en-US" dirty="0" err="1" smtClean="0"/>
              <a:t>ToS</a:t>
            </a:r>
            <a:r>
              <a:rPr lang="en-US" dirty="0" smtClean="0"/>
              <a:t> </a:t>
            </a:r>
            <a:r>
              <a:rPr lang="en-US" dirty="0" err="1"/>
              <a:t>означает</a:t>
            </a:r>
            <a:r>
              <a:rPr lang="en-US" dirty="0"/>
              <a:t> Type of </a:t>
            </a:r>
            <a:r>
              <a:rPr lang="en-US" dirty="0" smtClean="0"/>
              <a:t>Service</a:t>
            </a:r>
            <a:r>
              <a:rPr lang="ru-RU" dirty="0" smtClean="0"/>
              <a:t> – 3 бита</a:t>
            </a:r>
          </a:p>
          <a:p>
            <a:pPr lvl="1"/>
            <a:r>
              <a:rPr lang="en-US" dirty="0" smtClean="0"/>
              <a:t>DSCP </a:t>
            </a:r>
            <a:r>
              <a:rPr lang="en-US" dirty="0"/>
              <a:t>- </a:t>
            </a:r>
            <a:r>
              <a:rPr lang="en-US" dirty="0" err="1"/>
              <a:t>Differenciated</a:t>
            </a:r>
            <a:r>
              <a:rPr lang="en-US" dirty="0"/>
              <a:t> Services Code </a:t>
            </a:r>
            <a:r>
              <a:rPr lang="en-US" dirty="0" smtClean="0"/>
              <a:t>Point</a:t>
            </a:r>
            <a:r>
              <a:rPr lang="ru-RU" dirty="0" smtClean="0"/>
              <a:t> – 6 бит</a:t>
            </a:r>
          </a:p>
          <a:p>
            <a:pPr lvl="1"/>
            <a:r>
              <a:rPr lang="en-US" dirty="0" err="1" smtClean="0"/>
              <a:t>CoS</a:t>
            </a:r>
            <a:r>
              <a:rPr lang="en-US" dirty="0" smtClean="0"/>
              <a:t> </a:t>
            </a:r>
            <a:r>
              <a:rPr lang="en-US" dirty="0"/>
              <a:t>- Class of </a:t>
            </a:r>
            <a:r>
              <a:rPr lang="en-US" dirty="0" smtClean="0"/>
              <a:t>Service</a:t>
            </a:r>
            <a:r>
              <a:rPr lang="ru-RU" dirty="0" smtClean="0"/>
              <a:t> – канальный уровень</a:t>
            </a:r>
          </a:p>
          <a:p>
            <a:pPr marL="228600" lvl="1">
              <a:spcBef>
                <a:spcPts val="1000"/>
              </a:spcBef>
            </a:pP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25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456" y="2974669"/>
            <a:ext cx="4939682" cy="248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0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Поле “Протокол</a:t>
            </a:r>
            <a:r>
              <a:rPr lang="ru-RU" dirty="0" smtClean="0"/>
              <a:t>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Код (номер) протокола указывает какому протоколу верхнего уровня принадлежат данные </a:t>
            </a:r>
            <a:r>
              <a:rPr lang="en-US" dirty="0"/>
              <a:t>IP-</a:t>
            </a:r>
            <a:r>
              <a:rPr lang="ru-RU" dirty="0"/>
              <a:t>пакета.</a:t>
            </a:r>
          </a:p>
          <a:p>
            <a:endParaRPr lang="ru-RU" dirty="0"/>
          </a:p>
          <a:p>
            <a:r>
              <a:rPr lang="ru-RU" dirty="0"/>
              <a:t>До 1994: </a:t>
            </a:r>
            <a:r>
              <a:rPr lang="en-US" dirty="0"/>
              <a:t>RFC 1700 Assigned Numbers</a:t>
            </a:r>
          </a:p>
          <a:p>
            <a:r>
              <a:rPr lang="ru-RU" dirty="0"/>
              <a:t>С   1994: </a:t>
            </a:r>
            <a:r>
              <a:rPr lang="en-US" dirty="0"/>
              <a:t>RFC 3232:  RFC 1700 is Replaced by an On-line </a:t>
            </a:r>
            <a:r>
              <a:rPr lang="en-US" dirty="0" smtClean="0"/>
              <a:t>Database</a:t>
            </a:r>
            <a:r>
              <a:rPr lang="ru-RU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www.iana.org/assignments/protocol-numbers/protocol-numbers.xhtml</a:t>
            </a:r>
            <a:endParaRPr lang="ru-RU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TCP, UDP, ICMP, OSPF, IP. . . .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094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Демультиплексирование на различных уровнях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922" y="1391281"/>
            <a:ext cx="6436807" cy="510381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387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Фрагментация </a:t>
            </a:r>
            <a:r>
              <a:rPr lang="en-US" dirty="0"/>
              <a:t>IP-</a:t>
            </a:r>
            <a:r>
              <a:rPr lang="ru-RU" dirty="0" smtClean="0"/>
              <a:t>пакетов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191" y="1163885"/>
            <a:ext cx="7559319" cy="5585790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56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Фрагментация  </a:t>
            </a:r>
            <a:r>
              <a:rPr lang="ru-RU" dirty="0" smtClean="0"/>
              <a:t>пакета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16745" y="1326270"/>
            <a:ext cx="8289563" cy="5348444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Общая длина </a:t>
            </a:r>
          </a:p>
          <a:p>
            <a:r>
              <a:rPr lang="ru-RU" b="1" dirty="0"/>
              <a:t>Идентификатор</a:t>
            </a:r>
          </a:p>
          <a:p>
            <a:r>
              <a:rPr lang="ru-RU" b="1" dirty="0"/>
              <a:t>Флаги :  0,  DF </a:t>
            </a:r>
            <a:r>
              <a:rPr lang="ru-RU" dirty="0"/>
              <a:t>– </a:t>
            </a:r>
            <a:r>
              <a:rPr lang="ru-RU" dirty="0" err="1"/>
              <a:t>Don’t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,  </a:t>
            </a:r>
            <a:r>
              <a:rPr lang="ru-RU" b="1" dirty="0"/>
              <a:t>MF</a:t>
            </a:r>
            <a:r>
              <a:rPr lang="ru-RU" dirty="0"/>
              <a:t> – 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fragments</a:t>
            </a:r>
            <a:r>
              <a:rPr lang="ru-RU" dirty="0"/>
              <a:t>   </a:t>
            </a:r>
          </a:p>
          <a:p>
            <a:r>
              <a:rPr lang="ru-RU" b="1" dirty="0"/>
              <a:t>Смещение</a:t>
            </a:r>
            <a:r>
              <a:rPr lang="ru-RU" dirty="0"/>
              <a:t>  – смещение поля данных фрагмента от начала поля данных исходного пакета  (кратно 8 байт)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ru-RU" altLang="ru-RU" b="1" dirty="0">
                <a:solidFill>
                  <a:srgbClr val="000000"/>
                </a:solidFill>
              </a:rPr>
              <a:t>Проблемы фрагментации  </a:t>
            </a:r>
            <a:r>
              <a:rPr lang="ru-RU" altLang="ru-RU" dirty="0">
                <a:solidFill>
                  <a:srgbClr val="000000"/>
                </a:solidFill>
              </a:rPr>
              <a:t>Нагрузка на ЦП и память, утеря фрагмента – повтор всего пакета. </a:t>
            </a:r>
            <a:r>
              <a:rPr lang="ru-RU" altLang="ru-RU" dirty="0" smtClean="0">
                <a:solidFill>
                  <a:srgbClr val="000000"/>
                </a:solidFill>
              </a:rPr>
              <a:t>Атаки </a:t>
            </a:r>
            <a:r>
              <a:rPr lang="ru-RU" altLang="ru-RU" dirty="0">
                <a:solidFill>
                  <a:srgbClr val="000000"/>
                </a:solidFill>
              </a:rPr>
              <a:t>и угрозы. </a:t>
            </a:r>
            <a:r>
              <a:rPr lang="ru-RU" altLang="ru-RU" dirty="0" smtClean="0">
                <a:solidFill>
                  <a:srgbClr val="000000"/>
                </a:solidFill>
              </a:rPr>
              <a:t>Не </a:t>
            </a:r>
            <a:r>
              <a:rPr lang="ru-RU" altLang="ru-RU" dirty="0">
                <a:solidFill>
                  <a:srgbClr val="000000"/>
                </a:solidFill>
              </a:rPr>
              <a:t>путать </a:t>
            </a:r>
            <a:r>
              <a:rPr lang="ru-RU" altLang="ru-RU" dirty="0" smtClean="0">
                <a:solidFill>
                  <a:srgbClr val="000000"/>
                </a:solidFill>
              </a:rPr>
              <a:t>с </a:t>
            </a:r>
            <a:r>
              <a:rPr lang="en-US" altLang="ru-RU" dirty="0">
                <a:solidFill>
                  <a:srgbClr val="000000"/>
                </a:solidFill>
              </a:rPr>
              <a:t>TCP – </a:t>
            </a:r>
            <a:r>
              <a:rPr lang="ru-RU" altLang="ru-RU" dirty="0">
                <a:solidFill>
                  <a:srgbClr val="000000"/>
                </a:solidFill>
              </a:rPr>
              <a:t>фрагментацией</a:t>
            </a:r>
            <a:r>
              <a:rPr lang="ru-RU" altLang="ru-RU" dirty="0" smtClean="0">
                <a:solidFill>
                  <a:srgbClr val="000000"/>
                </a:solidFill>
              </a:rPr>
              <a:t>!</a:t>
            </a:r>
            <a:endParaRPr lang="ru-RU" altLang="ru-RU" dirty="0">
              <a:solidFill>
                <a:srgbClr val="0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29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541" y="2881640"/>
            <a:ext cx="5753115" cy="29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8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Поле TTL в заголовке IP </a:t>
            </a:r>
            <a:r>
              <a:rPr lang="ru-RU" dirty="0" smtClean="0"/>
              <a:t>пакета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TTL (</a:t>
            </a:r>
            <a:r>
              <a:rPr lang="ru-RU" dirty="0" err="1"/>
              <a:t>Time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Live</a:t>
            </a:r>
            <a:r>
              <a:rPr lang="ru-RU" dirty="0"/>
              <a:t>) -  «время жизни» пакета</a:t>
            </a:r>
          </a:p>
          <a:p>
            <a:endParaRPr lang="ru-RU" dirty="0"/>
          </a:p>
          <a:p>
            <a:r>
              <a:rPr lang="ru-RU" dirty="0"/>
              <a:t>TTL  =  (255 — 0).   При TTL= 0 пакет отбрасывается</a:t>
            </a:r>
          </a:p>
          <a:p>
            <a:r>
              <a:rPr lang="ru-RU" dirty="0"/>
              <a:t>При прохождении пакета, каждый маршрутизатор уменьшает значение TTL  на </a:t>
            </a:r>
            <a:r>
              <a:rPr lang="ru-RU" dirty="0" smtClean="0"/>
              <a:t>единицу</a:t>
            </a:r>
            <a:r>
              <a:rPr lang="en-US" dirty="0" smtClean="0"/>
              <a:t> </a:t>
            </a:r>
            <a:r>
              <a:rPr lang="ru-RU" dirty="0" smtClean="0"/>
              <a:t>(</a:t>
            </a:r>
            <a:r>
              <a:rPr lang="ru-RU" dirty="0"/>
              <a:t>Пересчет контрольной суммы IP-заголовка)</a:t>
            </a:r>
          </a:p>
          <a:p>
            <a:endParaRPr lang="ru-RU" dirty="0"/>
          </a:p>
          <a:p>
            <a:r>
              <a:rPr lang="ru-RU" dirty="0"/>
              <a:t>По умолчанию: </a:t>
            </a:r>
          </a:p>
          <a:p>
            <a:r>
              <a:rPr lang="ru-RU" dirty="0" err="1"/>
              <a:t>Linux</a:t>
            </a:r>
            <a:r>
              <a:rPr lang="ru-RU" dirty="0"/>
              <a:t>:    </a:t>
            </a:r>
            <a:r>
              <a:rPr lang="en-US" dirty="0" smtClean="0"/>
              <a:t>	</a:t>
            </a:r>
            <a:r>
              <a:rPr lang="ru-RU" dirty="0" smtClean="0"/>
              <a:t>TTL </a:t>
            </a:r>
            <a:r>
              <a:rPr lang="ru-RU" dirty="0"/>
              <a:t>= 64, </a:t>
            </a:r>
          </a:p>
          <a:p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en-US" dirty="0" smtClean="0"/>
              <a:t>	</a:t>
            </a:r>
            <a:r>
              <a:rPr lang="ru-RU" dirty="0" smtClean="0"/>
              <a:t>TTL</a:t>
            </a:r>
            <a:r>
              <a:rPr lang="ru-RU" dirty="0"/>
              <a:t>= 128.</a:t>
            </a:r>
          </a:p>
          <a:p>
            <a:endParaRPr lang="ru-RU" dirty="0"/>
          </a:p>
          <a:p>
            <a:r>
              <a:rPr lang="ru-RU" dirty="0"/>
              <a:t>TTL  </a:t>
            </a:r>
            <a:r>
              <a:rPr lang="ru-RU" dirty="0" smtClean="0"/>
              <a:t>используется</a:t>
            </a:r>
            <a:endParaRPr lang="en-US" dirty="0" smtClean="0"/>
          </a:p>
          <a:p>
            <a:pPr lvl="1"/>
            <a:r>
              <a:rPr lang="ru-RU" dirty="0" smtClean="0"/>
              <a:t>в </a:t>
            </a:r>
            <a:r>
              <a:rPr lang="ru-RU" dirty="0"/>
              <a:t>утилитах  </a:t>
            </a:r>
            <a:r>
              <a:rPr lang="ru-RU" dirty="0" err="1"/>
              <a:t>traceroute</a:t>
            </a:r>
            <a:r>
              <a:rPr lang="ru-RU" dirty="0"/>
              <a:t>, </a:t>
            </a:r>
            <a:r>
              <a:rPr lang="ru-RU" dirty="0" err="1" smtClean="0"/>
              <a:t>tracert</a:t>
            </a:r>
            <a:r>
              <a:rPr lang="en-US" dirty="0" smtClean="0"/>
              <a:t> </a:t>
            </a:r>
            <a:endParaRPr lang="ru-RU" dirty="0" smtClean="0"/>
          </a:p>
          <a:p>
            <a:pPr lvl="1"/>
            <a:r>
              <a:rPr lang="ru-RU" dirty="0" smtClean="0"/>
              <a:t>для определения несанкционированного подключения</a:t>
            </a:r>
            <a:r>
              <a:rPr lang="en-US" dirty="0" smtClean="0"/>
              <a:t> </a:t>
            </a:r>
            <a:r>
              <a:rPr lang="ru-RU" dirty="0" smtClean="0"/>
              <a:t>абонентов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30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844" y="3048910"/>
            <a:ext cx="4628742" cy="244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9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«Странные» </a:t>
            </a:r>
            <a:r>
              <a:rPr lang="en-US" dirty="0"/>
              <a:t>IP-</a:t>
            </a:r>
            <a:r>
              <a:rPr lang="ru-RU" dirty="0" smtClean="0"/>
              <a:t>адреса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15892" y="1363030"/>
            <a:ext cx="4915441" cy="510425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Для записи IP-адресов </a:t>
            </a:r>
            <a:r>
              <a:rPr lang="ru-RU" dirty="0" smtClean="0"/>
              <a:t>допускается</a:t>
            </a:r>
            <a:r>
              <a:rPr lang="en-US" dirty="0" smtClean="0"/>
              <a:t> </a:t>
            </a:r>
            <a:r>
              <a:rPr lang="ru-RU" dirty="0" smtClean="0"/>
              <a:t>использовать </a:t>
            </a:r>
            <a:r>
              <a:rPr lang="ru-RU" dirty="0"/>
              <a:t>форматы с тремя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двумя </a:t>
            </a:r>
            <a:r>
              <a:rPr lang="ru-RU" dirty="0"/>
              <a:t>и одной точкой, а также без </a:t>
            </a:r>
            <a:r>
              <a:rPr lang="ru-RU" dirty="0" smtClean="0"/>
              <a:t>точки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  <a:p>
            <a:pPr marL="207963" indent="-200025">
              <a:buSzPct val="45000"/>
              <a:buFont typeface="Wingdings" charset="2"/>
              <a:buChar char=""/>
            </a:pPr>
            <a:r>
              <a:rPr lang="ru-RU" altLang="ru-RU" dirty="0" err="1">
                <a:solidFill>
                  <a:srgbClr val="000000"/>
                </a:solidFill>
              </a:rPr>
              <a:t>a.b.c.d</a:t>
            </a:r>
            <a:r>
              <a:rPr lang="ru-RU" altLang="ru-RU" dirty="0">
                <a:solidFill>
                  <a:srgbClr val="000000"/>
                </a:solidFill>
              </a:rPr>
              <a:t>	(100.0.1.244)</a:t>
            </a:r>
          </a:p>
          <a:p>
            <a:pPr marL="207963" indent="-200025">
              <a:buSzPct val="45000"/>
              <a:buFont typeface="Wingdings" charset="2"/>
              <a:buChar char=""/>
            </a:pPr>
            <a:r>
              <a:rPr lang="ru-RU" altLang="ru-RU" dirty="0" err="1">
                <a:solidFill>
                  <a:srgbClr val="000000"/>
                </a:solidFill>
              </a:rPr>
              <a:t>a.b.c</a:t>
            </a:r>
            <a:r>
              <a:rPr lang="ru-RU" altLang="ru-RU" dirty="0">
                <a:solidFill>
                  <a:srgbClr val="000000"/>
                </a:solidFill>
              </a:rPr>
              <a:t>		(100.0.500)</a:t>
            </a:r>
          </a:p>
          <a:p>
            <a:pPr marL="207963" indent="-200025">
              <a:buSzPct val="45000"/>
              <a:buFont typeface="Wingdings" charset="2"/>
              <a:buChar char=""/>
            </a:pPr>
            <a:r>
              <a:rPr lang="ru-RU" altLang="ru-RU" dirty="0" err="1">
                <a:solidFill>
                  <a:srgbClr val="000000"/>
                </a:solidFill>
              </a:rPr>
              <a:t>a.b</a:t>
            </a:r>
            <a:r>
              <a:rPr lang="ru-RU" altLang="ru-RU" dirty="0">
                <a:solidFill>
                  <a:srgbClr val="000000"/>
                </a:solidFill>
              </a:rPr>
              <a:t>      	(100.500)</a:t>
            </a:r>
          </a:p>
          <a:p>
            <a:pPr marL="207963" indent="-200025">
              <a:buSzPct val="45000"/>
              <a:buFont typeface="Wingdings" charset="2"/>
              <a:buChar char=""/>
            </a:pPr>
            <a:r>
              <a:rPr lang="en-US" altLang="ru-RU" dirty="0">
                <a:solidFill>
                  <a:srgbClr val="000000"/>
                </a:solidFill>
              </a:rPr>
              <a:t>a</a:t>
            </a:r>
            <a:r>
              <a:rPr lang="ru-RU" altLang="ru-RU" dirty="0">
                <a:solidFill>
                  <a:srgbClr val="000000"/>
                </a:solidFill>
              </a:rPr>
              <a:t>		</a:t>
            </a:r>
            <a:r>
              <a:rPr lang="ru-RU" altLang="ru-RU" dirty="0" smtClean="0">
                <a:solidFill>
                  <a:srgbClr val="000000"/>
                </a:solidFill>
              </a:rPr>
              <a:t>(</a:t>
            </a:r>
            <a:r>
              <a:rPr lang="ru-RU" altLang="ru-RU" dirty="0">
                <a:solidFill>
                  <a:srgbClr val="000000"/>
                </a:solidFill>
              </a:rPr>
              <a:t>1677722100)</a:t>
            </a:r>
          </a:p>
          <a:p>
            <a:endParaRPr lang="ru-RU" dirty="0"/>
          </a:p>
          <a:p>
            <a:r>
              <a:rPr lang="ru-RU" dirty="0"/>
              <a:t>При этом числа а, b, c, d могут быть представлены в десятичной, восьмеричной или шестнадцатеричной системе счисления.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31</a:t>
            </a:fld>
            <a:endParaRPr lang="ru-RU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60844" y="1363030"/>
            <a:ext cx="3781044" cy="4901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750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ARP/RARP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32</a:t>
            </a:fld>
            <a:endParaRPr lang="ru-RU" dirty="0"/>
          </a:p>
        </p:txBody>
      </p:sp>
      <p:grpSp>
        <p:nvGrpSpPr>
          <p:cNvPr id="48" name="Группа 47"/>
          <p:cNvGrpSpPr/>
          <p:nvPr/>
        </p:nvGrpSpPr>
        <p:grpSpPr>
          <a:xfrm>
            <a:off x="4644723" y="1832301"/>
            <a:ext cx="3020031" cy="1350407"/>
            <a:chOff x="2600325" y="1409700"/>
            <a:chExt cx="3020031" cy="1350407"/>
          </a:xfrm>
        </p:grpSpPr>
        <p:sp>
          <p:nvSpPr>
            <p:cNvPr id="5" name="TextBox 4"/>
            <p:cNvSpPr txBox="1"/>
            <p:nvPr/>
          </p:nvSpPr>
          <p:spPr>
            <a:xfrm>
              <a:off x="2952750" y="1409700"/>
              <a:ext cx="2085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32-битный </a:t>
              </a:r>
              <a:r>
                <a:rPr lang="en-US" dirty="0"/>
                <a:t>IP </a:t>
              </a:r>
              <a:r>
                <a:rPr lang="ru-RU" dirty="0"/>
                <a:t>адрес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09875" y="2390775"/>
              <a:ext cx="2361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48</a:t>
              </a:r>
              <a:r>
                <a:rPr lang="ru-RU" dirty="0"/>
                <a:t>-битный </a:t>
              </a:r>
              <a:r>
                <a:rPr lang="en-US" dirty="0"/>
                <a:t>MAC </a:t>
              </a:r>
              <a:r>
                <a:rPr lang="ru-RU" dirty="0"/>
                <a:t>адрес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00325" y="1924050"/>
              <a:ext cx="561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ARP</a:t>
              </a:r>
              <a:endParaRPr lang="ru-RU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33950" y="1933575"/>
              <a:ext cx="686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RARP</a:t>
              </a:r>
              <a:endParaRPr lang="ru-RU" dirty="0"/>
            </a:p>
          </p:txBody>
        </p:sp>
        <p:cxnSp>
          <p:nvCxnSpPr>
            <p:cNvPr id="12" name="Прямая со стрелкой 11"/>
            <p:cNvCxnSpPr/>
            <p:nvPr/>
          </p:nvCxnSpPr>
          <p:spPr>
            <a:xfrm>
              <a:off x="3324225" y="1779032"/>
              <a:ext cx="0" cy="523875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/>
            <p:cNvCxnSpPr/>
            <p:nvPr/>
          </p:nvCxnSpPr>
          <p:spPr>
            <a:xfrm flipH="1" flipV="1">
              <a:off x="4756944" y="1779032"/>
              <a:ext cx="12701" cy="523875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3046413" y="3520303"/>
            <a:ext cx="5689600" cy="955675"/>
            <a:chOff x="725" y="2047"/>
            <a:chExt cx="3584" cy="602"/>
          </a:xfrm>
        </p:grpSpPr>
        <p:grpSp>
          <p:nvGrpSpPr>
            <p:cNvPr id="15" name="Group 3"/>
            <p:cNvGrpSpPr>
              <a:grpSpLocks/>
            </p:cNvGrpSpPr>
            <p:nvPr/>
          </p:nvGrpSpPr>
          <p:grpSpPr bwMode="auto">
            <a:xfrm>
              <a:off x="1135" y="2047"/>
              <a:ext cx="3093" cy="602"/>
              <a:chOff x="1135" y="2047"/>
              <a:chExt cx="3093" cy="602"/>
            </a:xfrm>
          </p:grpSpPr>
          <p:sp>
            <p:nvSpPr>
              <p:cNvPr id="22" name="Text Box 4"/>
              <p:cNvSpPr txBox="1">
                <a:spLocks noChangeArrowheads="1"/>
              </p:cNvSpPr>
              <p:nvPr/>
            </p:nvSpPr>
            <p:spPr bwMode="auto">
              <a:xfrm>
                <a:off x="1380" y="2314"/>
                <a:ext cx="307" cy="335"/>
              </a:xfrm>
              <a:prstGeom prst="rect">
                <a:avLst/>
              </a:prstGeom>
              <a:solidFill>
                <a:srgbClr val="FF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1pPr>
                <a:lvl2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2pPr>
                <a:lvl3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3pPr>
                <a:lvl4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4pPr>
                <a:lvl5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5pPr>
                <a:lvl6pPr marL="25146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6pPr>
                <a:lvl7pPr marL="29718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7pPr>
                <a:lvl8pPr marL="34290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8pPr>
                <a:lvl9pPr marL="38862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rPr>
                  <a:t>  A</a:t>
                </a:r>
              </a:p>
              <a:p>
                <a:pPr>
                  <a:buClrTx/>
                  <a:buFontTx/>
                  <a:buNone/>
                </a:pPr>
                <a:endParaRPr lang="ru-RU" altLang="ru-RU" sz="1200">
                  <a:solidFill>
                    <a:srgbClr val="000000"/>
                  </a:solidFill>
                  <a:latin typeface="Times New Roman" pitchFamily="16" charset="0"/>
                  <a:cs typeface="Times New Roman" pitchFamily="16" charset="0"/>
                </a:endParaRPr>
              </a:p>
            </p:txBody>
          </p:sp>
          <p:grpSp>
            <p:nvGrpSpPr>
              <p:cNvPr id="23" name="Group 5"/>
              <p:cNvGrpSpPr>
                <a:grpSpLocks/>
              </p:cNvGrpSpPr>
              <p:nvPr/>
            </p:nvGrpSpPr>
            <p:grpSpPr bwMode="auto">
              <a:xfrm>
                <a:off x="1135" y="2047"/>
                <a:ext cx="3093" cy="602"/>
                <a:chOff x="1135" y="2047"/>
                <a:chExt cx="3093" cy="602"/>
              </a:xfrm>
            </p:grpSpPr>
            <p:sp>
              <p:nvSpPr>
                <p:cNvPr id="24" name="Line 6"/>
                <p:cNvSpPr>
                  <a:spLocks noChangeShapeType="1"/>
                </p:cNvSpPr>
                <p:nvPr/>
              </p:nvSpPr>
              <p:spPr bwMode="auto">
                <a:xfrm>
                  <a:off x="1135" y="2047"/>
                  <a:ext cx="3093" cy="0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609" y="2314"/>
                  <a:ext cx="307" cy="33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1pPr>
                  <a:lvl2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2pPr>
                  <a:lvl3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3pPr>
                  <a:lvl4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4pPr>
                  <a:lvl5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9pPr>
                </a:lstStyle>
                <a:p>
                  <a:pPr>
                    <a:buClrTx/>
                    <a:buFontTx/>
                    <a:buNone/>
                  </a:pPr>
                  <a:r>
                    <a:rPr lang="ru-RU" altLang="ru-RU" sz="1200">
                      <a:solidFill>
                        <a:srgbClr val="000000"/>
                      </a:solidFill>
                      <a:latin typeface="Times New Roman" pitchFamily="16" charset="0"/>
                      <a:cs typeface="Times New Roman" pitchFamily="16" charset="0"/>
                    </a:rPr>
                    <a:t>  X</a:t>
                  </a:r>
                </a:p>
                <a:p>
                  <a:pPr>
                    <a:buClrTx/>
                    <a:buFontTx/>
                    <a:buNone/>
                  </a:pPr>
                  <a:endPara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endParaRPr>
                </a:p>
              </p:txBody>
            </p:sp>
            <p:sp>
              <p:nvSpPr>
                <p:cNvPr id="2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182" y="2314"/>
                  <a:ext cx="307" cy="33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1pPr>
                  <a:lvl2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2pPr>
                  <a:lvl3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3pPr>
                  <a:lvl4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4pPr>
                  <a:lvl5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9pPr>
                </a:lstStyle>
                <a:p>
                  <a:pPr>
                    <a:buClrTx/>
                    <a:buFontTx/>
                    <a:buNone/>
                  </a:pPr>
                  <a:r>
                    <a:rPr lang="ru-RU" altLang="ru-RU" sz="1200">
                      <a:solidFill>
                        <a:srgbClr val="000000"/>
                      </a:solidFill>
                      <a:latin typeface="Times New Roman" pitchFamily="16" charset="0"/>
                      <a:cs typeface="Times New Roman" pitchFamily="16" charset="0"/>
                    </a:rPr>
                    <a:t>  B</a:t>
                  </a:r>
                </a:p>
                <a:p>
                  <a:pPr>
                    <a:buClrTx/>
                    <a:buFontTx/>
                    <a:buNone/>
                  </a:pPr>
                  <a:endPara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endParaRPr>
                </a:p>
              </p:txBody>
            </p:sp>
            <p:sp>
              <p:nvSpPr>
                <p:cNvPr id="2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756" y="2314"/>
                  <a:ext cx="307" cy="33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1pPr>
                  <a:lvl2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2pPr>
                  <a:lvl3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3pPr>
                  <a:lvl4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4pPr>
                  <a:lvl5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9pPr>
                </a:lstStyle>
                <a:p>
                  <a:pPr>
                    <a:buClrTx/>
                    <a:buFontTx/>
                    <a:buNone/>
                  </a:pPr>
                  <a:r>
                    <a:rPr lang="ru-RU" altLang="ru-RU" sz="1200">
                      <a:solidFill>
                        <a:srgbClr val="000000"/>
                      </a:solidFill>
                      <a:latin typeface="Times New Roman" pitchFamily="16" charset="0"/>
                      <a:cs typeface="Times New Roman" pitchFamily="16" charset="0"/>
                    </a:rPr>
                    <a:t>  Y</a:t>
                  </a:r>
                </a:p>
                <a:p>
                  <a:pPr>
                    <a:buClrTx/>
                    <a:buFontTx/>
                    <a:buNone/>
                  </a:pPr>
                  <a:endPara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endParaRPr>
                </a:p>
              </p:txBody>
            </p:sp>
            <p:sp>
              <p:nvSpPr>
                <p:cNvPr id="28" name="Line 10"/>
                <p:cNvSpPr>
                  <a:spLocks noChangeShapeType="1"/>
                </p:cNvSpPr>
                <p:nvPr/>
              </p:nvSpPr>
              <p:spPr bwMode="auto">
                <a:xfrm>
                  <a:off x="1544" y="2047"/>
                  <a:ext cx="0" cy="246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9" name="Line 11"/>
                <p:cNvSpPr>
                  <a:spLocks noChangeShapeType="1"/>
                </p:cNvSpPr>
                <p:nvPr/>
              </p:nvSpPr>
              <p:spPr bwMode="auto">
                <a:xfrm>
                  <a:off x="2773" y="2047"/>
                  <a:ext cx="0" cy="246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" name="Line 12"/>
                <p:cNvSpPr>
                  <a:spLocks noChangeShapeType="1"/>
                </p:cNvSpPr>
                <p:nvPr/>
              </p:nvSpPr>
              <p:spPr bwMode="auto">
                <a:xfrm>
                  <a:off x="3346" y="2047"/>
                  <a:ext cx="0" cy="246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" name="Line 13"/>
                <p:cNvSpPr>
                  <a:spLocks noChangeShapeType="1"/>
                </p:cNvSpPr>
                <p:nvPr/>
              </p:nvSpPr>
              <p:spPr bwMode="auto">
                <a:xfrm>
                  <a:off x="3920" y="2047"/>
                  <a:ext cx="0" cy="246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725" y="2136"/>
              <a:ext cx="3584" cy="0"/>
            </a:xfrm>
            <a:prstGeom prst="line">
              <a:avLst/>
            </a:prstGeom>
            <a:noFill/>
            <a:ln w="28440" cap="sq">
              <a:solidFill>
                <a:srgbClr val="0000FF"/>
              </a:solidFill>
              <a:prstDash val="dash"/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2609" y="2136"/>
              <a:ext cx="62" cy="158"/>
            </a:xfrm>
            <a:prstGeom prst="line">
              <a:avLst/>
            </a:prstGeom>
            <a:noFill/>
            <a:ln w="28440" cap="sq">
              <a:solidFill>
                <a:srgbClr val="0000FF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3182" y="2136"/>
              <a:ext cx="62" cy="158"/>
            </a:xfrm>
            <a:prstGeom prst="line">
              <a:avLst/>
            </a:prstGeom>
            <a:noFill/>
            <a:ln w="28440" cap="sq">
              <a:solidFill>
                <a:srgbClr val="0000FF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756" y="2136"/>
              <a:ext cx="62" cy="158"/>
            </a:xfrm>
            <a:prstGeom prst="line">
              <a:avLst/>
            </a:prstGeom>
            <a:noFill/>
            <a:ln w="28440" cap="sq">
              <a:solidFill>
                <a:srgbClr val="0000FF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V="1">
              <a:off x="1462" y="2116"/>
              <a:ext cx="0" cy="198"/>
            </a:xfrm>
            <a:prstGeom prst="line">
              <a:avLst/>
            </a:prstGeom>
            <a:noFill/>
            <a:ln w="28440" cap="sq">
              <a:solidFill>
                <a:srgbClr val="0000FF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950" y="2136"/>
              <a:ext cx="184" cy="158"/>
            </a:xfrm>
            <a:prstGeom prst="line">
              <a:avLst/>
            </a:prstGeom>
            <a:noFill/>
            <a:ln w="28440" cap="sq">
              <a:solidFill>
                <a:srgbClr val="0000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2" name="Group 20"/>
          <p:cNvGrpSpPr>
            <a:grpSpLocks/>
          </p:cNvGrpSpPr>
          <p:nvPr/>
        </p:nvGrpSpPr>
        <p:grpSpPr bwMode="auto">
          <a:xfrm>
            <a:off x="3538538" y="5098577"/>
            <a:ext cx="5232400" cy="908050"/>
            <a:chOff x="1179" y="3181"/>
            <a:chExt cx="3296" cy="572"/>
          </a:xfrm>
        </p:grpSpPr>
        <p:grpSp>
          <p:nvGrpSpPr>
            <p:cNvPr id="33" name="Group 21"/>
            <p:cNvGrpSpPr>
              <a:grpSpLocks/>
            </p:cNvGrpSpPr>
            <p:nvPr/>
          </p:nvGrpSpPr>
          <p:grpSpPr bwMode="auto">
            <a:xfrm>
              <a:off x="1179" y="3181"/>
              <a:ext cx="3296" cy="572"/>
              <a:chOff x="1179" y="3181"/>
              <a:chExt cx="3296" cy="572"/>
            </a:xfrm>
          </p:grpSpPr>
          <p:sp>
            <p:nvSpPr>
              <p:cNvPr id="37" name="Text Box 22"/>
              <p:cNvSpPr txBox="1">
                <a:spLocks noChangeArrowheads="1"/>
              </p:cNvSpPr>
              <p:nvPr/>
            </p:nvSpPr>
            <p:spPr bwMode="auto">
              <a:xfrm>
                <a:off x="1441" y="3435"/>
                <a:ext cx="329" cy="318"/>
              </a:xfrm>
              <a:prstGeom prst="rect">
                <a:avLst/>
              </a:prstGeom>
              <a:solidFill>
                <a:srgbClr val="FF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1pPr>
                <a:lvl2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2pPr>
                <a:lvl3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3pPr>
                <a:lvl4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4pPr>
                <a:lvl5pPr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5pPr>
                <a:lvl6pPr marL="25146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6pPr>
                <a:lvl7pPr marL="29718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7pPr>
                <a:lvl8pPr marL="34290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8pPr>
                <a:lvl9pPr marL="38862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1800" algn="l"/>
                    <a:tab pos="881063" algn="l"/>
                    <a:tab pos="1330325" algn="l"/>
                    <a:tab pos="1779588" algn="l"/>
                    <a:tab pos="2228850" algn="l"/>
                    <a:tab pos="2678113" algn="l"/>
                    <a:tab pos="3127375" algn="l"/>
                    <a:tab pos="3576638" algn="l"/>
                    <a:tab pos="4025900" algn="l"/>
                    <a:tab pos="4475163" algn="l"/>
                    <a:tab pos="4924425" algn="l"/>
                    <a:tab pos="5373688" algn="l"/>
                    <a:tab pos="5822950" algn="l"/>
                    <a:tab pos="6272213" algn="l"/>
                    <a:tab pos="6721475" algn="l"/>
                    <a:tab pos="7170738" algn="l"/>
                    <a:tab pos="7620000" algn="l"/>
                    <a:tab pos="8069263" algn="l"/>
                    <a:tab pos="8518525" algn="l"/>
                    <a:tab pos="8967788" algn="l"/>
                    <a:tab pos="8969375" algn="l"/>
                    <a:tab pos="9418638" algn="l"/>
                    <a:tab pos="9867900" algn="l"/>
                    <a:tab pos="10317163" algn="l"/>
                    <a:tab pos="10766425" algn="l"/>
                    <a:tab pos="10768013" algn="l"/>
                    <a:tab pos="10769600" algn="l"/>
                    <a:tab pos="10771188" algn="l"/>
                    <a:tab pos="10772775" algn="l"/>
                    <a:tab pos="10774363" algn="l"/>
                    <a:tab pos="10775950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pitchFamily="32" charset="-122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rPr>
                  <a:t>  A</a:t>
                </a:r>
              </a:p>
              <a:p>
                <a:pPr>
                  <a:buClrTx/>
                  <a:buFontTx/>
                  <a:buNone/>
                </a:pPr>
                <a:endParaRPr lang="ru-RU" altLang="ru-RU" sz="1200">
                  <a:solidFill>
                    <a:srgbClr val="000000"/>
                  </a:solidFill>
                  <a:latin typeface="Times New Roman" pitchFamily="16" charset="0"/>
                  <a:cs typeface="Times New Roman" pitchFamily="16" charset="0"/>
                </a:endParaRPr>
              </a:p>
            </p:txBody>
          </p:sp>
          <p:grpSp>
            <p:nvGrpSpPr>
              <p:cNvPr id="38" name="Group 23"/>
              <p:cNvGrpSpPr>
                <a:grpSpLocks/>
              </p:cNvGrpSpPr>
              <p:nvPr/>
            </p:nvGrpSpPr>
            <p:grpSpPr bwMode="auto">
              <a:xfrm>
                <a:off x="1179" y="3181"/>
                <a:ext cx="3296" cy="572"/>
                <a:chOff x="1179" y="3181"/>
                <a:chExt cx="3296" cy="572"/>
              </a:xfrm>
            </p:grpSpPr>
            <p:sp>
              <p:nvSpPr>
                <p:cNvPr id="39" name="Line 24"/>
                <p:cNvSpPr>
                  <a:spLocks noChangeShapeType="1"/>
                </p:cNvSpPr>
                <p:nvPr/>
              </p:nvSpPr>
              <p:spPr bwMode="auto">
                <a:xfrm>
                  <a:off x="1179" y="3181"/>
                  <a:ext cx="3296" cy="0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750" y="3435"/>
                  <a:ext cx="329" cy="318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1pPr>
                  <a:lvl2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2pPr>
                  <a:lvl3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3pPr>
                  <a:lvl4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4pPr>
                  <a:lvl5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9pPr>
                </a:lstStyle>
                <a:p>
                  <a:pPr>
                    <a:buClrTx/>
                    <a:buFontTx/>
                    <a:buNone/>
                  </a:pPr>
                  <a:r>
                    <a:rPr lang="ru-RU" altLang="ru-RU" sz="1200">
                      <a:solidFill>
                        <a:srgbClr val="000000"/>
                      </a:solidFill>
                      <a:latin typeface="Times New Roman" pitchFamily="16" charset="0"/>
                      <a:cs typeface="Times New Roman" pitchFamily="16" charset="0"/>
                    </a:rPr>
                    <a:t>  X</a:t>
                  </a:r>
                </a:p>
                <a:p>
                  <a:pPr>
                    <a:buClrTx/>
                    <a:buFontTx/>
                    <a:buNone/>
                  </a:pPr>
                  <a:endPara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endParaRPr>
                </a:p>
              </p:txBody>
            </p:sp>
            <p:sp>
              <p:nvSpPr>
                <p:cNvPr id="4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361" y="3435"/>
                  <a:ext cx="329" cy="318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1pPr>
                  <a:lvl2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2pPr>
                  <a:lvl3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3pPr>
                  <a:lvl4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4pPr>
                  <a:lvl5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9pPr>
                </a:lstStyle>
                <a:p>
                  <a:pPr>
                    <a:buClrTx/>
                    <a:buFontTx/>
                    <a:buNone/>
                  </a:pPr>
                  <a:r>
                    <a:rPr lang="ru-RU" altLang="ru-RU" sz="1200">
                      <a:solidFill>
                        <a:srgbClr val="000000"/>
                      </a:solidFill>
                      <a:latin typeface="Times New Roman" pitchFamily="16" charset="0"/>
                      <a:cs typeface="Times New Roman" pitchFamily="16" charset="0"/>
                    </a:rPr>
                    <a:t>  B</a:t>
                  </a:r>
                </a:p>
                <a:p>
                  <a:pPr>
                    <a:buClrTx/>
                    <a:buFontTx/>
                    <a:buNone/>
                  </a:pPr>
                  <a:endPara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endParaRPr>
                </a:p>
              </p:txBody>
            </p:sp>
            <p:sp>
              <p:nvSpPr>
                <p:cNvPr id="4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971" y="3435"/>
                  <a:ext cx="329" cy="318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1pPr>
                  <a:lvl2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2pPr>
                  <a:lvl3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3pPr>
                  <a:lvl4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4pPr>
                  <a:lvl5pPr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1800" algn="l"/>
                      <a:tab pos="881063" algn="l"/>
                      <a:tab pos="1330325" algn="l"/>
                      <a:tab pos="1779588" algn="l"/>
                      <a:tab pos="2228850" algn="l"/>
                      <a:tab pos="2678113" algn="l"/>
                      <a:tab pos="3127375" algn="l"/>
                      <a:tab pos="3576638" algn="l"/>
                      <a:tab pos="4025900" algn="l"/>
                      <a:tab pos="4475163" algn="l"/>
                      <a:tab pos="4924425" algn="l"/>
                      <a:tab pos="5373688" algn="l"/>
                      <a:tab pos="5822950" algn="l"/>
                      <a:tab pos="6272213" algn="l"/>
                      <a:tab pos="6721475" algn="l"/>
                      <a:tab pos="7170738" algn="l"/>
                      <a:tab pos="7620000" algn="l"/>
                      <a:tab pos="8069263" algn="l"/>
                      <a:tab pos="8518525" algn="l"/>
                      <a:tab pos="8967788" algn="l"/>
                      <a:tab pos="8969375" algn="l"/>
                      <a:tab pos="9418638" algn="l"/>
                      <a:tab pos="9867900" algn="l"/>
                      <a:tab pos="10317163" algn="l"/>
                      <a:tab pos="10766425" algn="l"/>
                      <a:tab pos="10768013" algn="l"/>
                      <a:tab pos="10769600" algn="l"/>
                      <a:tab pos="10771188" algn="l"/>
                      <a:tab pos="10772775" algn="l"/>
                      <a:tab pos="10774363" algn="l"/>
                      <a:tab pos="10775950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pitchFamily="32" charset="-122"/>
                    </a:defRPr>
                  </a:lvl9pPr>
                </a:lstStyle>
                <a:p>
                  <a:pPr>
                    <a:buClrTx/>
                    <a:buFontTx/>
                    <a:buNone/>
                  </a:pPr>
                  <a:r>
                    <a:rPr lang="ru-RU" altLang="ru-RU" sz="1200">
                      <a:solidFill>
                        <a:srgbClr val="000000"/>
                      </a:solidFill>
                      <a:latin typeface="Times New Roman" pitchFamily="16" charset="0"/>
                      <a:cs typeface="Times New Roman" pitchFamily="16" charset="0"/>
                    </a:rPr>
                    <a:t>  Y</a:t>
                  </a:r>
                </a:p>
                <a:p>
                  <a:pPr>
                    <a:buClrTx/>
                    <a:buFontTx/>
                    <a:buNone/>
                  </a:pPr>
                  <a:endParaRPr lang="ru-RU" altLang="ru-RU" sz="1200">
                    <a:solidFill>
                      <a:srgbClr val="000000"/>
                    </a:solidFill>
                    <a:latin typeface="Times New Roman" pitchFamily="16" charset="0"/>
                    <a:cs typeface="Times New Roman" pitchFamily="16" charset="0"/>
                  </a:endParaRPr>
                </a:p>
              </p:txBody>
            </p:sp>
            <p:sp>
              <p:nvSpPr>
                <p:cNvPr id="43" name="Line 28"/>
                <p:cNvSpPr>
                  <a:spLocks noChangeShapeType="1"/>
                </p:cNvSpPr>
                <p:nvPr/>
              </p:nvSpPr>
              <p:spPr bwMode="auto">
                <a:xfrm>
                  <a:off x="1615" y="3181"/>
                  <a:ext cx="0" cy="234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4" name="Line 29"/>
                <p:cNvSpPr>
                  <a:spLocks noChangeShapeType="1"/>
                </p:cNvSpPr>
                <p:nvPr/>
              </p:nvSpPr>
              <p:spPr bwMode="auto">
                <a:xfrm>
                  <a:off x="2924" y="3181"/>
                  <a:ext cx="0" cy="234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5" name="Line 30"/>
                <p:cNvSpPr>
                  <a:spLocks noChangeShapeType="1"/>
                </p:cNvSpPr>
                <p:nvPr/>
              </p:nvSpPr>
              <p:spPr bwMode="auto">
                <a:xfrm>
                  <a:off x="3535" y="3181"/>
                  <a:ext cx="0" cy="234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6" name="Line 31"/>
                <p:cNvSpPr>
                  <a:spLocks noChangeShapeType="1"/>
                </p:cNvSpPr>
                <p:nvPr/>
              </p:nvSpPr>
              <p:spPr bwMode="auto">
                <a:xfrm>
                  <a:off x="4146" y="3181"/>
                  <a:ext cx="0" cy="234"/>
                </a:xfrm>
                <a:prstGeom prst="line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1703" y="3266"/>
              <a:ext cx="1638" cy="0"/>
            </a:xfrm>
            <a:prstGeom prst="line">
              <a:avLst/>
            </a:prstGeom>
            <a:noFill/>
            <a:ln w="38160" cap="sq">
              <a:solidFill>
                <a:srgbClr val="0000FF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H="1">
              <a:off x="1595" y="3266"/>
              <a:ext cx="107" cy="149"/>
            </a:xfrm>
            <a:prstGeom prst="line">
              <a:avLst/>
            </a:prstGeom>
            <a:noFill/>
            <a:ln w="38160" cap="sq">
              <a:solidFill>
                <a:srgbClr val="0000FF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3361" y="3266"/>
              <a:ext cx="67" cy="149"/>
            </a:xfrm>
            <a:prstGeom prst="line">
              <a:avLst/>
            </a:prstGeom>
            <a:noFill/>
            <a:ln w="38160" cap="sq">
              <a:solidFill>
                <a:srgbClr val="0000FF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47" name="Rectangle 35"/>
          <p:cNvSpPr>
            <a:spLocks noChangeArrowheads="1"/>
          </p:cNvSpPr>
          <p:nvPr/>
        </p:nvSpPr>
        <p:spPr bwMode="auto">
          <a:xfrm>
            <a:off x="2459039" y="3637543"/>
            <a:ext cx="7381875" cy="2987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1800" algn="l"/>
                <a:tab pos="881063" algn="l"/>
                <a:tab pos="1330325" algn="l"/>
                <a:tab pos="1779588" algn="l"/>
                <a:tab pos="2228850" algn="l"/>
                <a:tab pos="2678113" algn="l"/>
                <a:tab pos="3127375" algn="l"/>
                <a:tab pos="3576638" algn="l"/>
                <a:tab pos="4025900" algn="l"/>
                <a:tab pos="4475163" algn="l"/>
                <a:tab pos="4924425" algn="l"/>
                <a:tab pos="5373688" algn="l"/>
                <a:tab pos="5822950" algn="l"/>
                <a:tab pos="6272213" algn="l"/>
                <a:tab pos="6721475" algn="l"/>
                <a:tab pos="7170738" algn="l"/>
                <a:tab pos="7620000" algn="l"/>
                <a:tab pos="8069263" algn="l"/>
                <a:tab pos="8518525" algn="l"/>
                <a:tab pos="8967788" algn="l"/>
                <a:tab pos="8969375" algn="l"/>
                <a:tab pos="9418638" algn="l"/>
                <a:tab pos="9867900" algn="l"/>
                <a:tab pos="10317163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 algn="ctr">
              <a:buClrTx/>
              <a:buFontTx/>
              <a:buNone/>
            </a:pPr>
            <a:endParaRPr lang="ru-RU" altLang="ru-RU" sz="1200" u="sng" dirty="0">
              <a:solidFill>
                <a:srgbClr val="000000"/>
              </a:solidFill>
              <a:latin typeface="Times New Roman" pitchFamily="16" charset="0"/>
              <a:cs typeface="Times New Roman" pitchFamily="16" charset="0"/>
            </a:endParaRPr>
          </a:p>
          <a:p>
            <a:pPr algn="ctr">
              <a:buClrTx/>
              <a:buFontTx/>
              <a:buNone/>
            </a:pPr>
            <a:r>
              <a:rPr lang="ru-RU" altLang="ru-RU" sz="12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  </a:t>
            </a:r>
          </a:p>
          <a:p>
            <a:pPr algn="ctr">
              <a:buClrTx/>
              <a:buFontTx/>
              <a:buNone/>
            </a:pPr>
            <a:r>
              <a:rPr lang="ru-RU" altLang="ru-RU" sz="12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 </a:t>
            </a:r>
          </a:p>
          <a:p>
            <a:pPr algn="ctr">
              <a:buClrTx/>
              <a:buFontTx/>
              <a:buNone/>
            </a:pPr>
            <a:r>
              <a:rPr lang="ru-RU" altLang="ru-RU" sz="1100" dirty="0">
                <a:solidFill>
                  <a:srgbClr val="000000"/>
                </a:solidFill>
                <a:latin typeface="Times New Roman" pitchFamily="16" charset="0"/>
              </a:rPr>
              <a:t/>
            </a:r>
            <a:br>
              <a:rPr lang="ru-RU" altLang="ru-RU" sz="1100" dirty="0">
                <a:solidFill>
                  <a:srgbClr val="000000"/>
                </a:solidFill>
                <a:latin typeface="Times New Roman" pitchFamily="16" charset="0"/>
              </a:rPr>
            </a:br>
            <a:endParaRPr lang="ru-RU" altLang="ru-RU" sz="1100" dirty="0">
              <a:solidFill>
                <a:srgbClr val="000000"/>
              </a:solidFill>
              <a:latin typeface="Times New Roman" pitchFamily="16" charset="0"/>
            </a:endParaRPr>
          </a:p>
          <a:p>
            <a:pPr algn="ctr">
              <a:buClrTx/>
              <a:buFontTx/>
              <a:buNone/>
            </a:pPr>
            <a:r>
              <a:rPr lang="ru-RU" altLang="ru-RU" sz="16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ARP- запрос  - широковещательная посылка (IP-</a:t>
            </a:r>
            <a:r>
              <a:rPr lang="ru-RU" altLang="ru-RU" sz="1600" dirty="0" err="1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addr</a:t>
            </a:r>
            <a:r>
              <a:rPr lang="ru-RU" altLang="ru-RU" sz="16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, MAC-</a:t>
            </a:r>
            <a:r>
              <a:rPr lang="ru-RU" altLang="ru-RU" sz="1600" dirty="0" err="1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address</a:t>
            </a:r>
            <a:r>
              <a:rPr lang="ru-RU" altLang="ru-RU" sz="16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=?)</a:t>
            </a:r>
          </a:p>
          <a:p>
            <a:pPr algn="ctr">
              <a:buClrTx/>
              <a:buFontTx/>
              <a:buNone/>
            </a:pPr>
            <a:r>
              <a:rPr lang="ru-RU" altLang="ru-RU" sz="12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 </a:t>
            </a:r>
          </a:p>
          <a:p>
            <a:pPr algn="ctr">
              <a:buClrTx/>
              <a:buFontTx/>
              <a:buNone/>
            </a:pPr>
            <a:r>
              <a:rPr lang="ru-RU" altLang="ru-RU" sz="12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 </a:t>
            </a:r>
          </a:p>
          <a:p>
            <a:pPr algn="ctr">
              <a:buClrTx/>
              <a:buFontTx/>
              <a:buNone/>
            </a:pPr>
            <a:r>
              <a:rPr lang="ru-RU" altLang="ru-RU" sz="1100" dirty="0">
                <a:solidFill>
                  <a:srgbClr val="000000"/>
                </a:solidFill>
                <a:latin typeface="Times New Roman" pitchFamily="16" charset="0"/>
              </a:rPr>
              <a:t/>
            </a:r>
            <a:br>
              <a:rPr lang="ru-RU" altLang="ru-RU" sz="1100" dirty="0">
                <a:solidFill>
                  <a:srgbClr val="000000"/>
                </a:solidFill>
                <a:latin typeface="Times New Roman" pitchFamily="16" charset="0"/>
              </a:rPr>
            </a:br>
            <a:endParaRPr lang="ru-RU" altLang="ru-RU" sz="1100" dirty="0">
              <a:solidFill>
                <a:srgbClr val="000000"/>
              </a:solidFill>
              <a:latin typeface="Times New Roman" pitchFamily="16" charset="0"/>
            </a:endParaRPr>
          </a:p>
          <a:p>
            <a:pPr algn="ctr">
              <a:buClrTx/>
              <a:buFontTx/>
              <a:buNone/>
            </a:pPr>
            <a:endParaRPr lang="ru-RU" altLang="ru-RU" sz="1200" u="sng" dirty="0">
              <a:solidFill>
                <a:srgbClr val="000000"/>
              </a:solidFill>
              <a:latin typeface="Times New Roman" pitchFamily="16" charset="0"/>
              <a:cs typeface="Times New Roman" pitchFamily="16" charset="0"/>
            </a:endParaRPr>
          </a:p>
          <a:p>
            <a:pPr algn="ctr">
              <a:buClrTx/>
              <a:buFontTx/>
              <a:buNone/>
            </a:pPr>
            <a:endParaRPr lang="ru-RU" altLang="ru-RU" sz="1200" dirty="0">
              <a:solidFill>
                <a:srgbClr val="000000"/>
              </a:solidFill>
              <a:latin typeface="Times New Roman" pitchFamily="16" charset="0"/>
              <a:cs typeface="Times New Roman" pitchFamily="16" charset="0"/>
            </a:endParaRPr>
          </a:p>
          <a:p>
            <a:pPr algn="ctr">
              <a:buClrTx/>
              <a:buFontTx/>
              <a:buNone/>
            </a:pPr>
            <a:endParaRPr lang="ru-RU" altLang="ru-RU" sz="1200" dirty="0">
              <a:solidFill>
                <a:srgbClr val="000000"/>
              </a:solidFill>
              <a:latin typeface="Times New Roman" pitchFamily="16" charset="0"/>
              <a:cs typeface="Times New Roman" pitchFamily="16" charset="0"/>
            </a:endParaRPr>
          </a:p>
          <a:p>
            <a:pPr algn="ctr">
              <a:buClrTx/>
              <a:buFontTx/>
              <a:buNone/>
            </a:pPr>
            <a:r>
              <a:rPr lang="ru-RU" altLang="ru-RU" sz="16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ARP-ответ  (IP-</a:t>
            </a:r>
            <a:r>
              <a:rPr lang="ru-RU" altLang="ru-RU" sz="1600" dirty="0" err="1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addr</a:t>
            </a:r>
            <a:r>
              <a:rPr lang="ru-RU" altLang="ru-RU" sz="16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, MAC-</a:t>
            </a:r>
            <a:r>
              <a:rPr lang="ru-RU" altLang="ru-RU" sz="1600" dirty="0" err="1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addr</a:t>
            </a:r>
            <a:r>
              <a:rPr lang="ru-RU" altLang="ru-RU" sz="1600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)</a:t>
            </a:r>
          </a:p>
          <a:p>
            <a:pPr>
              <a:buClrTx/>
              <a:buFontTx/>
              <a:buNone/>
            </a:pPr>
            <a:endParaRPr lang="ru-RU" altLang="ru-RU" sz="1600" dirty="0">
              <a:solidFill>
                <a:srgbClr val="000000"/>
              </a:solidFill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1966652" y="1107848"/>
            <a:ext cx="42569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ARP - Address Resolution Protocol, RFC-826</a:t>
            </a:r>
          </a:p>
          <a:p>
            <a:r>
              <a:rPr lang="en-US" dirty="0"/>
              <a:t>RARP – Reserve ARP, </a:t>
            </a:r>
            <a:r>
              <a:rPr lang="en-US" dirty="0" smtClean="0"/>
              <a:t>RFC-903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5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Формат пакета </a:t>
            </a:r>
            <a:r>
              <a:rPr lang="en-US" dirty="0" smtClean="0"/>
              <a:t>ARP/RARP/</a:t>
            </a:r>
            <a:r>
              <a:rPr lang="en-US" dirty="0" err="1" smtClean="0"/>
              <a:t>InARP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26" y="1089260"/>
            <a:ext cx="8289925" cy="4871569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836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ARP-</a:t>
            </a:r>
            <a:r>
              <a:rPr lang="ru-RU" dirty="0" smtClean="0"/>
              <a:t>таблица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Команда </a:t>
            </a:r>
            <a:r>
              <a:rPr lang="en-US" dirty="0" err="1" smtClean="0"/>
              <a:t>arp</a:t>
            </a:r>
            <a:r>
              <a:rPr lang="en-US" dirty="0" smtClean="0"/>
              <a:t> -a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34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729" y="2773107"/>
            <a:ext cx="7838983" cy="22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9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Сетевые интерфейсы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ipconfig -all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456" y="1741103"/>
            <a:ext cx="7954392" cy="509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7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Принципы </a:t>
            </a:r>
            <a:r>
              <a:rPr lang="ru-RU" dirty="0" smtClean="0"/>
              <a:t>маршрутизации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3140" y="1477904"/>
            <a:ext cx="8064702" cy="41996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Выбор маршрута осуществляется  конечными узлами и маршрутизаторами на основании таблиц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Основные поля таблицы маршрутизации:</a:t>
            </a:r>
          </a:p>
          <a:p>
            <a:r>
              <a:rPr lang="ru-RU" dirty="0"/>
              <a:t>Номер сети назначения</a:t>
            </a:r>
          </a:p>
          <a:p>
            <a:r>
              <a:rPr lang="ru-RU" dirty="0"/>
              <a:t>Адрес </a:t>
            </a:r>
            <a:r>
              <a:rPr lang="ru-RU" dirty="0" smtClean="0"/>
              <a:t>следующего</a:t>
            </a:r>
            <a:r>
              <a:rPr lang="en-US" dirty="0" smtClean="0"/>
              <a:t>                                                              </a:t>
            </a:r>
            <a:r>
              <a:rPr lang="ru-RU" dirty="0" smtClean="0"/>
              <a:t>  </a:t>
            </a:r>
            <a:r>
              <a:rPr lang="ru-RU" dirty="0"/>
              <a:t>маршрутизатора</a:t>
            </a:r>
          </a:p>
          <a:p>
            <a:r>
              <a:rPr lang="ru-RU" dirty="0"/>
              <a:t>Адрес выходного порта</a:t>
            </a:r>
          </a:p>
          <a:p>
            <a:r>
              <a:rPr lang="ru-RU" dirty="0"/>
              <a:t>Метрика </a:t>
            </a:r>
          </a:p>
          <a:p>
            <a:endParaRPr lang="ru-RU" dirty="0"/>
          </a:p>
          <a:p>
            <a:r>
              <a:rPr lang="ru-RU" dirty="0"/>
              <a:t>Специальная запись </a:t>
            </a:r>
            <a:r>
              <a:rPr lang="ru-RU" dirty="0" smtClean="0"/>
              <a:t>– маршрут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по </a:t>
            </a:r>
            <a:r>
              <a:rPr lang="ru-RU" dirty="0"/>
              <a:t>умолчанию (</a:t>
            </a:r>
            <a:r>
              <a:rPr lang="ru-RU" dirty="0" err="1"/>
              <a:t>default</a:t>
            </a:r>
            <a:r>
              <a:rPr lang="ru-RU" dirty="0"/>
              <a:t>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36</a:t>
            </a:fld>
            <a:endParaRPr lang="ru-RU" dirty="0"/>
          </a:p>
        </p:txBody>
      </p:sp>
      <p:pic>
        <p:nvPicPr>
          <p:cNvPr id="5" name="Объект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54" y="1693010"/>
            <a:ext cx="4866646" cy="4969201"/>
          </a:xfrm>
          <a:prstGeom prst="rect">
            <a:avLst/>
          </a:prstGeom>
          <a:effectLst>
            <a:outerShdw blurRad="50800" dist="50800" dir="5400000" algn="ctr" rotWithShape="0">
              <a:srgbClr val="EBEBEB"/>
            </a:outerShdw>
          </a:effectLst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4203398" y="5739484"/>
            <a:ext cx="2597669" cy="810095"/>
          </a:xfrm>
          <a:prstGeom prst="rect">
            <a:avLst/>
          </a:prstGeom>
          <a:noFill/>
          <a:ln w="9525" cap="flat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8978900" algn="l"/>
                <a:tab pos="9428163" algn="l"/>
                <a:tab pos="9877425" algn="l"/>
                <a:tab pos="10326688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400" b="1" dirty="0">
                <a:solidFill>
                  <a:srgbClr val="000000"/>
                </a:solidFill>
              </a:rPr>
              <a:t>Таблица маршрутизации</a:t>
            </a:r>
          </a:p>
          <a:p>
            <a:pPr>
              <a:buClrTx/>
              <a:buFontTx/>
              <a:buNone/>
            </a:pPr>
            <a:endParaRPr lang="ru-RU" altLang="ru-RU" sz="800" b="1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sz="1400" b="1" dirty="0">
                <a:solidFill>
                  <a:srgbClr val="000000"/>
                </a:solidFill>
              </a:rPr>
              <a:t>     S12		</a:t>
            </a:r>
            <a:r>
              <a:rPr lang="ru-RU" altLang="ru-RU" sz="1100" b="1" dirty="0">
                <a:solidFill>
                  <a:srgbClr val="000000"/>
                </a:solidFill>
              </a:rPr>
              <a:t>--</a:t>
            </a:r>
            <a:r>
              <a:rPr lang="ru-RU" altLang="ru-RU" sz="1100" b="1" dirty="0"/>
              <a:t>	</a:t>
            </a:r>
            <a:r>
              <a:rPr lang="ru-RU" altLang="ru-RU" sz="1100" b="1" dirty="0">
                <a:solidFill>
                  <a:srgbClr val="000000"/>
                </a:solidFill>
              </a:rPr>
              <a:t>A	0</a:t>
            </a:r>
          </a:p>
          <a:p>
            <a:pPr>
              <a:buClrTx/>
              <a:buFontTx/>
              <a:buNone/>
            </a:pPr>
            <a:r>
              <a:rPr lang="ru-RU" altLang="ru-RU" sz="1100" b="1" dirty="0" err="1">
                <a:solidFill>
                  <a:srgbClr val="000000"/>
                </a:solidFill>
              </a:rPr>
              <a:t>Default</a:t>
            </a:r>
            <a:r>
              <a:rPr lang="ru-RU" altLang="ru-RU" sz="1100" b="1" dirty="0">
                <a:solidFill>
                  <a:srgbClr val="000000"/>
                </a:solidFill>
              </a:rPr>
              <a:t>		M1</a:t>
            </a:r>
            <a:r>
              <a:rPr lang="en-US" altLang="ru-RU" sz="1100" b="1" dirty="0">
                <a:solidFill>
                  <a:srgbClr val="000000"/>
                </a:solidFill>
              </a:rPr>
              <a:t>7</a:t>
            </a:r>
            <a:r>
              <a:rPr lang="ru-RU" altLang="ru-RU" sz="1100" b="1" dirty="0">
                <a:solidFill>
                  <a:srgbClr val="000000"/>
                </a:solidFill>
              </a:rPr>
              <a:t>(</a:t>
            </a:r>
            <a:r>
              <a:rPr lang="en-US" altLang="ru-RU" sz="1100" b="1" dirty="0">
                <a:solidFill>
                  <a:srgbClr val="000000"/>
                </a:solidFill>
              </a:rPr>
              <a:t>2</a:t>
            </a:r>
            <a:r>
              <a:rPr lang="ru-RU" altLang="ru-RU" sz="1100" b="1" dirty="0">
                <a:solidFill>
                  <a:srgbClr val="000000"/>
                </a:solidFill>
              </a:rPr>
              <a:t>)	А	-</a:t>
            </a:r>
          </a:p>
        </p:txBody>
      </p:sp>
    </p:spTree>
    <p:extLst>
      <p:ext uri="{BB962C8B-B14F-4D97-AF65-F5344CB8AC3E}">
        <p14:creationId xmlns:p14="http://schemas.microsoft.com/office/powerpoint/2010/main" val="54885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</a:t>
            </a:r>
            <a:r>
              <a:rPr lang="en-US" dirty="0" smtClean="0"/>
              <a:t>IP-</a:t>
            </a:r>
            <a:r>
              <a:rPr lang="ru-RU" dirty="0"/>
              <a:t>маршрутизации </a:t>
            </a:r>
            <a:r>
              <a:rPr lang="ru-RU" dirty="0" smtClean="0"/>
              <a:t>без масок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7910921" y="1441726"/>
            <a:ext cx="3339536" cy="5104252"/>
          </a:xfrm>
        </p:spPr>
        <p:txBody>
          <a:bodyPr/>
          <a:lstStyle/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1. </a:t>
            </a:r>
            <a:r>
              <a:rPr lang="ru-RU" altLang="ru-RU" dirty="0" err="1">
                <a:solidFill>
                  <a:srgbClr val="000000"/>
                </a:solidFill>
              </a:rPr>
              <a:t>ftp</a:t>
            </a:r>
            <a:r>
              <a:rPr lang="ru-RU" altLang="ru-RU" dirty="0">
                <a:solidFill>
                  <a:srgbClr val="000000"/>
                </a:solidFill>
              </a:rPr>
              <a:t> unix.mgu.com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2. </a:t>
            </a:r>
            <a:r>
              <a:rPr lang="ru-RU" altLang="ru-RU" dirty="0" err="1">
                <a:solidFill>
                  <a:srgbClr val="000000"/>
                </a:solidFill>
              </a:rPr>
              <a:t>cit</a:t>
            </a:r>
            <a:r>
              <a:rPr lang="ru-RU" altLang="ru-RU" dirty="0">
                <a:solidFill>
                  <a:srgbClr val="000000"/>
                </a:solidFill>
              </a:rPr>
              <a:t> –&gt; </a:t>
            </a:r>
            <a:r>
              <a:rPr lang="ru-RU" altLang="ru-RU" dirty="0" err="1">
                <a:solidFill>
                  <a:srgbClr val="000000"/>
                </a:solidFill>
              </a:rPr>
              <a:t>dns</a:t>
            </a:r>
            <a:endParaRPr lang="ru-RU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3. </a:t>
            </a:r>
            <a:r>
              <a:rPr lang="ru-RU" altLang="ru-RU" dirty="0" err="1">
                <a:solidFill>
                  <a:srgbClr val="000000"/>
                </a:solidFill>
              </a:rPr>
              <a:t>arp</a:t>
            </a:r>
            <a:r>
              <a:rPr lang="ru-RU" altLang="ru-RU" dirty="0">
                <a:solidFill>
                  <a:srgbClr val="000000"/>
                </a:solidFill>
              </a:rPr>
              <a:t> (R1)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23" y="1171059"/>
            <a:ext cx="6467315" cy="56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2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Продвижение пакетов в составной сети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644" y="1211263"/>
            <a:ext cx="7913089" cy="510381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13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66456" y="97970"/>
            <a:ext cx="6750131" cy="577942"/>
          </a:xfrm>
        </p:spPr>
        <p:txBody>
          <a:bodyPr>
            <a:normAutofit fontScale="90000"/>
          </a:bodyPr>
          <a:lstStyle/>
          <a:p>
            <a:r>
              <a:rPr lang="ru-RU" dirty="0"/>
              <a:t>Маршрутизация с </a:t>
            </a:r>
            <a:r>
              <a:rPr lang="ru-RU" dirty="0" smtClean="0"/>
              <a:t>использованием </a:t>
            </a:r>
            <a:r>
              <a:rPr lang="ru-RU" dirty="0"/>
              <a:t>масок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None/>
            </a:pPr>
            <a:r>
              <a:rPr lang="ru-RU" altLang="ru-RU" b="1" dirty="0">
                <a:solidFill>
                  <a:srgbClr val="000000"/>
                </a:solidFill>
              </a:rPr>
              <a:t>Сеть класса   В               129.44.0.0 </a:t>
            </a:r>
          </a:p>
          <a:p>
            <a:pPr>
              <a:spcBef>
                <a:spcPts val="800"/>
              </a:spcBef>
              <a:buNone/>
            </a:pPr>
            <a:endParaRPr lang="ru-RU" altLang="ru-RU" sz="900" b="1" dirty="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None/>
            </a:pPr>
            <a:r>
              <a:rPr lang="ru-RU" altLang="ru-RU" b="1" dirty="0">
                <a:solidFill>
                  <a:srgbClr val="000000"/>
                </a:solidFill>
              </a:rPr>
              <a:t>Маска  255.255.192.0    (префикс  /18)</a:t>
            </a:r>
          </a:p>
          <a:p>
            <a:pPr>
              <a:spcBef>
                <a:spcPts val="800"/>
              </a:spcBef>
              <a:buNone/>
            </a:pPr>
            <a:r>
              <a:rPr lang="ru-RU" altLang="ru-RU" b="1" dirty="0">
                <a:solidFill>
                  <a:srgbClr val="000000"/>
                </a:solidFill>
              </a:rPr>
              <a:t>129.44.0.0/18	</a:t>
            </a:r>
            <a:r>
              <a:rPr lang="ru-RU" altLang="ru-RU" b="1" dirty="0" smtClean="0">
                <a:solidFill>
                  <a:srgbClr val="3333CC"/>
                </a:solidFill>
              </a:rPr>
              <a:t>10000001 </a:t>
            </a:r>
            <a:r>
              <a:rPr lang="ru-RU" altLang="ru-RU" b="1" dirty="0">
                <a:solidFill>
                  <a:srgbClr val="3333CC"/>
                </a:solidFill>
              </a:rPr>
              <a:t>00101100 00</a:t>
            </a:r>
            <a:r>
              <a:rPr lang="ru-RU" altLang="ru-RU" b="1" dirty="0">
                <a:solidFill>
                  <a:srgbClr val="000000"/>
                </a:solidFill>
              </a:rPr>
              <a:t>000000 00000000    </a:t>
            </a:r>
          </a:p>
          <a:p>
            <a:pPr>
              <a:spcBef>
                <a:spcPts val="800"/>
              </a:spcBef>
              <a:buNone/>
            </a:pPr>
            <a:r>
              <a:rPr lang="ru-RU" altLang="ru-RU" b="1" dirty="0">
                <a:solidFill>
                  <a:srgbClr val="000000"/>
                </a:solidFill>
              </a:rPr>
              <a:t>129.44.64.0/18	</a:t>
            </a:r>
            <a:r>
              <a:rPr lang="ru-RU" altLang="ru-RU" b="1" dirty="0">
                <a:solidFill>
                  <a:srgbClr val="3333CC"/>
                </a:solidFill>
              </a:rPr>
              <a:t>10000001 00101100 01</a:t>
            </a:r>
            <a:r>
              <a:rPr lang="ru-RU" altLang="ru-RU" b="1" dirty="0">
                <a:solidFill>
                  <a:srgbClr val="000000"/>
                </a:solidFill>
              </a:rPr>
              <a:t>000000 00000000 </a:t>
            </a:r>
          </a:p>
          <a:p>
            <a:pPr>
              <a:spcBef>
                <a:spcPts val="800"/>
              </a:spcBef>
              <a:buNone/>
            </a:pPr>
            <a:r>
              <a:rPr lang="ru-RU" altLang="ru-RU" b="1" dirty="0">
                <a:solidFill>
                  <a:srgbClr val="000000"/>
                </a:solidFill>
              </a:rPr>
              <a:t>129.44.128.0/18	</a:t>
            </a:r>
            <a:r>
              <a:rPr lang="ru-RU" altLang="ru-RU" b="1" dirty="0">
                <a:solidFill>
                  <a:srgbClr val="3333CC"/>
                </a:solidFill>
              </a:rPr>
              <a:t>10000001 00101100 10</a:t>
            </a:r>
            <a:r>
              <a:rPr lang="ru-RU" altLang="ru-RU" b="1" dirty="0">
                <a:solidFill>
                  <a:srgbClr val="000000"/>
                </a:solidFill>
              </a:rPr>
              <a:t>000000 00000000 </a:t>
            </a:r>
          </a:p>
          <a:p>
            <a:pPr>
              <a:spcBef>
                <a:spcPts val="800"/>
              </a:spcBef>
              <a:buNone/>
            </a:pPr>
            <a:r>
              <a:rPr lang="ru-RU" altLang="ru-RU" b="1" dirty="0">
                <a:solidFill>
                  <a:srgbClr val="000000"/>
                </a:solidFill>
              </a:rPr>
              <a:t>129.44.192.0/18	</a:t>
            </a:r>
            <a:r>
              <a:rPr lang="ru-RU" altLang="ru-RU" b="1" dirty="0">
                <a:solidFill>
                  <a:srgbClr val="3333CC"/>
                </a:solidFill>
              </a:rPr>
              <a:t>10000001 00101100 11</a:t>
            </a:r>
            <a:r>
              <a:rPr lang="ru-RU" altLang="ru-RU" b="1" dirty="0">
                <a:solidFill>
                  <a:srgbClr val="000000"/>
                </a:solidFill>
              </a:rPr>
              <a:t>000000 00000000 </a:t>
            </a:r>
          </a:p>
          <a:p>
            <a:pPr>
              <a:spcBef>
                <a:spcPts val="800"/>
              </a:spcBef>
              <a:buNone/>
            </a:pPr>
            <a:endParaRPr lang="en-US" altLang="ru-RU" sz="900" dirty="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None/>
            </a:pPr>
            <a:r>
              <a:rPr lang="ru-RU" altLang="ru-RU" dirty="0">
                <a:solidFill>
                  <a:srgbClr val="000000"/>
                </a:solidFill>
              </a:rPr>
              <a:t>Структуризация сети</a:t>
            </a:r>
          </a:p>
          <a:p>
            <a:pPr>
              <a:spcBef>
                <a:spcPts val="800"/>
              </a:spcBef>
              <a:buNone/>
            </a:pPr>
            <a:r>
              <a:rPr lang="ru-RU" altLang="ru-RU" dirty="0">
                <a:solidFill>
                  <a:srgbClr val="000000"/>
                </a:solidFill>
              </a:rPr>
              <a:t>Сокрытие структуры сети</a:t>
            </a:r>
          </a:p>
          <a:p>
            <a:pPr>
              <a:spcBef>
                <a:spcPts val="1800"/>
              </a:spcBef>
              <a:buNone/>
            </a:pPr>
            <a:r>
              <a:rPr lang="ru-RU" altLang="ru-RU" dirty="0">
                <a:solidFill>
                  <a:srgbClr val="000000"/>
                </a:solidFill>
              </a:rPr>
              <a:t>Технология бесклассовой маршрутизации </a:t>
            </a:r>
            <a:r>
              <a:rPr lang="ru-RU" altLang="ru-RU" b="1" dirty="0">
                <a:solidFill>
                  <a:srgbClr val="000000"/>
                </a:solidFill>
              </a:rPr>
              <a:t>- </a:t>
            </a:r>
            <a:r>
              <a:rPr lang="en-US" altLang="ru-RU" dirty="0">
                <a:solidFill>
                  <a:srgbClr val="000000"/>
                </a:solidFill>
              </a:rPr>
              <a:t>CIDR</a:t>
            </a:r>
            <a:r>
              <a:rPr lang="en-US" altLang="ru-RU" b="1" dirty="0">
                <a:solidFill>
                  <a:srgbClr val="000000"/>
                </a:solidFill>
              </a:rPr>
              <a:t> </a:t>
            </a:r>
            <a:r>
              <a:rPr lang="en-US" altLang="ru-RU" dirty="0">
                <a:solidFill>
                  <a:srgbClr val="000000"/>
                </a:solidFill>
              </a:rPr>
              <a:t>(Classless Inter-Domain Routing)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117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Маршрутизация с </a:t>
            </a:r>
            <a:r>
              <a:rPr lang="ru-RU" dirty="0" smtClean="0"/>
              <a:t>использованием масок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151" y="1583652"/>
            <a:ext cx="8696325" cy="502597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1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Порядок просмотра таблиц маршрутизации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Извлечение </a:t>
            </a:r>
            <a:r>
              <a:rPr lang="ru-RU" dirty="0"/>
              <a:t>IP-адреса (</a:t>
            </a:r>
            <a:r>
              <a:rPr lang="ru-RU" dirty="0" err="1"/>
              <a:t>IPd</a:t>
            </a:r>
            <a:r>
              <a:rPr lang="ru-RU" dirty="0"/>
              <a:t>) из пакета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Поиск </a:t>
            </a:r>
            <a:r>
              <a:rPr lang="ru-RU" dirty="0"/>
              <a:t>специфического маршрута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Просмотр </a:t>
            </a:r>
            <a:r>
              <a:rPr lang="ru-RU" dirty="0"/>
              <a:t>каждой строки таблицы: Маска (из строки) накладывается на адрес  (</a:t>
            </a:r>
            <a:r>
              <a:rPr lang="ru-RU" dirty="0" err="1"/>
              <a:t>IPd</a:t>
            </a:r>
            <a:r>
              <a:rPr lang="ru-RU" dirty="0"/>
              <a:t> &amp; M) . Результат сравнивается с полем строки «Адрес назначения</a:t>
            </a:r>
            <a:r>
              <a:rPr lang="ru-RU" dirty="0" smtClean="0"/>
              <a:t>».</a:t>
            </a:r>
          </a:p>
          <a:p>
            <a:pPr lvl="1"/>
            <a:r>
              <a:rPr lang="ru-RU" dirty="0" smtClean="0"/>
              <a:t>Если </a:t>
            </a:r>
            <a:r>
              <a:rPr lang="ru-RU" dirty="0"/>
              <a:t>совпадение — строка помечается</a:t>
            </a:r>
          </a:p>
          <a:p>
            <a:pPr lvl="1"/>
            <a:r>
              <a:rPr lang="ru-RU" dirty="0"/>
              <a:t>Если нет — просмотр следующей строки - и так до конца таблицы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900" dirty="0"/>
              <a:t>Действие с пакетом:</a:t>
            </a:r>
          </a:p>
          <a:p>
            <a:pPr lvl="1"/>
            <a:r>
              <a:rPr lang="ru-RU" dirty="0" smtClean="0"/>
              <a:t>Нет </a:t>
            </a:r>
            <a:r>
              <a:rPr lang="ru-RU" dirty="0"/>
              <a:t>маршрута  - отброс пакета				</a:t>
            </a:r>
          </a:p>
          <a:p>
            <a:pPr lvl="1"/>
            <a:r>
              <a:rPr lang="ru-RU" dirty="0" smtClean="0"/>
              <a:t>Есть </a:t>
            </a:r>
            <a:r>
              <a:rPr lang="ru-RU" dirty="0"/>
              <a:t>совпадение - отправка </a:t>
            </a:r>
            <a:r>
              <a:rPr lang="ru-RU" dirty="0" smtClean="0"/>
              <a:t>пакета</a:t>
            </a:r>
          </a:p>
          <a:p>
            <a:pPr lvl="1"/>
            <a:r>
              <a:rPr lang="ru-RU" dirty="0" smtClean="0"/>
              <a:t>Несколько совпадений (чаще всего, если маршрут 0.0.0.0) </a:t>
            </a:r>
            <a:r>
              <a:rPr lang="ru-RU" dirty="0"/>
              <a:t>- отправка пакета </a:t>
            </a:r>
            <a:r>
              <a:rPr lang="ru-RU" dirty="0" smtClean="0"/>
              <a:t>по нескольким маршрутам</a:t>
            </a:r>
            <a:r>
              <a:rPr lang="ru-RU" dirty="0"/>
              <a:t>					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803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Пример таблицы маршрутизации с масками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00" y="1269041"/>
            <a:ext cx="8289925" cy="341870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257925" y="5153753"/>
            <a:ext cx="3835400" cy="1115751"/>
          </a:xfrm>
          <a:prstGeom prst="rect">
            <a:avLst/>
          </a:prstGeom>
          <a:noFill/>
          <a:ln w="36000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000" tIns="64800" rIns="108000" bIns="64800">
            <a:spAutoFit/>
          </a:bodyPr>
          <a:lstStyle>
            <a:lvl1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1pPr>
            <a:lvl2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2pPr>
            <a:lvl3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3pPr>
            <a:lvl4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4pPr>
            <a:lvl5pPr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20688" algn="l"/>
                <a:tab pos="869950" algn="l"/>
                <a:tab pos="1319213" algn="l"/>
                <a:tab pos="1768475" algn="l"/>
                <a:tab pos="2217738" algn="l"/>
                <a:tab pos="2667000" algn="l"/>
                <a:tab pos="3116263" algn="l"/>
                <a:tab pos="3565525" algn="l"/>
                <a:tab pos="4014788" algn="l"/>
                <a:tab pos="4464050" algn="l"/>
                <a:tab pos="4913313" algn="l"/>
                <a:tab pos="5373688" algn="l"/>
                <a:tab pos="5811838" algn="l"/>
                <a:tab pos="6261100" algn="l"/>
                <a:tab pos="6710363" algn="l"/>
                <a:tab pos="7159625" algn="l"/>
                <a:tab pos="7608888" algn="l"/>
                <a:tab pos="8058150" algn="l"/>
                <a:tab pos="8507413" algn="l"/>
                <a:tab pos="8956675" algn="l"/>
                <a:tab pos="8958263" algn="l"/>
                <a:tab pos="9407525" algn="l"/>
                <a:tab pos="9856788" algn="l"/>
                <a:tab pos="10306050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</a:tabLst>
              <a:defRPr>
                <a:solidFill>
                  <a:srgbClr val="FFFFFF"/>
                </a:solidFill>
                <a:latin typeface="Arial" charset="0"/>
                <a:ea typeface="Microsoft YaHei" pitchFamily="32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600" dirty="0">
                <a:solidFill>
                  <a:srgbClr val="000000"/>
                </a:solidFill>
              </a:rPr>
              <a:t>   Пример:  </a:t>
            </a:r>
            <a:r>
              <a:rPr lang="ru-RU" altLang="ru-RU" sz="1600" dirty="0" err="1">
                <a:solidFill>
                  <a:srgbClr val="000000"/>
                </a:solidFill>
              </a:rPr>
              <a:t>IPd</a:t>
            </a:r>
            <a:r>
              <a:rPr lang="ru-RU" altLang="ru-RU" sz="1600" dirty="0">
                <a:solidFill>
                  <a:srgbClr val="000000"/>
                </a:solidFill>
              </a:rPr>
              <a:t>  = 129.44.78.200   -  	</a:t>
            </a:r>
          </a:p>
          <a:p>
            <a:pPr>
              <a:buClrTx/>
              <a:buFontTx/>
              <a:buNone/>
            </a:pPr>
            <a:r>
              <a:rPr lang="ru-RU" altLang="ru-RU" sz="1600" dirty="0">
                <a:solidFill>
                  <a:srgbClr val="000000"/>
                </a:solidFill>
              </a:rPr>
              <a:t>1) 129.44.128.15  -  спец.  маршрут</a:t>
            </a:r>
          </a:p>
          <a:p>
            <a:pPr>
              <a:buClrTx/>
              <a:buFontTx/>
              <a:buNone/>
            </a:pPr>
            <a:r>
              <a:rPr lang="ru-RU" altLang="ru-RU" sz="1600" dirty="0">
                <a:solidFill>
                  <a:srgbClr val="000000"/>
                </a:solidFill>
              </a:rPr>
              <a:t>2) 1 строка  -  нет  </a:t>
            </a:r>
          </a:p>
          <a:p>
            <a:pPr>
              <a:buClrTx/>
              <a:buFontTx/>
              <a:buNone/>
            </a:pPr>
            <a:r>
              <a:rPr lang="ru-RU" altLang="ru-RU" sz="1600" dirty="0">
                <a:solidFill>
                  <a:srgbClr val="000000"/>
                </a:solidFill>
              </a:rPr>
              <a:t>3) 2 строка  -  есть  маршрут</a:t>
            </a:r>
            <a:r>
              <a:rPr lang="ru-RU" altLang="ru-RU" sz="1600" dirty="0"/>
              <a:t>@</a:t>
            </a:r>
          </a:p>
        </p:txBody>
      </p:sp>
    </p:spTree>
    <p:extLst>
      <p:ext uri="{BB962C8B-B14F-4D97-AF65-F5344CB8AC3E}">
        <p14:creationId xmlns:p14="http://schemas.microsoft.com/office/powerpoint/2010/main" val="369847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Список маршрутов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28811" y="1395194"/>
            <a:ext cx="3492702" cy="51042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Host 195.208.112.25 route </a:t>
            </a:r>
            <a:r>
              <a:rPr lang="en-US" dirty="0" smtClean="0"/>
              <a:t>print</a:t>
            </a:r>
            <a:endParaRPr lang="ru-RU" dirty="0" smtClean="0"/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Посмотреть реальную таблицу</a:t>
            </a:r>
            <a:r>
              <a:rPr lang="en-US" altLang="ru-RU" dirty="0" smtClean="0">
                <a:solidFill>
                  <a:srgbClr val="000000"/>
                </a:solidFill>
              </a:rPr>
              <a:t>:</a:t>
            </a:r>
            <a:endParaRPr lang="ru-RU" altLang="ru-RU" dirty="0" smtClean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en-US" altLang="ru-RU" dirty="0" smtClean="0">
                <a:solidFill>
                  <a:srgbClr val="000000"/>
                </a:solidFill>
              </a:rPr>
              <a:t>route </a:t>
            </a:r>
            <a:r>
              <a:rPr lang="en-US" altLang="ru-RU" dirty="0">
                <a:solidFill>
                  <a:srgbClr val="000000"/>
                </a:solidFill>
              </a:rPr>
              <a:t>print</a:t>
            </a:r>
          </a:p>
          <a:p>
            <a:pPr>
              <a:buClrTx/>
              <a:buFontTx/>
              <a:buNone/>
            </a:pPr>
            <a:endParaRPr lang="en-US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Список интерфейсов</a:t>
            </a:r>
          </a:p>
          <a:p>
            <a:pPr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</a:rPr>
              <a:t>IPv4</a:t>
            </a:r>
          </a:p>
          <a:p>
            <a:pPr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</a:rPr>
              <a:t>IPv6</a:t>
            </a:r>
          </a:p>
          <a:p>
            <a:pPr>
              <a:buClrTx/>
              <a:buFontTx/>
              <a:buNone/>
            </a:pPr>
            <a:endParaRPr lang="en-US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Активные маршруты</a:t>
            </a:r>
          </a:p>
          <a:p>
            <a:pPr>
              <a:buClrTx/>
              <a:buFontTx/>
              <a:buNone/>
            </a:pPr>
            <a:endParaRPr lang="en-US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Постоянные маршруты</a:t>
            </a:r>
            <a:r>
              <a:rPr lang="en-US" altLang="ru-RU" dirty="0">
                <a:solidFill>
                  <a:srgbClr val="000000"/>
                </a:solidFill>
              </a:rPr>
              <a:t> </a:t>
            </a:r>
            <a:r>
              <a:rPr lang="ru-RU" altLang="ru-RU" dirty="0">
                <a:solidFill>
                  <a:srgbClr val="000000"/>
                </a:solidFill>
              </a:rPr>
              <a:t>(сохраняются при перезагрузке) </a:t>
            </a:r>
          </a:p>
          <a:p>
            <a:pPr>
              <a:buClrTx/>
              <a:buFontTx/>
              <a:buNone/>
            </a:pPr>
            <a:endParaRPr lang="en-US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Метрика  (приоритет)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43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630" y="1319844"/>
            <a:ext cx="5437098" cy="525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2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Таблица маршрутизации конечного узла </a:t>
            </a:r>
            <a:r>
              <a:rPr lang="ru-RU" dirty="0" smtClean="0"/>
              <a:t>(</a:t>
            </a:r>
            <a:r>
              <a:rPr lang="ru-RU" dirty="0"/>
              <a:t>OC </a:t>
            </a:r>
            <a:r>
              <a:rPr lang="ru-RU" dirty="0" err="1"/>
              <a:t>Ubuntu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 err="1">
                <a:solidFill>
                  <a:srgbClr val="000000"/>
                </a:solidFill>
              </a:rPr>
              <a:t>Host</a:t>
            </a:r>
            <a:r>
              <a:rPr lang="ru-RU" altLang="ru-RU" dirty="0">
                <a:solidFill>
                  <a:srgbClr val="000000"/>
                </a:solidFill>
              </a:rPr>
              <a:t>  </a:t>
            </a:r>
            <a:r>
              <a:rPr lang="ru-RU" altLang="ru-RU" dirty="0" smtClean="0">
                <a:solidFill>
                  <a:srgbClr val="000000"/>
                </a:solidFill>
              </a:rPr>
              <a:t>192.168.0.2</a:t>
            </a:r>
            <a:endParaRPr lang="ru-RU" altLang="ru-RU" dirty="0">
              <a:solidFill>
                <a:srgbClr val="0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44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646" y="1804286"/>
            <a:ext cx="8692587" cy="471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4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Классы протоколов сетевого </a:t>
            </a:r>
            <a:r>
              <a:rPr lang="ru-RU" dirty="0" smtClean="0"/>
              <a:t>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800"/>
              </a:spcBef>
              <a:buFont typeface="Times New Roman" pitchFamily="16" charset="0"/>
              <a:buAutoNum type="arabicPeriod"/>
            </a:pPr>
            <a:r>
              <a:rPr lang="ru-RU" altLang="ru-RU" sz="3200" b="1" dirty="0">
                <a:solidFill>
                  <a:srgbClr val="000000"/>
                </a:solidFill>
              </a:rPr>
              <a:t>Сетевые  протоколы </a:t>
            </a:r>
            <a:r>
              <a:rPr lang="en-US" altLang="ru-RU" dirty="0" smtClean="0">
                <a:solidFill>
                  <a:srgbClr val="000000"/>
                </a:solidFill>
              </a:rPr>
              <a:t>(</a:t>
            </a:r>
            <a:r>
              <a:rPr lang="en-US" altLang="ru-RU" dirty="0">
                <a:solidFill>
                  <a:srgbClr val="000000"/>
                </a:solidFill>
              </a:rPr>
              <a:t>IPv4</a:t>
            </a:r>
            <a:r>
              <a:rPr lang="ru-RU" altLang="ru-RU" dirty="0">
                <a:solidFill>
                  <a:srgbClr val="000000"/>
                </a:solidFill>
              </a:rPr>
              <a:t>, </a:t>
            </a:r>
            <a:r>
              <a:rPr lang="en-US" altLang="ru-RU" dirty="0">
                <a:solidFill>
                  <a:srgbClr val="000000"/>
                </a:solidFill>
              </a:rPr>
              <a:t>IPv6)</a:t>
            </a:r>
          </a:p>
          <a:p>
            <a:pPr marL="461963" indent="-433388">
              <a:spcBef>
                <a:spcPts val="800"/>
              </a:spcBef>
              <a:buNone/>
            </a:pPr>
            <a:r>
              <a:rPr lang="ru-RU" altLang="ru-RU" dirty="0">
                <a:solidFill>
                  <a:srgbClr val="000000"/>
                </a:solidFill>
              </a:rPr>
              <a:t>Обеспечивают передачу пакетов от отправителя к получателю</a:t>
            </a:r>
          </a:p>
          <a:p>
            <a:pPr marL="461963" indent="-433388">
              <a:spcBef>
                <a:spcPts val="800"/>
              </a:spcBef>
              <a:buNone/>
            </a:pPr>
            <a:r>
              <a:rPr lang="en-US" altLang="ru-RU" dirty="0">
                <a:solidFill>
                  <a:srgbClr val="000000"/>
                </a:solidFill>
              </a:rPr>
              <a:t>IPv6  -  </a:t>
            </a:r>
            <a:r>
              <a:rPr lang="ru-RU" altLang="ru-RU" dirty="0">
                <a:solidFill>
                  <a:srgbClr val="000000"/>
                </a:solidFill>
              </a:rPr>
              <a:t>адрес  128 бит   (Интернет вещей)</a:t>
            </a:r>
          </a:p>
          <a:p>
            <a:pPr marL="461963" indent="-433388">
              <a:spcBef>
                <a:spcPts val="800"/>
              </a:spcBef>
              <a:buNone/>
            </a:pPr>
            <a:endParaRPr lang="ru-RU" altLang="ru-RU" sz="3200" b="1" dirty="0">
              <a:solidFill>
                <a:srgbClr val="000000"/>
              </a:solidFill>
            </a:endParaRPr>
          </a:p>
          <a:p>
            <a:pPr marL="461963" indent="-433388">
              <a:spcBef>
                <a:spcPts val="800"/>
              </a:spcBef>
              <a:buNone/>
            </a:pPr>
            <a:r>
              <a:rPr lang="ru-RU" altLang="ru-RU" sz="3200" b="1" dirty="0">
                <a:solidFill>
                  <a:srgbClr val="000000"/>
                </a:solidFill>
              </a:rPr>
              <a:t>2. Протоколы маршрутизации</a:t>
            </a:r>
            <a:r>
              <a:rPr lang="en-US" altLang="ru-RU" sz="3200" b="1" dirty="0">
                <a:solidFill>
                  <a:srgbClr val="000000"/>
                </a:solidFill>
              </a:rPr>
              <a:t> </a:t>
            </a:r>
            <a:r>
              <a:rPr lang="en-US" altLang="ru-RU" dirty="0" smtClean="0">
                <a:solidFill>
                  <a:srgbClr val="000000"/>
                </a:solidFill>
              </a:rPr>
              <a:t>(</a:t>
            </a:r>
            <a:r>
              <a:rPr lang="en-US" altLang="ru-RU" dirty="0">
                <a:solidFill>
                  <a:srgbClr val="000000"/>
                </a:solidFill>
              </a:rPr>
              <a:t>OSPF,</a:t>
            </a:r>
            <a:r>
              <a:rPr lang="ru-RU" altLang="ru-RU" dirty="0">
                <a:solidFill>
                  <a:srgbClr val="000000"/>
                </a:solidFill>
              </a:rPr>
              <a:t> </a:t>
            </a:r>
            <a:r>
              <a:rPr lang="en-US" altLang="ru-RU" dirty="0">
                <a:solidFill>
                  <a:srgbClr val="000000"/>
                </a:solidFill>
              </a:rPr>
              <a:t>RIP</a:t>
            </a:r>
            <a:r>
              <a:rPr lang="ru-RU" altLang="ru-RU" dirty="0">
                <a:solidFill>
                  <a:srgbClr val="000000"/>
                </a:solidFill>
              </a:rPr>
              <a:t>, </a:t>
            </a:r>
            <a:r>
              <a:rPr lang="en-US" altLang="ru-RU" dirty="0">
                <a:solidFill>
                  <a:srgbClr val="000000"/>
                </a:solidFill>
              </a:rPr>
              <a:t>BGP</a:t>
            </a:r>
            <a:r>
              <a:rPr lang="ru-RU" altLang="ru-RU" dirty="0">
                <a:solidFill>
                  <a:srgbClr val="000000"/>
                </a:solidFill>
              </a:rPr>
              <a:t> </a:t>
            </a:r>
            <a:r>
              <a:rPr lang="en-US" altLang="ru-RU" dirty="0">
                <a:solidFill>
                  <a:srgbClr val="000000"/>
                </a:solidFill>
              </a:rPr>
              <a:t>…)</a:t>
            </a:r>
          </a:p>
          <a:p>
            <a:pPr marL="461963" indent="-433388">
              <a:spcBef>
                <a:spcPts val="800"/>
              </a:spcBef>
              <a:buNone/>
            </a:pPr>
            <a:r>
              <a:rPr lang="ru-RU" altLang="ru-RU" dirty="0">
                <a:solidFill>
                  <a:srgbClr val="000000"/>
                </a:solidFill>
              </a:rPr>
              <a:t>Обеспечивают  автоматическое  динамическое заполнение таблиц </a:t>
            </a:r>
            <a:r>
              <a:rPr lang="ru-RU" altLang="ru-RU" dirty="0" smtClean="0">
                <a:solidFill>
                  <a:srgbClr val="000000"/>
                </a:solidFill>
              </a:rPr>
              <a:t>маршрутизаторов</a:t>
            </a:r>
            <a:r>
              <a:rPr lang="en-US" altLang="ru-RU" dirty="0" smtClean="0">
                <a:solidFill>
                  <a:srgbClr val="000000"/>
                </a:solidFill>
              </a:rPr>
              <a:t>  </a:t>
            </a:r>
            <a:r>
              <a:rPr lang="ru-RU" altLang="ru-RU" dirty="0">
                <a:solidFill>
                  <a:srgbClr val="000000"/>
                </a:solidFill>
              </a:rPr>
              <a:t>(</a:t>
            </a:r>
            <a:r>
              <a:rPr lang="en-US" altLang="ru-RU" dirty="0">
                <a:solidFill>
                  <a:srgbClr val="000000"/>
                </a:solidFill>
              </a:rPr>
              <a:t>OSPFv3</a:t>
            </a:r>
            <a:r>
              <a:rPr lang="ru-RU" altLang="ru-RU" dirty="0">
                <a:solidFill>
                  <a:srgbClr val="000000"/>
                </a:solidFill>
              </a:rPr>
              <a:t> для </a:t>
            </a:r>
            <a:r>
              <a:rPr lang="en-US" altLang="ru-RU" dirty="0">
                <a:solidFill>
                  <a:srgbClr val="000000"/>
                </a:solidFill>
              </a:rPr>
              <a:t>IPv4</a:t>
            </a:r>
            <a:r>
              <a:rPr lang="ru-RU" altLang="ru-RU" dirty="0">
                <a:solidFill>
                  <a:srgbClr val="000000"/>
                </a:solidFill>
              </a:rPr>
              <a:t> и</a:t>
            </a:r>
            <a:r>
              <a:rPr lang="en-US" altLang="ru-RU" dirty="0">
                <a:solidFill>
                  <a:srgbClr val="000000"/>
                </a:solidFill>
              </a:rPr>
              <a:t> IPv6</a:t>
            </a:r>
            <a:r>
              <a:rPr lang="ru-RU" altLang="ru-RU" dirty="0">
                <a:solidFill>
                  <a:srgbClr val="000000"/>
                </a:solidFill>
              </a:rPr>
              <a:t>)</a:t>
            </a:r>
          </a:p>
          <a:p>
            <a:pPr marL="461963" indent="-433388">
              <a:spcBef>
                <a:spcPts val="800"/>
              </a:spcBef>
              <a:buNone/>
            </a:pPr>
            <a:r>
              <a:rPr lang="en-US" altLang="ru-RU" sz="3200" dirty="0">
                <a:solidFill>
                  <a:srgbClr val="000000"/>
                </a:solidFill>
              </a:rPr>
              <a:t>CIDR</a:t>
            </a:r>
          </a:p>
          <a:p>
            <a:pPr marL="461963" indent="-433388">
              <a:spcBef>
                <a:spcPts val="800"/>
              </a:spcBef>
              <a:buNone/>
            </a:pPr>
            <a:endParaRPr lang="en-US" altLang="ru-RU" sz="3200" b="1" dirty="0">
              <a:solidFill>
                <a:srgbClr val="000000"/>
              </a:solidFill>
            </a:endParaRPr>
          </a:p>
          <a:p>
            <a:pPr marL="461963" indent="-433388">
              <a:spcBef>
                <a:spcPts val="800"/>
              </a:spcBef>
              <a:buNone/>
            </a:pPr>
            <a:r>
              <a:rPr lang="ru-RU" altLang="ru-RU" sz="3200" b="1" dirty="0">
                <a:solidFill>
                  <a:srgbClr val="000000"/>
                </a:solidFill>
              </a:rPr>
              <a:t>3. Служебные протоколы</a:t>
            </a:r>
            <a:r>
              <a:rPr lang="en-US" altLang="ru-RU" sz="3200" b="1" dirty="0">
                <a:solidFill>
                  <a:srgbClr val="000000"/>
                </a:solidFill>
              </a:rPr>
              <a:t> </a:t>
            </a:r>
            <a:r>
              <a:rPr lang="en-US" altLang="ru-RU" dirty="0" smtClean="0">
                <a:solidFill>
                  <a:srgbClr val="000000"/>
                </a:solidFill>
              </a:rPr>
              <a:t>(</a:t>
            </a:r>
            <a:r>
              <a:rPr lang="en-US" altLang="ru-RU" dirty="0">
                <a:solidFill>
                  <a:srgbClr val="000000"/>
                </a:solidFill>
              </a:rPr>
              <a:t>ICMP</a:t>
            </a:r>
            <a:r>
              <a:rPr lang="ru-RU" altLang="ru-RU" dirty="0">
                <a:solidFill>
                  <a:srgbClr val="000000"/>
                </a:solidFill>
              </a:rPr>
              <a:t>,  </a:t>
            </a:r>
            <a:r>
              <a:rPr lang="en-US" altLang="ru-RU" dirty="0">
                <a:solidFill>
                  <a:srgbClr val="000000"/>
                </a:solidFill>
              </a:rPr>
              <a:t>ICMPv6)</a:t>
            </a:r>
          </a:p>
          <a:p>
            <a:pPr marL="461963" indent="-433388">
              <a:spcBef>
                <a:spcPts val="800"/>
              </a:spcBef>
              <a:buNone/>
            </a:pPr>
            <a:r>
              <a:rPr lang="ru-RU" altLang="ru-RU" dirty="0">
                <a:solidFill>
                  <a:srgbClr val="000000"/>
                </a:solidFill>
              </a:rPr>
              <a:t>Обеспечивают передачу служебных сообщений о некорректной работе сети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64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обмена управляющими сообщениями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Протокол обмена управляющими </a:t>
            </a:r>
            <a:r>
              <a:rPr lang="ru-RU" dirty="0" smtClean="0"/>
              <a:t>сообщениями</a:t>
            </a:r>
            <a:r>
              <a:rPr lang="en-US" dirty="0" smtClean="0"/>
              <a:t> - Internet </a:t>
            </a:r>
            <a:r>
              <a:rPr lang="en-US" dirty="0"/>
              <a:t>Control Message Protocol (ICMP)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46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60" y="2246249"/>
            <a:ext cx="5889190" cy="149379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415" y="3863864"/>
            <a:ext cx="7822222" cy="253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2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Типы и коды </a:t>
            </a:r>
            <a:r>
              <a:rPr lang="en-US" dirty="0"/>
              <a:t>ICMP-</a:t>
            </a:r>
            <a:r>
              <a:rPr lang="ru-RU" dirty="0" smtClean="0"/>
              <a:t>сообщений (выборка)</a:t>
            </a:r>
            <a:endParaRPr lang="ru-RU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880048"/>
              </p:ext>
            </p:extLst>
          </p:nvPr>
        </p:nvGraphicFramePr>
        <p:xfrm>
          <a:off x="1908846" y="1359116"/>
          <a:ext cx="8289925" cy="5090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Запрос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Ошибка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Эхо</a:t>
                      </a:r>
                      <a:r>
                        <a:rPr lang="ru-RU" baseline="0" dirty="0" smtClean="0"/>
                        <a:t> ответ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Сеть недоступна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Хост недоступен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Протокол</a:t>
                      </a:r>
                      <a:r>
                        <a:rPr lang="ru-RU" baseline="0" dirty="0" smtClean="0"/>
                        <a:t> недоступен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Порт</a:t>
                      </a:r>
                      <a:r>
                        <a:rPr lang="ru-RU" baseline="0" dirty="0" smtClean="0"/>
                        <a:t> недоступен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Необходима</a:t>
                      </a:r>
                      <a:r>
                        <a:rPr lang="ru-RU" baseline="0" dirty="0" smtClean="0"/>
                        <a:t> фрагментация, которая запрещена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Останов</a:t>
                      </a:r>
                      <a:r>
                        <a:rPr lang="ru-RU" baseline="0" dirty="0" smtClean="0"/>
                        <a:t> источника (устарел)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err="1" smtClean="0"/>
                        <a:t>Перенапраление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Эхо запрос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Объявление маршрутизатора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Запрос маршрутизатора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Время истекло (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170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Практическое задание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74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Задание 1. Исходную </a:t>
            </a:r>
            <a:r>
              <a:rPr lang="ru-RU" dirty="0" smtClean="0"/>
              <a:t>IP-сеть разделите </a:t>
            </a:r>
            <a:r>
              <a:rPr lang="ru-RU" dirty="0"/>
              <a:t>на 5 подсетей с заданным числом адресов в подсетях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49</a:t>
            </a:fld>
            <a:endParaRPr lang="ru-RU" dirty="0"/>
          </a:p>
        </p:txBody>
      </p:sp>
      <p:graphicFrame>
        <p:nvGraphicFramePr>
          <p:cNvPr id="5" name="Group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458377"/>
              </p:ext>
            </p:extLst>
          </p:nvPr>
        </p:nvGraphicFramePr>
        <p:xfrm>
          <a:off x="1548745" y="1186775"/>
          <a:ext cx="9837603" cy="554355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3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Вариант</a:t>
                      </a:r>
                      <a:endParaRPr kumimoji="0" lang="ru-RU" altLang="ru-RU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Исходная сеть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Маска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Требования к подсетям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1.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194.193.192.0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2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99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ea typeface="Microsoft YaHei" pitchFamily="32" charset="-122"/>
                      </a:endParaRPr>
                    </a:p>
                  </a:txBody>
                  <a:tcPr marL="43200" marR="45000" marT="21780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192.193.194.0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50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190.191.192.0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Ровно 2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должны включать по 16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195.194.193.0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по 32 адреса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200.200.200.0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60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200.200.200.0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30 адресов.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160.80.40.0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512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160.80.40.0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2 подсети  должны включать по 128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145.123.194.0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2 подсети должны иметь не менее 50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172.16.0.0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255.255.255.224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Только одна подсеть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должна иметь 16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10.20.30.0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52 адреса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20.30.40.0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Ровно 2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должны включать по 16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40.140.240.0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99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</a:t>
                      </a:r>
                      <a:endParaRPr kumimoji="0" lang="ru-RU" altLang="ru-RU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201.202.203.0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60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86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Задание 1. Исходную IP-сеть разделите на 5 подсетей с заданным числом адресов в подсетях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50</a:t>
            </a:fld>
            <a:endParaRPr lang="ru-RU" dirty="0"/>
          </a:p>
        </p:txBody>
      </p:sp>
      <p:graphicFrame>
        <p:nvGraphicFramePr>
          <p:cNvPr id="5" name="Group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195181"/>
              </p:ext>
            </p:extLst>
          </p:nvPr>
        </p:nvGraphicFramePr>
        <p:xfrm>
          <a:off x="1622254" y="1147519"/>
          <a:ext cx="9769000" cy="554355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2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05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Вариант</a:t>
                      </a:r>
                      <a:endParaRPr kumimoji="0" lang="ru-RU" altLang="ru-RU" sz="105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  <a:cs typeface="+mn-cs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Исходная сеть</a:t>
                      </a:r>
                      <a:endParaRPr kumimoji="0" lang="ru-RU" altLang="ru-RU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  <a:cs typeface="+mn-cs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Маска</a:t>
                      </a:r>
                      <a:endParaRPr kumimoji="0" lang="ru-RU" altLang="ru-RU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  <a:cs typeface="+mn-cs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Требования к подсетям</a:t>
                      </a:r>
                      <a:endParaRPr kumimoji="0" lang="ru-RU" altLang="ru-RU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  <a:cs typeface="+mn-cs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195.208.113.0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100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195.207.2.0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50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194.3.191.0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Ровно 2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должны включать по 16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194.3.192.0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по 32 адреса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201.202.203.0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255.255.255.192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200.0.23.0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должны включать не менее чем по 30 адресов.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160.60.42.0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512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22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168.60.20.0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2 подсети  должны включать по 128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192.193.194.0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2 подсети должны иметь не менее 50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24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20.40.80.160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255.255.255.192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Ровно одна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сеть должна иметь 16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10.30.67.0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52 адреса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20.30.40.0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Две подсети должны включать по 16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40.143.255.0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76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1.10.25.0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 подсети должны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включать не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более 30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69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Задание </a:t>
            </a:r>
            <a:r>
              <a:rPr lang="ru-RU" dirty="0" smtClean="0"/>
              <a:t>1. Исходную </a:t>
            </a:r>
            <a:r>
              <a:rPr lang="ru-RU" dirty="0"/>
              <a:t>IP-сеть разделите на 5 подсетей с заданным числом адресов в подсетях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51</a:t>
            </a:fld>
            <a:endParaRPr lang="ru-RU" dirty="0"/>
          </a:p>
        </p:txBody>
      </p:sp>
      <p:graphicFrame>
        <p:nvGraphicFramePr>
          <p:cNvPr id="5" name="Group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208281"/>
              </p:ext>
            </p:extLst>
          </p:nvPr>
        </p:nvGraphicFramePr>
        <p:xfrm>
          <a:off x="1626856" y="1204843"/>
          <a:ext cx="9796252" cy="554355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2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7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05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Вариант</a:t>
                      </a:r>
                      <a:endParaRPr kumimoji="0" lang="ru-RU" altLang="ru-RU" sz="105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Исходная сеть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Маска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Требования к подсетям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40.140.240.0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70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195.207.2.0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60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31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194.3.191.0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Ровно 2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должны включать по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 адреса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3.43.67.128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60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200.200.200.0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30 адресов.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35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160.0.128.0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512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160.80.40.0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 должны включать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не более чем 128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194.3.192.0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по 32 адреса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79726442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37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10.11.12.0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2 подсети должны иметь не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более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38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183.79.19.192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255.255.255.240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Одна сеть должна иметь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39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10.20.30.0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40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20.30.40.0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Только две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должны включать по 16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41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40.140.240.0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 подсети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должна включать не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более чем 60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42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201.202.203.0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60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36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Задание </a:t>
            </a:r>
            <a:r>
              <a:rPr lang="ru-RU" dirty="0" smtClean="0"/>
              <a:t>1. Исходную </a:t>
            </a:r>
            <a:r>
              <a:rPr lang="ru-RU" dirty="0"/>
              <a:t>IP-сеть разделите на 5 подсетей с заданным числом адресов в подсетях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52</a:t>
            </a:fld>
            <a:endParaRPr lang="ru-RU" dirty="0"/>
          </a:p>
        </p:txBody>
      </p:sp>
      <p:graphicFrame>
        <p:nvGraphicFramePr>
          <p:cNvPr id="5" name="Group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4453"/>
              </p:ext>
            </p:extLst>
          </p:nvPr>
        </p:nvGraphicFramePr>
        <p:xfrm>
          <a:off x="1626856" y="1204843"/>
          <a:ext cx="9796252" cy="554355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2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7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05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Вариант</a:t>
                      </a:r>
                      <a:endParaRPr kumimoji="0" lang="ru-RU" altLang="ru-RU" sz="105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Исходная сеть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Маска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Требования к подсетям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43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  <a:cs typeface="+mn-cs"/>
                        </a:rPr>
                        <a:t>10.0.0.0</a:t>
                      </a:r>
                      <a:endParaRPr kumimoji="0" lang="ru-RU" altLang="ru-RU" sz="1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  <a:cs typeface="+mn-cs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Не должно быть больше двух подсетей одинакового размера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  <a:cs typeface="+mn-cs"/>
                        </a:rPr>
                        <a:t>195.207.2.0</a:t>
                      </a: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Должно быть не менее трех подсетей одинакового размера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45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  <a:cs typeface="+mn-cs"/>
                        </a:rPr>
                        <a:t>74.172.196.0</a:t>
                      </a:r>
                      <a:endParaRPr kumimoji="0" lang="ru-RU" altLang="ru-RU" sz="1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  <a:cs typeface="+mn-cs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Должно быть ровно три подсети одинакового размера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46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pitchFamily="32" charset="-122"/>
                          <a:cs typeface="+mn-cs"/>
                        </a:rPr>
                        <a:t>34.3.1.0</a:t>
                      </a:r>
                      <a:endParaRPr kumimoji="0" lang="ru-RU" altLang="ru-RU" sz="12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  <a:cs typeface="+mn-cs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Должно быть не менее 2 подсетей, содержащих не более 20 узлов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47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201.202.192.0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255.255.254.0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Все подсети должны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включать не менее 60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48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201.202.192.0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255.255.254.0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2 подсети должны включать не более 40 адресов.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49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84.24.40.0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512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50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254.255.200.0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255.255.252.0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2 подсети  должны включать по 128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51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192.94.15.0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По крайней мере 2 подсети должны иметь не менее 50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52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20.40.80.160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255.255.255.224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Одна сеть должна иметь 16 адресов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53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117.34.192.0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255.255.248.0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3 подсети должны включать не менее чем по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500 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54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120.130.140.0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255.255.255.0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Ровно две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подсети должны включать по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 адреса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55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38.118.32.0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255.255.255.240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 подсети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должна включать не менее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9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56</a:t>
                      </a:r>
                      <a:endParaRPr kumimoji="0" lang="ru-RU" alt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2" charset="0"/>
                        <a:ea typeface="Microsoft YaHei" pitchFamily="32" charset="-122"/>
                      </a:endParaRPr>
                    </a:p>
                  </a:txBody>
                  <a:tcPr marL="43200" marR="45000" marT="1173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11.57.182.128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255.255.255.128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 b="1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1pPr>
                      <a:lvl2pPr>
                        <a:spcBef>
                          <a:spcPts val="7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5pPr>
                      <a:lvl6pPr marL="25146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6pPr>
                      <a:lvl7pPr marL="29718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7pPr>
                      <a:lvl8pPr marL="34290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8pPr>
                      <a:lvl9pPr marL="3886200" indent="-228600" defTabSz="449263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pitchFamily="32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3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1800" algn="l"/>
                          <a:tab pos="881063" algn="l"/>
                          <a:tab pos="1330325" algn="l"/>
                          <a:tab pos="1779588" algn="l"/>
                          <a:tab pos="2228850" algn="l"/>
                          <a:tab pos="2678113" algn="l"/>
                          <a:tab pos="3127375" algn="l"/>
                          <a:tab pos="3576638" algn="l"/>
                          <a:tab pos="4025900" algn="l"/>
                          <a:tab pos="4475163" algn="l"/>
                          <a:tab pos="4924425" algn="l"/>
                          <a:tab pos="5373688" algn="l"/>
                          <a:tab pos="5822950" algn="l"/>
                          <a:tab pos="6272213" algn="l"/>
                          <a:tab pos="6721475" algn="l"/>
                          <a:tab pos="7170738" algn="l"/>
                          <a:tab pos="7620000" algn="l"/>
                          <a:tab pos="8069263" algn="l"/>
                          <a:tab pos="8518525" algn="l"/>
                          <a:tab pos="8967788" algn="l"/>
                          <a:tab pos="8969375" algn="l"/>
                          <a:tab pos="9418638" algn="l"/>
                          <a:tab pos="9867900" algn="l"/>
                          <a:tab pos="10317163" algn="l"/>
                          <a:tab pos="10766425" algn="l"/>
                          <a:tab pos="10768013" algn="l"/>
                          <a:tab pos="10769600" algn="l"/>
                          <a:tab pos="10771188" algn="l"/>
                          <a:tab pos="10772775" algn="l"/>
                          <a:tab pos="10774363" algn="l"/>
                          <a:tab pos="10775950" algn="l"/>
                        </a:tabLst>
                      </a:pP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По крайней мере 1 подсеть должна включать не менее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40 </a:t>
                      </a:r>
                      <a:r>
                        <a:rPr kumimoji="0" lang="ru-RU" altLang="ru-RU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адресов</a:t>
                      </a:r>
                      <a:endParaRPr kumimoji="0" lang="ru-RU" alt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pitchFamily="32" charset="-122"/>
                      </a:endParaRPr>
                    </a:p>
                  </a:txBody>
                  <a:tcPr marL="43200" marR="45000" marT="196560" marB="0" anchor="ctr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80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Задание 1. Исходную IP-сеть разделите на 5 подсетей с заданным числом адресов в подсетях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Примечание: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В задании указаны требования к числу адресов (не узлов).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Подсетей должно быть 5, и они должны занимать все </a:t>
            </a:r>
            <a:r>
              <a:rPr lang="ru-RU" altLang="ru-RU" dirty="0" smtClean="0">
                <a:solidFill>
                  <a:srgbClr val="000000"/>
                </a:solidFill>
              </a:rPr>
              <a:t> адресное </a:t>
            </a:r>
            <a:r>
              <a:rPr lang="ru-RU" altLang="ru-RU" dirty="0">
                <a:solidFill>
                  <a:srgbClr val="000000"/>
                </a:solidFill>
              </a:rPr>
              <a:t>пространство исходной сети.	 	</a:t>
            </a:r>
          </a:p>
          <a:p>
            <a:pPr>
              <a:buClrTx/>
              <a:buFontTx/>
              <a:buNone/>
            </a:pPr>
            <a:endParaRPr lang="ru-RU" altLang="ru-RU" dirty="0">
              <a:solidFill>
                <a:srgbClr val="000000"/>
              </a:solidFill>
            </a:endParaRPr>
          </a:p>
          <a:p>
            <a:pPr algn="ctr">
              <a:buClrTx/>
              <a:buFontTx/>
              <a:buNone/>
            </a:pPr>
            <a:r>
              <a:rPr lang="ru-RU" altLang="ru-RU" b="1" dirty="0" smtClean="0">
                <a:solidFill>
                  <a:srgbClr val="000000"/>
                </a:solidFill>
              </a:rPr>
              <a:t>Оформление </a:t>
            </a:r>
            <a:r>
              <a:rPr lang="ru-RU" altLang="ru-RU" b="1" dirty="0">
                <a:solidFill>
                  <a:srgbClr val="000000"/>
                </a:solidFill>
              </a:rPr>
              <a:t>отчета </a:t>
            </a:r>
          </a:p>
          <a:p>
            <a:pPr>
              <a:buClrTx/>
              <a:buFontTx/>
              <a:buNone/>
            </a:pPr>
            <a:endParaRPr lang="ru-RU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Титульная страница: N группы, Фамилия И.О.</a:t>
            </a:r>
          </a:p>
          <a:p>
            <a:pPr>
              <a:buClrTx/>
              <a:buFontTx/>
              <a:buNone/>
            </a:pPr>
            <a:endParaRPr lang="ru-RU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В тексте отчета  привести: </a:t>
            </a:r>
          </a:p>
          <a:p>
            <a:pPr>
              <a:buClrTx/>
              <a:buFontTx/>
              <a:buNone/>
            </a:pPr>
            <a:endParaRPr lang="ru-RU" altLang="ru-RU" sz="800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	1. N варианта </a:t>
            </a:r>
            <a:r>
              <a:rPr lang="ru-RU" altLang="ru-RU" b="1" dirty="0">
                <a:solidFill>
                  <a:srgbClr val="000000"/>
                </a:solidFill>
              </a:rPr>
              <a:t>и само задание полностью.</a:t>
            </a:r>
          </a:p>
          <a:p>
            <a:pPr>
              <a:buClrTx/>
              <a:buFontTx/>
              <a:buNone/>
            </a:pPr>
            <a:endParaRPr lang="ru-RU" altLang="ru-RU" sz="800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	2. Решение в виде: 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 	</a:t>
            </a:r>
            <a:r>
              <a:rPr lang="ru-RU" altLang="ru-RU" dirty="0" smtClean="0">
                <a:solidFill>
                  <a:srgbClr val="000000"/>
                </a:solidFill>
              </a:rPr>
              <a:t>	Подсеть</a:t>
            </a:r>
            <a:r>
              <a:rPr lang="ru-RU" altLang="ru-RU" dirty="0">
                <a:solidFill>
                  <a:srgbClr val="000000"/>
                </a:solidFill>
              </a:rPr>
              <a:t>	     	 Адрес                Маска 			  Число адресов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		1		100.100.100.0     255.255.255.128		...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		2                 </a:t>
            </a:r>
            <a:r>
              <a:rPr lang="ru-RU" altLang="ru-RU" dirty="0" smtClean="0">
                <a:solidFill>
                  <a:srgbClr val="000000"/>
                </a:solidFill>
              </a:rPr>
              <a:t>		…..                        …..</a:t>
            </a:r>
            <a:r>
              <a:rPr lang="ru-RU" altLang="ru-RU" dirty="0">
                <a:solidFill>
                  <a:srgbClr val="000000"/>
                </a:solidFill>
              </a:rPr>
              <a:t>	</a:t>
            </a:r>
            <a:r>
              <a:rPr lang="ru-RU" altLang="ru-RU" dirty="0" smtClean="0">
                <a:solidFill>
                  <a:srgbClr val="000000"/>
                </a:solidFill>
              </a:rPr>
              <a:t>                  		…</a:t>
            </a:r>
            <a:endParaRPr lang="ru-RU" altLang="ru-RU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endParaRPr lang="ru-RU" altLang="ru-RU" sz="800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	3. Схему распределения </a:t>
            </a:r>
            <a:r>
              <a:rPr lang="ru-RU" altLang="ru-RU" dirty="0" smtClean="0">
                <a:solidFill>
                  <a:srgbClr val="000000"/>
                </a:solidFill>
              </a:rPr>
              <a:t>адресов</a:t>
            </a:r>
            <a:endParaRPr lang="ru-RU" altLang="ru-RU" dirty="0">
              <a:solidFill>
                <a:srgbClr val="0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804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</a:t>
            </a:r>
            <a:r>
              <a:rPr lang="ru-RU" dirty="0" smtClean="0"/>
              <a:t>2. Вычисление скорости </a:t>
            </a:r>
            <a:r>
              <a:rPr lang="en-US" dirty="0" err="1" smtClean="0"/>
              <a:t>WiFi</a:t>
            </a:r>
            <a:r>
              <a:rPr lang="ru-RU" dirty="0" smtClean="0"/>
              <a:t> соединений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4971763"/>
            <a:ext cx="11747863" cy="1655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Используя таблицу вычислить </a:t>
            </a:r>
            <a:r>
              <a:rPr lang="en-US" dirty="0" smtClean="0"/>
              <a:t>MCS</a:t>
            </a:r>
            <a:r>
              <a:rPr lang="ru-RU" dirty="0" smtClean="0"/>
              <a:t>, модуляцию и соотношение скорости соединения </a:t>
            </a:r>
            <a:r>
              <a:rPr lang="en-US" dirty="0" err="1" smtClean="0"/>
              <a:t>WiFi</a:t>
            </a:r>
            <a:r>
              <a:rPr lang="ru-RU" dirty="0" smtClean="0"/>
              <a:t> для двух устройств.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54</a:t>
            </a:fld>
            <a:endParaRPr lang="ru-R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20" y="1345884"/>
            <a:ext cx="11030031" cy="34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3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2. </a:t>
            </a:r>
            <a:r>
              <a:rPr lang="ru-RU" dirty="0" smtClean="0"/>
              <a:t>Вычисление скорости </a:t>
            </a:r>
            <a:r>
              <a:rPr lang="en-US" dirty="0" err="1" smtClean="0"/>
              <a:t>WiFi</a:t>
            </a:r>
            <a:r>
              <a:rPr lang="ru-RU" dirty="0" smtClean="0"/>
              <a:t> соединений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383086"/>
            <a:ext cx="11747863" cy="8684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Два </a:t>
            </a:r>
            <a:r>
              <a:rPr lang="ru-RU" dirty="0" smtClean="0"/>
              <a:t>устройства</a:t>
            </a:r>
            <a:r>
              <a:rPr lang="en-US" dirty="0" smtClean="0"/>
              <a:t> (A </a:t>
            </a:r>
            <a:r>
              <a:rPr lang="ru-RU" dirty="0" smtClean="0"/>
              <a:t>и В) </a:t>
            </a:r>
            <a:r>
              <a:rPr lang="ru-RU" dirty="0"/>
              <a:t>подключены к одному роутеру </a:t>
            </a:r>
            <a:r>
              <a:rPr lang="ru-RU" dirty="0" smtClean="0"/>
              <a:t>802.11ac:</a:t>
            </a:r>
          </a:p>
          <a:p>
            <a:pPr marL="0" indent="0">
              <a:buNone/>
            </a:pPr>
            <a:r>
              <a:rPr lang="ru-RU" dirty="0" smtClean="0"/>
              <a:t>Параметры соединения (полоса и количество потоков настраиваются по наименьшим значениям, допустимым для данной силы сигнала)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55</a:t>
            </a:fld>
            <a:endParaRPr lang="ru-RU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468504"/>
              </p:ext>
            </p:extLst>
          </p:nvPr>
        </p:nvGraphicFramePr>
        <p:xfrm>
          <a:off x="1829822" y="2327907"/>
          <a:ext cx="8128000" cy="445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72524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52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</a:t>
                      </a:r>
                      <a:r>
                        <a:rPr lang="ru-RU" baseline="0" dirty="0" smtClean="0"/>
                        <a:t> 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 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6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effectLst/>
                        </a:rPr>
                        <a:t>1. RSSI = -35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958464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2. RSSI = -36 dBm, Ширина полосы 40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-70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20623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3. RSSI = -37 dBm, Ширина полосы 80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77848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4. RSSI = -38 dBm, Ширина полосы 160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-60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1350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5. RSSI = -39 dBm, Ширина полосы 20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04913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6. RSSI = -40 dBm, Ширина полосы 40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-50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9623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7. RSSI = -41 dBm, Ширина полосы 80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0646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8. RSSI = -42 dBm, Ширина полосы 160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-40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2481524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9. RSSI = -43 dBm, Ширина полосы 20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-35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70473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10. RSSI = -44 dBm, Ширина полосы 40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-79.5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142406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11. RSSI = -45 dBm, Ширина полосы 80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-78.5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518080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99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2. </a:t>
            </a:r>
            <a:r>
              <a:rPr lang="ru-RU" dirty="0" smtClean="0"/>
              <a:t>Вычисление скорости </a:t>
            </a:r>
            <a:r>
              <a:rPr lang="en-US" dirty="0" err="1" smtClean="0"/>
              <a:t>WiFi</a:t>
            </a:r>
            <a:r>
              <a:rPr lang="ru-RU" dirty="0" smtClean="0"/>
              <a:t> соединений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56</a:t>
            </a:fld>
            <a:endParaRPr lang="ru-RU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311686"/>
              </p:ext>
            </p:extLst>
          </p:nvPr>
        </p:nvGraphicFramePr>
        <p:xfrm>
          <a:off x="1802252" y="1133214"/>
          <a:ext cx="8128000" cy="5562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72524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52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</a:t>
                      </a:r>
                      <a:r>
                        <a:rPr lang="ru-RU" baseline="0" dirty="0" smtClean="0"/>
                        <a:t> 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 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6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12. RSSI = -46 dBm, Ширина полосы 160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-77.5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958464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13. RSSI = -47 dBm, Ширина полосы 20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-76.5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20623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14. RSSI = -48 dBm, Ширина полосы 40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-75.5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77848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15. RSSI = -49 dBm, Ширина полосы 80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-74.5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1350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16. RSSI = -50 dBm, Ширина полосы 160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-73.5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04913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17. RSSI = -51 dBm, Ширина полосы 20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-72.5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9623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18. RSSI = -52 dBm, Ширина полосы 40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-71.5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0646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19. RSSI = -53 dBm, Ширина полосы 80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-70.5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2481524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20. RSSI = -54 dBm, Ширина полосы 160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-69.5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70473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21. RSSI = -55 dBm, Ширина полосы 20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-68.5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142406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22. RSSI = -56 dBm, Ширина полосы 40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-67.5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51808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23. RSSI = -57 dBm, Ширина полосы 80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-66.5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75066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24. RSSI = -58 dBm, Ширина полосы 160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-65.5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19635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25. RSSI = -59 dBm, Ширина полосы 20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-64.5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618924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1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2. </a:t>
            </a:r>
            <a:r>
              <a:rPr lang="ru-RU" dirty="0" smtClean="0"/>
              <a:t>Вычисление скорости </a:t>
            </a:r>
            <a:r>
              <a:rPr lang="en-US" dirty="0" err="1" smtClean="0"/>
              <a:t>WiFi</a:t>
            </a:r>
            <a:r>
              <a:rPr lang="ru-RU" dirty="0" smtClean="0"/>
              <a:t> соединений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57</a:t>
            </a:fld>
            <a:endParaRPr lang="ru-RU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646247"/>
              </p:ext>
            </p:extLst>
          </p:nvPr>
        </p:nvGraphicFramePr>
        <p:xfrm>
          <a:off x="1802252" y="1133214"/>
          <a:ext cx="8128000" cy="5562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72524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52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</a:t>
                      </a:r>
                      <a:r>
                        <a:rPr lang="ru-RU" baseline="0" dirty="0" smtClean="0"/>
                        <a:t> 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 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6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26. RSSI = -60 dBm, Ширина полосы 40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-63.5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958464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27. RSSI = -61 dBm, Ширина полосы 80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-62.5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20623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28. RSSI = -62 dBm, Ширина полосы 160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-61.5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77848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29. RSSI = -63 dBm, Ширина полосы 20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-60.5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1350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30. RSSI = -64 dBm, Ширина полосы 40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-59.5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04913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31. RSSI = -65 dBm, Ширина полосы 80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-58.5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9623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32. RSSI = -66 dBm, Ширина полосы 160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-57.5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0646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33. RSSI = -67 dBm, Ширина полосы 20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-56.5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2481524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34. RSSI = -68 dBm, Ширина полосы 40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-55.5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70473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35. RSSI = -69 dBm, Ширина полосы 80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-54.5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142406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36. RSSI = -70 dBm, Ширина полосы 160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-53.5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51808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37. RSSI = -71 dBm, Ширина полосы 20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-52.5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75066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38. RSSI = -72 dBm, Ширина полосы 40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-51.5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19635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39. RSSI = -73 dBm, Ширина полосы 80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-50.5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618924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4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2. </a:t>
            </a:r>
            <a:r>
              <a:rPr lang="ru-RU" dirty="0" smtClean="0"/>
              <a:t>Вычисление скорости </a:t>
            </a:r>
            <a:r>
              <a:rPr lang="en-US" dirty="0" err="1" smtClean="0"/>
              <a:t>WiFi</a:t>
            </a:r>
            <a:r>
              <a:rPr lang="ru-RU" dirty="0" smtClean="0"/>
              <a:t> соединений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58</a:t>
            </a:fld>
            <a:endParaRPr lang="ru-RU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848952"/>
              </p:ext>
            </p:extLst>
          </p:nvPr>
        </p:nvGraphicFramePr>
        <p:xfrm>
          <a:off x="1802252" y="1133214"/>
          <a:ext cx="8128000" cy="5562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72524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52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</a:t>
                      </a:r>
                      <a:r>
                        <a:rPr lang="ru-RU" baseline="0" dirty="0" smtClean="0"/>
                        <a:t> 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Устройство 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6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effectLst/>
                        </a:rPr>
                        <a:t>40. RSSI = -74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-49.5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958464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41. RSSI = -75 dBm, Ширина полосы 20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-48.5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20623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42. RSSI = -76 dBm, Ширина полосы 40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-47.5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77848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43. RSSI = -77 dBm, Ширина полосы 80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-46.5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21350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44. RSSI = -78 dBm, Ширина полосы 160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-45.5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04913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45. RSSI = -79 dBm, Ширина полосы 20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-44.5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9623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46. RSSI = -80 dBm, Ширина полосы 40 МГц, MIMO 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-43.5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0646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47. RSSI = -35.5 dBm, Ширина полосы 80 МГц, MIMO 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-42.5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40 МГц, MIMO 4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2481524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48. RSSI = -36.5 dBm, Ширина полосы 160 МГц, MIMO 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-41.5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20 МГц, MIMO 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170473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49. RSSI = -37.5 dBm, Ширина полосы 20 МГц, MIMO 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-40.5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160 МГц, MIMO 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4142406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50. RSSI = -38.5 dBm, Ширина полосы 40 МГц, MIMO 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</a:t>
                      </a:r>
                      <a:r>
                        <a:rPr lang="ru-RU" sz="1000" u="none" strike="noStrike" dirty="0">
                          <a:effectLst/>
                        </a:rPr>
                        <a:t>= -39.5 </a:t>
                      </a:r>
                      <a:r>
                        <a:rPr lang="ru-RU" sz="1000" u="none" strike="noStrike" dirty="0" err="1">
                          <a:effectLst/>
                        </a:rPr>
                        <a:t>dBm</a:t>
                      </a:r>
                      <a:r>
                        <a:rPr lang="ru-RU" sz="1000" u="none" strike="noStrike" dirty="0">
                          <a:effectLst/>
                        </a:rPr>
                        <a:t>, Ширина полосы 80 МГц, MIMO 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51808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51. RSSI = -39 </a:t>
                      </a:r>
                      <a:r>
                        <a:rPr lang="ru-RU" sz="1000" u="none" strike="noStrike" dirty="0" err="1" smtClean="0">
                          <a:effectLst/>
                        </a:rPr>
                        <a:t>dBm</a:t>
                      </a:r>
                      <a:r>
                        <a:rPr lang="ru-RU" sz="1000" u="none" strike="noStrike" dirty="0" smtClean="0">
                          <a:effectLst/>
                        </a:rPr>
                        <a:t>, Ширина полосы 160 МГц, MIMO 8</a:t>
                      </a:r>
                      <a:endParaRPr lang="ru-RU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= -72 </a:t>
                      </a:r>
                      <a:r>
                        <a:rPr lang="ru-RU" sz="1000" u="none" strike="noStrike" dirty="0" err="1" smtClean="0">
                          <a:effectLst/>
                        </a:rPr>
                        <a:t>dBm</a:t>
                      </a:r>
                      <a:r>
                        <a:rPr lang="ru-RU" sz="1000" u="none" strike="noStrike" dirty="0" smtClean="0">
                          <a:effectLst/>
                        </a:rPr>
                        <a:t>, Ширина полосы 160 МГц, MIMO 8</a:t>
                      </a:r>
                      <a:endParaRPr lang="ru-RU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75066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52. </a:t>
                      </a:r>
                      <a:r>
                        <a:rPr lang="ru-RU" sz="1000" u="none" strike="noStrike" dirty="0" smtClean="0">
                          <a:effectLst/>
                        </a:rPr>
                        <a:t>RSSI = </a:t>
                      </a:r>
                      <a:r>
                        <a:rPr lang="ru-RU" sz="1000" u="none" strike="noStrike" dirty="0" smtClean="0">
                          <a:effectLst/>
                        </a:rPr>
                        <a:t>-64 </a:t>
                      </a:r>
                      <a:r>
                        <a:rPr lang="ru-RU" sz="1000" u="none" strike="noStrike" dirty="0" err="1" smtClean="0">
                          <a:effectLst/>
                        </a:rPr>
                        <a:t>dBm</a:t>
                      </a:r>
                      <a:r>
                        <a:rPr lang="ru-RU" sz="1000" u="none" strike="noStrike" dirty="0" smtClean="0">
                          <a:effectLst/>
                        </a:rPr>
                        <a:t>, Ширина полосы </a:t>
                      </a:r>
                      <a:r>
                        <a:rPr lang="ru-RU" sz="1000" u="none" strike="noStrike" dirty="0" smtClean="0">
                          <a:effectLst/>
                        </a:rPr>
                        <a:t>40 </a:t>
                      </a:r>
                      <a:r>
                        <a:rPr lang="ru-RU" sz="1000" u="none" strike="noStrike" dirty="0" smtClean="0">
                          <a:effectLst/>
                        </a:rPr>
                        <a:t>МГц, MIMO </a:t>
                      </a:r>
                      <a:r>
                        <a:rPr lang="ru-RU" sz="1000" u="none" strike="noStrike" dirty="0" smtClean="0">
                          <a:effectLst/>
                        </a:rPr>
                        <a:t>2</a:t>
                      </a:r>
                      <a:endParaRPr lang="ru-RU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= </a:t>
                      </a:r>
                      <a:r>
                        <a:rPr lang="ru-RU" sz="1000" u="none" strike="noStrike" dirty="0" smtClean="0">
                          <a:effectLst/>
                        </a:rPr>
                        <a:t>-71 </a:t>
                      </a:r>
                      <a:r>
                        <a:rPr lang="ru-RU" sz="1000" u="none" strike="noStrike" dirty="0" err="1" smtClean="0">
                          <a:effectLst/>
                        </a:rPr>
                        <a:t>dBm</a:t>
                      </a:r>
                      <a:r>
                        <a:rPr lang="ru-RU" sz="1000" u="none" strike="noStrike" dirty="0" smtClean="0">
                          <a:effectLst/>
                        </a:rPr>
                        <a:t>, Ширина полосы </a:t>
                      </a:r>
                      <a:r>
                        <a:rPr lang="ru-RU" sz="1000" u="none" strike="noStrike" dirty="0" smtClean="0">
                          <a:effectLst/>
                        </a:rPr>
                        <a:t>20 </a:t>
                      </a:r>
                      <a:r>
                        <a:rPr lang="ru-RU" sz="1000" u="none" strike="noStrike" dirty="0" smtClean="0">
                          <a:effectLst/>
                        </a:rPr>
                        <a:t>МГц, MIMO 8</a:t>
                      </a:r>
                      <a:endParaRPr lang="ru-RU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19635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53. </a:t>
                      </a:r>
                      <a:r>
                        <a:rPr lang="ru-RU" sz="1000" u="none" strike="noStrike" dirty="0" smtClean="0">
                          <a:effectLst/>
                        </a:rPr>
                        <a:t>RSSI = </a:t>
                      </a:r>
                      <a:r>
                        <a:rPr lang="ru-RU" sz="1000" u="none" strike="noStrike" dirty="0" smtClean="0">
                          <a:effectLst/>
                        </a:rPr>
                        <a:t>-73 </a:t>
                      </a:r>
                      <a:r>
                        <a:rPr lang="ru-RU" sz="1000" u="none" strike="noStrike" dirty="0" err="1" smtClean="0">
                          <a:effectLst/>
                        </a:rPr>
                        <a:t>dBm</a:t>
                      </a:r>
                      <a:r>
                        <a:rPr lang="ru-RU" sz="1000" u="none" strike="noStrike" dirty="0" smtClean="0">
                          <a:effectLst/>
                        </a:rPr>
                        <a:t>, Ширина полосы </a:t>
                      </a:r>
                      <a:r>
                        <a:rPr lang="ru-RU" sz="1000" u="none" strike="noStrike" dirty="0" smtClean="0">
                          <a:effectLst/>
                        </a:rPr>
                        <a:t>80 </a:t>
                      </a:r>
                      <a:r>
                        <a:rPr lang="ru-RU" sz="1000" u="none" strike="noStrike" dirty="0" smtClean="0">
                          <a:effectLst/>
                        </a:rPr>
                        <a:t>МГц, MIMO </a:t>
                      </a:r>
                      <a:r>
                        <a:rPr lang="ru-RU" sz="1000" u="none" strike="noStrike" dirty="0" smtClean="0">
                          <a:effectLst/>
                        </a:rPr>
                        <a:t>4</a:t>
                      </a:r>
                      <a:endParaRPr lang="ru-RU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RSSI = </a:t>
                      </a:r>
                      <a:r>
                        <a:rPr lang="ru-RU" sz="1000" u="none" strike="noStrike" dirty="0" smtClean="0">
                          <a:effectLst/>
                        </a:rPr>
                        <a:t>-59 </a:t>
                      </a:r>
                      <a:r>
                        <a:rPr lang="ru-RU" sz="1000" u="none" strike="noStrike" dirty="0" err="1" smtClean="0">
                          <a:effectLst/>
                        </a:rPr>
                        <a:t>dBm</a:t>
                      </a:r>
                      <a:r>
                        <a:rPr lang="ru-RU" sz="1000" u="none" strike="noStrike" dirty="0" smtClean="0">
                          <a:effectLst/>
                        </a:rPr>
                        <a:t>, Ширина полосы </a:t>
                      </a:r>
                      <a:r>
                        <a:rPr lang="ru-RU" sz="1000" u="none" strike="noStrike" dirty="0" smtClean="0">
                          <a:effectLst/>
                        </a:rPr>
                        <a:t>40 </a:t>
                      </a:r>
                      <a:r>
                        <a:rPr lang="ru-RU" sz="1000" u="none" strike="noStrike" dirty="0" smtClean="0">
                          <a:effectLst/>
                        </a:rPr>
                        <a:t>МГц, MIMO </a:t>
                      </a:r>
                      <a:r>
                        <a:rPr lang="ru-RU" sz="1000" u="none" strike="noStrike" dirty="0" smtClean="0">
                          <a:effectLst/>
                        </a:rPr>
                        <a:t>4</a:t>
                      </a:r>
                      <a:endParaRPr lang="ru-RU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0013" marR="4763" marT="4763" marB="0" anchor="ctr"/>
                </a:tc>
                <a:extLst>
                  <a:ext uri="{0D108BD9-81ED-4DB2-BD59-A6C34878D82A}">
                    <a16:rowId xmlns:a16="http://schemas.microsoft.com/office/drawing/2014/main" val="3618924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08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</a:t>
            </a:r>
            <a:r>
              <a:rPr lang="ru-RU" dirty="0" smtClean="0"/>
              <a:t>3. Расчет времени передачи файлов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Сколько времени потребуется на передачу файла размером </a:t>
            </a:r>
            <a:r>
              <a:rPr lang="ru-RU" dirty="0" smtClean="0"/>
              <a:t>«А» </a:t>
            </a:r>
            <a:r>
              <a:rPr lang="ru-RU" dirty="0" err="1" smtClean="0"/>
              <a:t>МБайт</a:t>
            </a:r>
            <a:r>
              <a:rPr lang="ru-RU" dirty="0" smtClean="0"/>
              <a:t>, </a:t>
            </a:r>
            <a:r>
              <a:rPr lang="ru-RU" dirty="0"/>
              <a:t>при размере кадра канального уровня </a:t>
            </a:r>
            <a:r>
              <a:rPr lang="ru-RU" dirty="0" smtClean="0"/>
              <a:t>«</a:t>
            </a:r>
            <a:r>
              <a:rPr lang="en-US" dirty="0" smtClean="0"/>
              <a:t>B</a:t>
            </a:r>
            <a:r>
              <a:rPr lang="ru-RU" dirty="0" smtClean="0"/>
              <a:t>» </a:t>
            </a:r>
            <a:r>
              <a:rPr lang="ru-RU" dirty="0"/>
              <a:t>Байт и доле повторно передаваемых пакетов </a:t>
            </a:r>
            <a:r>
              <a:rPr lang="ru-RU" dirty="0" smtClean="0"/>
              <a:t>«С»/1000.</a:t>
            </a:r>
          </a:p>
          <a:p>
            <a:r>
              <a:rPr lang="ru-RU" dirty="0" smtClean="0"/>
              <a:t>В качестве протокола канального уровня используется </a:t>
            </a:r>
            <a:r>
              <a:rPr lang="en-US" dirty="0" smtClean="0"/>
              <a:t>Ethernet DIX</a:t>
            </a:r>
            <a:r>
              <a:rPr lang="ru-RU" dirty="0" smtClean="0"/>
              <a:t>, на сетевом уровне – </a:t>
            </a:r>
            <a:r>
              <a:rPr lang="en-US" dirty="0" smtClean="0"/>
              <a:t>IPv4</a:t>
            </a:r>
            <a:r>
              <a:rPr lang="ru-RU" dirty="0" smtClean="0"/>
              <a:t>, размеры заголовков транспортного и прикладного уровней вместе – 26 байт. Физический уровень 100</a:t>
            </a:r>
            <a:r>
              <a:rPr lang="en-US" dirty="0" err="1" smtClean="0"/>
              <a:t>BaseT</a:t>
            </a:r>
            <a:r>
              <a:rPr lang="ru-RU" smtClean="0"/>
              <a:t>.</a:t>
            </a:r>
            <a:endParaRPr lang="ru-RU" dirty="0" smtClean="0"/>
          </a:p>
          <a:p>
            <a:r>
              <a:rPr lang="ru-RU" dirty="0" smtClean="0"/>
              <a:t>Время на передачу одного пакета данных составляет 89 </a:t>
            </a:r>
            <a:r>
              <a:rPr lang="ru-RU" dirty="0" err="1" smtClean="0"/>
              <a:t>мс</a:t>
            </a:r>
            <a:r>
              <a:rPr lang="ru-RU" dirty="0" smtClean="0"/>
              <a:t>. Задержка при повторной передаче пакета составляет 300 </a:t>
            </a:r>
            <a:r>
              <a:rPr lang="ru-RU" dirty="0" err="1" smtClean="0"/>
              <a:t>мс</a:t>
            </a:r>
            <a:r>
              <a:rPr lang="ru-RU" dirty="0" smtClean="0"/>
              <a:t> без учета времени повторной передачи.</a:t>
            </a:r>
          </a:p>
          <a:p>
            <a:r>
              <a:rPr lang="ru-RU" dirty="0" smtClean="0"/>
              <a:t>Повторная передача осуществляется после передачи 1000/«С» пакетов с округлением в большую сторону до ближайшего целого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965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3. </a:t>
            </a:r>
            <a:r>
              <a:rPr lang="ru-RU" dirty="0" smtClean="0"/>
              <a:t>Расчет времени передачи файлов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60</a:t>
            </a:fld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numCol="3"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А = 73 Мбайт, В = 1247 Байт, С = 5.84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18 Мбайт, В = 312 Байт, С = 3.17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92 Мбайт, В = 1432 Байт, С = 8.26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5 Мбайт, В = 95 Байт, С = 1.45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64 Мбайт, В = 856 Байт, С = 7.63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37 Мбайт, В = 1189 Байт, С = 4.08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100 Мбайт, В = 80 Байт, С = 9.99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22 Мбайт, В = 450 Байт, С = 2.91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81 Мбайт, В = 1024 Байт, С = 6.72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46 Мбайт, В = 567 Байт, С = 5.11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29 Мбайт, В = 1321 Байт, С = 3.84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88 Мбайт, В = 777 Байт, С = 8.93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12 Мбайт, В = 200 Байт, С = 1.89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59 Мбайт, В = 1450 Байт, С = 7.05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33 Мбайт, В = 912 Байт, С = 4.62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77 Мбайт, В = 1056 Байт, С = 5.49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41 Мбайт, В = 638 Байт, С = 3.31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96 Мбайт, В = 1255 Байт, С = 9.17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7 Мбайт, В = 150 Байт, С = 2.12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54 Мбайт, В = 1421 Байт, С = 6.38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26 Мбайт, В = 385 Байт, С = 2.74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83 Мбайт, В = 988 Байт, С = 7.81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15 Мбайт, В = 267 Байт, С = 1.53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71 Мбайт, В = 1145 Байт, С = 8.44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38 Мбайт, В = 721 Байт, С = 4.97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90 Мбайт, В = 1367 Байт, С = 6.29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21 Мбайт, В = 502 Байт, С = 3.06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68 Мбайт, В = 1298 Байт, С = 5.67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44 Мбайт, В = 843 Байт, С = 7.12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99 Мбайт, В = 111 Байт, С = 9.02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 Мбайт, В = 135 Байт, С = 1.21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57 Мбайт, В = 967 Байт, С = 6.85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30 Мбайт, В = 622 Байт, С = 4.23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85 Мбайт, В = 1408 Байт, С = 8.67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19 Мбайт, В = 334 Байт, С = 2.58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62 Мбайт, В = 1234 Байт, С = 7.49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35 Мбайт, В = 755 Байт, С = 3.92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78 Мбайт, В = 1089 Байт, С = 5.33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47 Мбайт, В = 1428 Байт, С = 9.41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10 Мбайт, В = 178 Байт, С = 2.01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53 Мбайт, В = 1311 Байт, С = 6.14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24 Мбайт, В = 476 Байт, С = 3.69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87 Мбайт, В = 1195 Байт, С = 8.08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13 Мбайт, В = 233 Байт, С = 1.77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72 Мбайт, В = 1444 Байт, С = 7.96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39 Мбайт, В = 699 Байт, С = 4.45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94 Мбайт, В = 1266 Байт, С = 5.78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8 Мбайт, В = 167 Байт, С = 2.34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61 Мбайт, В = 1388 Байт, С = 9.63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28 Мбайт, В = 521 Байт, С = </a:t>
            </a:r>
            <a:r>
              <a:rPr lang="ru-RU" dirty="0" smtClean="0"/>
              <a:t>3.52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28 Мбайт, В = </a:t>
            </a:r>
            <a:r>
              <a:rPr lang="ru-RU" dirty="0" smtClean="0"/>
              <a:t>1042 </a:t>
            </a:r>
            <a:r>
              <a:rPr lang="ru-RU" dirty="0"/>
              <a:t>Байт, С = 3.52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</a:t>
            </a:r>
            <a:r>
              <a:rPr lang="ru-RU" dirty="0" smtClean="0"/>
              <a:t>35 </a:t>
            </a:r>
            <a:r>
              <a:rPr lang="ru-RU" dirty="0"/>
              <a:t>Мбайт, В = </a:t>
            </a:r>
            <a:r>
              <a:rPr lang="ru-RU" dirty="0" smtClean="0"/>
              <a:t>568 </a:t>
            </a:r>
            <a:r>
              <a:rPr lang="ru-RU" dirty="0"/>
              <a:t>Байт, С = </a:t>
            </a:r>
            <a:r>
              <a:rPr lang="ru-RU" dirty="0" smtClean="0"/>
              <a:t>1.45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</a:t>
            </a:r>
            <a:r>
              <a:rPr lang="ru-RU" dirty="0" smtClean="0"/>
              <a:t>86 </a:t>
            </a:r>
            <a:r>
              <a:rPr lang="ru-RU" dirty="0"/>
              <a:t>Мбайт, В = </a:t>
            </a:r>
            <a:r>
              <a:rPr lang="ru-RU" dirty="0" smtClean="0"/>
              <a:t>275 </a:t>
            </a:r>
            <a:r>
              <a:rPr lang="ru-RU" dirty="0"/>
              <a:t>Байт, С = </a:t>
            </a:r>
            <a:r>
              <a:rPr lang="ru-RU" dirty="0" smtClean="0"/>
              <a:t>8.67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 = 3</a:t>
            </a:r>
            <a:r>
              <a:rPr lang="ru-RU" dirty="0" smtClean="0"/>
              <a:t> </a:t>
            </a:r>
            <a:r>
              <a:rPr lang="ru-RU" dirty="0"/>
              <a:t>Мбайт, В = </a:t>
            </a:r>
            <a:r>
              <a:rPr lang="ru-RU" dirty="0" smtClean="0"/>
              <a:t>87 </a:t>
            </a:r>
            <a:r>
              <a:rPr lang="ru-RU" dirty="0"/>
              <a:t>Байт, С = </a:t>
            </a:r>
            <a:r>
              <a:rPr lang="ru-RU" dirty="0" smtClean="0"/>
              <a:t>0.79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88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5258</Words>
  <Application>Microsoft Office PowerPoint</Application>
  <PresentationFormat>Widescreen</PresentationFormat>
  <Paragraphs>1218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Microsoft YaHei</vt:lpstr>
      <vt:lpstr>Arial</vt:lpstr>
      <vt:lpstr>Arial Unicode MS</vt:lpstr>
      <vt:lpstr>Calibri</vt:lpstr>
      <vt:lpstr>Calibri Light</vt:lpstr>
      <vt:lpstr>Courier New</vt:lpstr>
      <vt:lpstr>PT Sans</vt:lpstr>
      <vt:lpstr>Times New Roman</vt:lpstr>
      <vt:lpstr>Wingdings</vt:lpstr>
      <vt:lpstr>Office Theme</vt:lpstr>
      <vt:lpstr>Сети ЭВМ и телекоммуникации компьютерных сетей</vt:lpstr>
      <vt:lpstr>Ограничения мостов и коммутаторов</vt:lpstr>
      <vt:lpstr>Адресация</vt:lpstr>
      <vt:lpstr>Составная сеть</vt:lpstr>
      <vt:lpstr>Инкапсуляция данных на передающей стороне</vt:lpstr>
      <vt:lpstr>Маршрутизаторы</vt:lpstr>
      <vt:lpstr>Маршрутизация</vt:lpstr>
      <vt:lpstr>Сетевой уровень. Выводы</vt:lpstr>
      <vt:lpstr>Адресация в IP-сетях</vt:lpstr>
      <vt:lpstr>IP- адреса.  Классы IP- сетей</vt:lpstr>
      <vt:lpstr>Диапазоны номеров сетей различных классов </vt:lpstr>
      <vt:lpstr>Специальные IP-адреса</vt:lpstr>
      <vt:lpstr>Распределение IP-адресов</vt:lpstr>
      <vt:lpstr>Вырожденная сеть</vt:lpstr>
      <vt:lpstr>Маски в IP-сетях</vt:lpstr>
      <vt:lpstr>Маска подсети</vt:lpstr>
      <vt:lpstr>Использование масок для структуризации сети</vt:lpstr>
      <vt:lpstr>Определение номера сети</vt:lpstr>
      <vt:lpstr>Бесклассовая адресация</vt:lpstr>
      <vt:lpstr>Длина префикса, значение маски  и число узлов подсети</vt:lpstr>
      <vt:lpstr>Маски разной длины</vt:lpstr>
      <vt:lpstr>Основные функции IP</vt:lpstr>
      <vt:lpstr>Формат IP-пакета версии IPv4</vt:lpstr>
      <vt:lpstr>Флаги TOS (Type Of Service)</vt:lpstr>
      <vt:lpstr>Другие типы приоритета</vt:lpstr>
      <vt:lpstr>Поле “Протокол”</vt:lpstr>
      <vt:lpstr>Демультиплексирование на различных уровнях </vt:lpstr>
      <vt:lpstr>Фрагментация IP-пакетов</vt:lpstr>
      <vt:lpstr>Фрагментация  пакета</vt:lpstr>
      <vt:lpstr>Поле TTL в заголовке IP пакета</vt:lpstr>
      <vt:lpstr>«Странные» IP-адреса</vt:lpstr>
      <vt:lpstr>ARP/RARP</vt:lpstr>
      <vt:lpstr>Формат пакета ARP/RARP/InARP</vt:lpstr>
      <vt:lpstr>ARP-таблица</vt:lpstr>
      <vt:lpstr>Сетевые интерфейсы</vt:lpstr>
      <vt:lpstr>Принципы маршрутизации</vt:lpstr>
      <vt:lpstr>Пример IP-маршрутизации без масок</vt:lpstr>
      <vt:lpstr>Продвижение пакетов в составной сети</vt:lpstr>
      <vt:lpstr>Маршрутизация с использованием масок</vt:lpstr>
      <vt:lpstr>Маршрутизация с использованием масок</vt:lpstr>
      <vt:lpstr>Порядок просмотра таблиц маршрутизации </vt:lpstr>
      <vt:lpstr>Пример таблицы маршрутизации с масками</vt:lpstr>
      <vt:lpstr>Список маршрутов</vt:lpstr>
      <vt:lpstr>Таблица маршрутизации конечного узла (OC Ubuntu)</vt:lpstr>
      <vt:lpstr>Классы протоколов сетевого уровня</vt:lpstr>
      <vt:lpstr>Протокол обмена управляющими сообщениями</vt:lpstr>
      <vt:lpstr>Типы и коды ICMP-сообщений (выборка)</vt:lpstr>
      <vt:lpstr>Практическое задание 1</vt:lpstr>
      <vt:lpstr>Задание 1. Исходную IP-сеть разделите на 5 подсетей с заданным числом адресов в подсетях </vt:lpstr>
      <vt:lpstr>Задание 1. Исходную IP-сеть разделите на 5 подсетей с заданным числом адресов в подсетях </vt:lpstr>
      <vt:lpstr>Задание 1. Исходную IP-сеть разделите на 5 подсетей с заданным числом адресов в подсетях </vt:lpstr>
      <vt:lpstr>Задание 1. Исходную IP-сеть разделите на 5 подсетей с заданным числом адресов в подсетях </vt:lpstr>
      <vt:lpstr>Задание 1. Исходную IP-сеть разделите на 5 подсетей с заданным числом адресов в подсетях </vt:lpstr>
      <vt:lpstr>Задание 2. Вычисление скорости WiFi соединений</vt:lpstr>
      <vt:lpstr>Задание 2. Вычисление скорости WiFi соединений</vt:lpstr>
      <vt:lpstr>Задание 2. Вычисление скорости WiFi соединений</vt:lpstr>
      <vt:lpstr>Задание 2. Вычисление скорости WiFi соединений</vt:lpstr>
      <vt:lpstr>Задание 2. Вычисление скорости WiFi соединений</vt:lpstr>
      <vt:lpstr>Задание 3. Расчет времени передачи файлов</vt:lpstr>
      <vt:lpstr>Задание 3. Расчет времени передачи файлов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ЭВМ и телекоммуникации компьютерных сетей</dc:title>
  <dc:creator>Владимир Мулюха</dc:creator>
  <cp:lastModifiedBy>Владимир Мулюха</cp:lastModifiedBy>
  <cp:revision>50</cp:revision>
  <dcterms:created xsi:type="dcterms:W3CDTF">2026-01-29T09:33:20Z</dcterms:created>
  <dcterms:modified xsi:type="dcterms:W3CDTF">2026-09-29T08:37:42Z</dcterms:modified>
</cp:coreProperties>
</file>