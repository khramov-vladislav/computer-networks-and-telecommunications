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sldIdLst>
    <p:sldId id="256" r:id="rId2"/>
    <p:sldId id="287" r:id="rId3"/>
    <p:sldId id="288" r:id="rId4"/>
    <p:sldId id="289" r:id="rId5"/>
    <p:sldId id="290" r:id="rId6"/>
    <p:sldId id="291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299" r:id="rId15"/>
    <p:sldId id="300" r:id="rId16"/>
    <p:sldId id="301" r:id="rId17"/>
    <p:sldId id="303" r:id="rId18"/>
    <p:sldId id="304" r:id="rId19"/>
    <p:sldId id="305" r:id="rId20"/>
    <p:sldId id="306" r:id="rId21"/>
    <p:sldId id="307" r:id="rId22"/>
    <p:sldId id="308" r:id="rId23"/>
    <p:sldId id="309" r:id="rId24"/>
    <p:sldId id="310" r:id="rId25"/>
    <p:sldId id="311" r:id="rId26"/>
    <p:sldId id="312" r:id="rId27"/>
    <p:sldId id="313" r:id="rId28"/>
    <p:sldId id="314" r:id="rId29"/>
    <p:sldId id="315" r:id="rId30"/>
    <p:sldId id="317" r:id="rId31"/>
    <p:sldId id="318" r:id="rId32"/>
    <p:sldId id="319" r:id="rId33"/>
    <p:sldId id="320" r:id="rId34"/>
    <p:sldId id="321" r:id="rId35"/>
    <p:sldId id="322" r:id="rId36"/>
    <p:sldId id="323" r:id="rId37"/>
    <p:sldId id="324" r:id="rId38"/>
    <p:sldId id="325" r:id="rId39"/>
    <p:sldId id="326" r:id="rId40"/>
    <p:sldId id="327" r:id="rId41"/>
    <p:sldId id="328" r:id="rId42"/>
    <p:sldId id="329" r:id="rId43"/>
    <p:sldId id="331" r:id="rId44"/>
    <p:sldId id="332" r:id="rId45"/>
    <p:sldId id="333" r:id="rId46"/>
    <p:sldId id="334" r:id="rId47"/>
    <p:sldId id="335" r:id="rId48"/>
    <p:sldId id="336" r:id="rId49"/>
    <p:sldId id="337" r:id="rId50"/>
    <p:sldId id="338" r:id="rId51"/>
    <p:sldId id="330" r:id="rId52"/>
    <p:sldId id="339" r:id="rId53"/>
    <p:sldId id="340" r:id="rId54"/>
    <p:sldId id="341" r:id="rId55"/>
    <p:sldId id="342" r:id="rId56"/>
    <p:sldId id="343" r:id="rId57"/>
    <p:sldId id="344" r:id="rId5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4" d="100"/>
          <a:sy n="104" d="100"/>
        </p:scale>
        <p:origin x="759" y="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E8D14A-A2BF-4D2C-97B1-47523DF8FA26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326E42-DDF8-4127-B88A-D6D5427490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2722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91%D0%B8%D1%82" TargetMode="External"/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Метод прямой последовательности (DSSS) можно представить себе следующим образом. Вся используемая «широкая» полоса частот делится на некоторое число подканалов — по стандарту 802.11 этих подканалов 11. Каждый передаваемый бит информации превращается, по заранее зафиксированному алгоритму, в последовательность из 11 бит, и эти 11 бит передаются одновременно и параллельно, используя все 11 подканалов. При приеме, полученная последовательность бит декодируется с использованием того же алгоритма, что и при её кодировке. Другая пара приемник-передатчик может использовать другой алгоритм кодировки — </a:t>
            </a:r>
            <a:r>
              <a:rPr lang="ru-RU" dirty="0" err="1"/>
              <a:t>декодировки</a:t>
            </a:r>
            <a:r>
              <a:rPr lang="ru-RU" dirty="0"/>
              <a:t>, и таких различных алгоритмов может быть очень много.</a:t>
            </a:r>
          </a:p>
          <a:p>
            <a:r>
              <a:rPr lang="ru-RU" dirty="0"/>
              <a:t>При этом сильно уменьшается отношение уровня передаваемого сигнала к уровню шума, (то есть случайных или преднамеренных помех), так что передаваемый сигнал уже как бы неразличим в общем шуме. Но благодаря его 11-кратной избыточности принимающее устройство все же сумеет его распознать.</a:t>
            </a:r>
          </a:p>
          <a:p>
            <a:r>
              <a:rPr lang="ru-RU" dirty="0"/>
              <a:t>В каждый передаваемый информационный </a:t>
            </a:r>
            <a:r>
              <a:rPr lang="ru-RU" dirty="0">
                <a:hlinkClick r:id="rId3" tooltip="Бит"/>
              </a:rPr>
              <a:t>бит</a:t>
            </a:r>
            <a:r>
              <a:rPr lang="ru-RU" dirty="0"/>
              <a:t> (логический 0 или 1) встраивается последовательность так называемых чипов.</a:t>
            </a:r>
          </a:p>
          <a:p>
            <a:r>
              <a:rPr lang="ru-RU" dirty="0"/>
              <a:t>Чиповые последовательности, встраиваемые в информационные биты, называют </a:t>
            </a:r>
            <a:r>
              <a:rPr lang="ru-RU" dirty="0" err="1"/>
              <a:t>шумоподобными</a:t>
            </a:r>
            <a:r>
              <a:rPr lang="ru-RU" dirty="0"/>
              <a:t> кодами (PN-последовательности), что подчеркивает то обстоятельство, что результирующий сигнал становится </a:t>
            </a:r>
            <a:r>
              <a:rPr lang="ru-RU" dirty="0" err="1"/>
              <a:t>шумоподобным</a:t>
            </a:r>
            <a:r>
              <a:rPr lang="ru-RU" dirty="0"/>
              <a:t> и его трудно отличить от естественного шума.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4A7856-9170-C642-98B0-85246FD9BFF3}" type="slidenum">
              <a:rPr lang="ru-RU" smtClean="0"/>
              <a:pPr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67063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4A7856-9170-C642-98B0-85246FD9BFF3}" type="slidenum">
              <a:rPr lang="ru-RU" smtClean="0"/>
              <a:pPr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36592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4A7856-9170-C642-98B0-85246FD9BFF3}" type="slidenum">
              <a:rPr lang="ru-RU" smtClean="0"/>
              <a:pPr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8919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4A7856-9170-C642-98B0-85246FD9BFF3}" type="slidenum">
              <a:rPr lang="ru-RU" smtClean="0"/>
              <a:pPr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69525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4A7856-9170-C642-98B0-85246FD9BFF3}" type="slidenum">
              <a:rPr lang="ru-RU" smtClean="0"/>
              <a:pPr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26015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В технологии MIMO применяются несколько антенн различного рода, настроенных на одном и том же канале. Каждая антенна передает сигнал с различными пространственными характеристиками. Таким образом, технология MIMO использует спектр радиоволн более эффективно и без ущерба для надежности работы. Каждый </a:t>
            </a:r>
            <a:r>
              <a:rPr lang="ru-RU" dirty="0" err="1">
                <a:effectLst/>
              </a:rPr>
              <a:t>wi-fi</a:t>
            </a:r>
            <a:r>
              <a:rPr lang="ru-RU" dirty="0">
                <a:effectLst/>
              </a:rPr>
              <a:t> приемник «прислушивается» ко всем сигналам от каждого </a:t>
            </a:r>
            <a:r>
              <a:rPr lang="ru-RU" dirty="0" err="1">
                <a:effectLst/>
              </a:rPr>
              <a:t>wifi</a:t>
            </a:r>
            <a:r>
              <a:rPr lang="ru-RU" dirty="0">
                <a:effectLst/>
              </a:rPr>
              <a:t> передатчика, что позволяет делать пути передачи данных более разнообразными. Таким образом, несколько путей могут быть </a:t>
            </a:r>
            <a:r>
              <a:rPr lang="ru-RU" dirty="0" err="1">
                <a:effectLst/>
              </a:rPr>
              <a:t>перекомбинированы</a:t>
            </a:r>
            <a:r>
              <a:rPr lang="ru-RU" dirty="0">
                <a:effectLst/>
              </a:rPr>
              <a:t>, что приведет к усилению требуемых сигналов в беспроводных сетях.</a:t>
            </a:r>
          </a:p>
          <a:p>
            <a:r>
              <a:rPr lang="ru-RU" dirty="0">
                <a:effectLst/>
              </a:rPr>
              <a:t>Еще один плюс технологии MIMO в том, что данная технология обеспечивает пространственное деление мультиплексирования (</a:t>
            </a:r>
            <a:r>
              <a:rPr lang="ru-RU" dirty="0" err="1">
                <a:effectLst/>
              </a:rPr>
              <a:t>Spatial</a:t>
            </a:r>
            <a:r>
              <a:rPr lang="ru-RU" dirty="0">
                <a:effectLst/>
              </a:rPr>
              <a:t> </a:t>
            </a:r>
            <a:r>
              <a:rPr lang="ru-RU" dirty="0" err="1">
                <a:effectLst/>
              </a:rPr>
              <a:t>Division</a:t>
            </a:r>
            <a:r>
              <a:rPr lang="ru-RU" dirty="0">
                <a:effectLst/>
              </a:rPr>
              <a:t> </a:t>
            </a:r>
            <a:r>
              <a:rPr lang="ru-RU" dirty="0" err="1">
                <a:effectLst/>
              </a:rPr>
              <a:t>Multiplexing</a:t>
            </a:r>
            <a:r>
              <a:rPr lang="ru-RU" dirty="0">
                <a:effectLst/>
              </a:rPr>
              <a:t> (SDM)). SDM </a:t>
            </a:r>
            <a:r>
              <a:rPr lang="ru-RU" dirty="0" err="1">
                <a:effectLst/>
              </a:rPr>
              <a:t>пространственно</a:t>
            </a:r>
            <a:r>
              <a:rPr lang="ru-RU" dirty="0">
                <a:effectLst/>
              </a:rPr>
              <a:t> уплотняет несколько независимых потоков данных одновременно (в основном, виртуальных каналов) внутри одной спектральной полосы пропускания канала. В сущности, несколько антенн передают различные потоки данных с индивидуальной кодировкой сигналов (пространственные потоки). Эти потоки, двигаясь параллельно по воздуху «пропихивают» больше данных по заданному каналу. На приемнике каждая антенна видит разные сочетания сигнальных потоков и приемник «</a:t>
            </a:r>
            <a:r>
              <a:rPr lang="ru-RU" dirty="0" err="1">
                <a:effectLst/>
              </a:rPr>
              <a:t>демултиплексирует</a:t>
            </a:r>
            <a:r>
              <a:rPr lang="ru-RU" dirty="0">
                <a:effectLst/>
              </a:rPr>
              <a:t>» эти потоки для их использования. MIMO SDM может значительно увеличить пропускную способность для передачи данных, если увеличить число пространственных потоков данных. Каждому пространственному потоку необходимы свои собственные передающие / принимающие (TX / RX) антенные пары на каждом конце передачи.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4A7856-9170-C642-98B0-85246FD9BFF3}" type="slidenum">
              <a:rPr lang="ru-RU" smtClean="0"/>
              <a:pPr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65454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4A7856-9170-C642-98B0-85246FD9BFF3}" type="slidenum">
              <a:rPr lang="ru-RU" smtClean="0"/>
              <a:pPr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63197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Preamble</a:t>
            </a:r>
            <a:r>
              <a:rPr lang="ru-RU" dirty="0"/>
              <a:t> (Преамбула): Определяет длину блока контроля при помощи циклического избыточного кода (CRC), используемого при обмене данными между маршрутизатором и беспроводными клиентами. Преамбула состоит из полей </a:t>
            </a:r>
            <a:r>
              <a:rPr lang="ru-RU" dirty="0" err="1"/>
              <a:t>Synchronization</a:t>
            </a:r>
            <a:r>
              <a:rPr lang="ru-RU" dirty="0"/>
              <a:t> (Синхронизация) и </a:t>
            </a:r>
            <a:r>
              <a:rPr lang="ru-RU" dirty="0" err="1"/>
              <a:t>Start</a:t>
            </a:r>
            <a:r>
              <a:rPr lang="ru-RU" dirty="0"/>
              <a:t> </a:t>
            </a:r>
            <a:r>
              <a:rPr lang="ru-RU" dirty="0" err="1"/>
              <a:t>Frame</a:t>
            </a:r>
            <a:r>
              <a:rPr lang="ru-RU" dirty="0"/>
              <a:t> </a:t>
            </a:r>
            <a:r>
              <a:rPr lang="ru-RU" dirty="0" err="1"/>
              <a:t>Delimiter</a:t>
            </a:r>
            <a:r>
              <a:rPr lang="ru-RU" dirty="0"/>
              <a:t> (SFD) (Начальный ограничитель фрейма (SFD)). Поле синхронизации используется для указания необходимости доставки фрейма на беспроводную станцию, измерения частоты радиосигнала и выполнения необходимых корректировок. Поле SFD, стоящее в конце преамбулы, используется для отметки начала фрейма. </a:t>
            </a:r>
            <a:endParaRPr lang="en-US" dirty="0"/>
          </a:p>
          <a:p>
            <a:endParaRPr lang="en-US" dirty="0"/>
          </a:p>
          <a:p>
            <a:r>
              <a:rPr lang="ru-RU" dirty="0"/>
              <a:t>Заголовок PLCP состоит из четырех подполей:</a:t>
            </a:r>
          </a:p>
          <a:p>
            <a:r>
              <a:rPr lang="ru-RU" dirty="0"/>
              <a:t>Подполе </a:t>
            </a:r>
            <a:r>
              <a:rPr lang="ru-RU" dirty="0" err="1"/>
              <a:t>Signal</a:t>
            </a:r>
            <a:r>
              <a:rPr lang="ru-RU" dirty="0"/>
              <a:t> шириной 8 бит, указывающее тип модуляции и скорость передачи для данного фрейма.</a:t>
            </a:r>
          </a:p>
          <a:p>
            <a:r>
              <a:rPr lang="ru-RU" dirty="0"/>
              <a:t>Подполе </a:t>
            </a:r>
            <a:r>
              <a:rPr lang="ru-RU" dirty="0" err="1"/>
              <a:t>Service</a:t>
            </a:r>
            <a:r>
              <a:rPr lang="ru-RU" dirty="0"/>
              <a:t> шириной 8 бит зарезервировано. Это означает, что во время разработки спецификации стандарта оно осталось неопределенным; предполагается, что оно пригодится в будущих модификациях стандарта.</a:t>
            </a:r>
          </a:p>
          <a:p>
            <a:r>
              <a:rPr lang="ru-RU" dirty="0"/>
              <a:t>Подполе </a:t>
            </a:r>
            <a:r>
              <a:rPr lang="ru-RU" dirty="0" err="1"/>
              <a:t>Length</a:t>
            </a:r>
            <a:r>
              <a:rPr lang="ru-RU" dirty="0"/>
              <a:t> шириной 16 бит, указывающее количество микросекунд (из диапазона 16-216), необходимое для передачи части MAC-фрейма.</a:t>
            </a:r>
          </a:p>
          <a:p>
            <a:r>
              <a:rPr lang="ru-RU" dirty="0"/>
              <a:t>Подполе CRC. 16-битная контрольная сумма.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4A7856-9170-C642-98B0-85246FD9BFF3}" type="slidenum">
              <a:rPr lang="ru-RU" smtClean="0"/>
              <a:pPr/>
              <a:t>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14666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Вместо подтверждения на каждый пакет</a:t>
            </a:r>
            <a:r>
              <a:rPr lang="ru-RU" baseline="0" dirty="0"/>
              <a:t> высылается сразу подтверждающая таблица на 16 на 64 бит.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4A7856-9170-C642-98B0-85246FD9BFF3}" type="slidenum">
              <a:rPr lang="ru-RU" smtClean="0"/>
              <a:pPr/>
              <a:t>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13187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Повышение эффективности передачи</a:t>
            </a:r>
            <a:r>
              <a:rPr lang="ru-RU" baseline="0" dirty="0"/>
              <a:t> за счет увеличения размеров пакетов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4A7856-9170-C642-98B0-85246FD9BFF3}" type="slidenum">
              <a:rPr lang="ru-RU" smtClean="0"/>
              <a:pPr/>
              <a:t>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779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3404" y="2055224"/>
            <a:ext cx="7541623" cy="160278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 smtClean="0"/>
              <a:t>Click to edit Master title style</a:t>
            </a:r>
            <a:endParaRPr lang="ru-R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3404" y="3750085"/>
            <a:ext cx="7541623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ru-RU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960FA-70EF-4CD3-89A3-57483281B23F}" type="datetime1">
              <a:rPr lang="ru-RU" smtClean="0"/>
              <a:t>03.02.2026</a:t>
            </a:fld>
            <a:endParaRPr lang="ru-RU"/>
          </a:p>
        </p:txBody>
      </p:sp>
      <p:pic>
        <p:nvPicPr>
          <p:cNvPr id="1028" name="Picture 4" descr="https://habrastorage.org/getpro/habr/post_images/f0b/a0e/c89/f0ba0ec89f55b3982050105920980c70.jpg"/>
          <p:cNvPicPr>
            <a:picLocks noChangeAspect="1" noChangeArrowheads="1"/>
          </p:cNvPicPr>
          <p:nvPr userDrawn="1"/>
        </p:nvPicPr>
        <p:blipFill rotWithShape="1"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/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706" r="14873"/>
          <a:stretch/>
        </p:blipFill>
        <p:spPr bwMode="auto">
          <a:xfrm flipH="1">
            <a:off x="9336069" y="478970"/>
            <a:ext cx="2585962" cy="575636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softEdge rad="127000"/>
          </a:effectLst>
        </p:spPr>
      </p:pic>
      <p:pic>
        <p:nvPicPr>
          <p:cNvPr id="1030" name="Picture 6" descr="https://www.spbstu.ru/upload/branding/logo_01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514"/>
            <a:ext cx="5235031" cy="1968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8094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7909" y="0"/>
            <a:ext cx="10125891" cy="1087927"/>
          </a:xfrm>
        </p:spPr>
        <p:txBody>
          <a:bodyPr>
            <a:normAutofit/>
          </a:bodyPr>
          <a:lstStyle>
            <a:lvl1pPr>
              <a:defRPr sz="3200" b="0"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383" y="1271451"/>
            <a:ext cx="11747863" cy="5355772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53800" y="0"/>
            <a:ext cx="838200" cy="1087927"/>
          </a:xfrm>
        </p:spPr>
        <p:txBody>
          <a:bodyPr/>
          <a:lstStyle>
            <a:lvl1pPr algn="l">
              <a:defRPr sz="2800">
                <a:solidFill>
                  <a:schemeClr val="tx1"/>
                </a:solidFill>
              </a:defRPr>
            </a:lvl1pPr>
          </a:lstStyle>
          <a:p>
            <a:fld id="{7B1085B8-078E-46E9-8900-DD1294968094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2050" name="Picture 2" descr="https://www.spbstu.ru/upload/branding/logo_03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7909" cy="1087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/>
          <p:cNvCxnSpPr/>
          <p:nvPr userDrawn="1"/>
        </p:nvCxnSpPr>
        <p:spPr>
          <a:xfrm>
            <a:off x="113211" y="1087927"/>
            <a:ext cx="11922035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9909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8F1F6-3B01-4815-8B35-A2FA67A63612}" type="datetime1">
              <a:rPr lang="ru-RU" smtClean="0"/>
              <a:t>03.02.2026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1085B8-078E-46E9-8900-DD12949680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0535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4000" dirty="0" smtClean="0"/>
              <a:t>Сети ЭВМ и телекоммуникации компьютерных сетей</a:t>
            </a:r>
            <a:endParaRPr lang="ru-RU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Лекция </a:t>
            </a:r>
            <a:r>
              <a:rPr lang="ru-RU" dirty="0" smtClean="0"/>
              <a:t>2: Канальный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51317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Канал (звено передачи данных)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87384" y="1271451"/>
            <a:ext cx="4863584" cy="5355772"/>
          </a:xfrm>
        </p:spPr>
        <p:txBody>
          <a:bodyPr>
            <a:normAutofit/>
          </a:bodyPr>
          <a:lstStyle/>
          <a:p>
            <a:r>
              <a:rPr lang="ru-RU" dirty="0"/>
              <a:t>Пропускная способность</a:t>
            </a:r>
          </a:p>
          <a:p>
            <a:r>
              <a:rPr lang="ru-RU" dirty="0"/>
              <a:t>Порядок следования битов</a:t>
            </a:r>
          </a:p>
          <a:p>
            <a:r>
              <a:rPr lang="ru-RU" dirty="0"/>
              <a:t>Наличие ошибок</a:t>
            </a:r>
          </a:p>
          <a:p>
            <a:r>
              <a:rPr lang="ru-RU" dirty="0"/>
              <a:t>Время распространения ≠ 0</a:t>
            </a:r>
          </a:p>
          <a:p>
            <a:r>
              <a:rPr lang="ru-RU" dirty="0"/>
              <a:t>Управление доступом к среде передачи</a:t>
            </a:r>
          </a:p>
          <a:p>
            <a:pPr marL="0" indent="0">
              <a:buNone/>
            </a:pPr>
            <a:r>
              <a:rPr lang="ru-RU" dirty="0" smtClean="0">
                <a:solidFill>
                  <a:srgbClr val="276D3F"/>
                </a:solidFill>
              </a:rPr>
              <a:t>“</a:t>
            </a:r>
            <a:r>
              <a:rPr lang="ru-RU" dirty="0">
                <a:solidFill>
                  <a:srgbClr val="276D3F"/>
                </a:solidFill>
              </a:rPr>
              <a:t>Локальность” протоколов </a:t>
            </a:r>
            <a:r>
              <a:rPr lang="ru-RU" dirty="0" smtClean="0">
                <a:solidFill>
                  <a:srgbClr val="276D3F"/>
                </a:solidFill>
              </a:rPr>
              <a:t>канального </a:t>
            </a:r>
            <a:r>
              <a:rPr lang="ru-RU" dirty="0" smtClean="0">
                <a:solidFill>
                  <a:srgbClr val="276D3F"/>
                </a:solidFill>
              </a:rPr>
              <a:t>уровня</a:t>
            </a:r>
            <a:endParaRPr lang="ru-RU" dirty="0">
              <a:solidFill>
                <a:srgbClr val="276D3F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2</a:t>
            </a:fld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9063" y="1746091"/>
            <a:ext cx="6796184" cy="4613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483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Функции канального уровня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Доставка кадра узлу назначения в сети определенной технологии</a:t>
            </a:r>
          </a:p>
          <a:p>
            <a:r>
              <a:rPr lang="ru-RU" dirty="0" smtClean="0"/>
              <a:t>Интерфейс </a:t>
            </a:r>
            <a:r>
              <a:rPr lang="ru-RU" dirty="0"/>
              <a:t>с сетевым и физическим уровнем</a:t>
            </a:r>
          </a:p>
          <a:p>
            <a:r>
              <a:rPr lang="ru-RU" dirty="0" smtClean="0"/>
              <a:t>Адресация   </a:t>
            </a:r>
            <a:endParaRPr lang="ru-RU" dirty="0"/>
          </a:p>
          <a:p>
            <a:r>
              <a:rPr lang="ru-RU" dirty="0" smtClean="0"/>
              <a:t>Преобразование  </a:t>
            </a:r>
            <a:r>
              <a:rPr lang="ru-RU" dirty="0"/>
              <a:t>“Биты  –  Кадры”</a:t>
            </a:r>
          </a:p>
          <a:p>
            <a:r>
              <a:rPr lang="ru-RU" dirty="0" smtClean="0"/>
              <a:t>Синхронизация </a:t>
            </a:r>
            <a:r>
              <a:rPr lang="ru-RU" dirty="0"/>
              <a:t>кадров  </a:t>
            </a:r>
          </a:p>
          <a:p>
            <a:r>
              <a:rPr lang="ru-RU" dirty="0" smtClean="0"/>
              <a:t>Обработка </a:t>
            </a:r>
            <a:r>
              <a:rPr lang="ru-RU" dirty="0"/>
              <a:t>(обнаружение и коррекция) ошибок</a:t>
            </a:r>
          </a:p>
          <a:p>
            <a:r>
              <a:rPr lang="ru-RU" dirty="0" smtClean="0"/>
              <a:t>Управление </a:t>
            </a:r>
            <a:r>
              <a:rPr lang="ru-RU" dirty="0"/>
              <a:t>потоком</a:t>
            </a:r>
          </a:p>
          <a:p>
            <a:r>
              <a:rPr lang="ru-RU" dirty="0" smtClean="0"/>
              <a:t>Управление </a:t>
            </a:r>
            <a:r>
              <a:rPr lang="ru-RU" dirty="0"/>
              <a:t>доступом к среде</a:t>
            </a:r>
          </a:p>
          <a:p>
            <a:endParaRPr lang="ru-RU" dirty="0"/>
          </a:p>
          <a:p>
            <a:r>
              <a:rPr lang="ru-RU" dirty="0"/>
              <a:t>Сети ЭВМ: DLL – РС, коммутаторы, маршрутизаторы, мосты</a:t>
            </a:r>
          </a:p>
          <a:p>
            <a:r>
              <a:rPr lang="ru-RU" dirty="0"/>
              <a:t>PC:  DLL  -  драйвер, сетевая карта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87878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Области действия и функции </a:t>
            </a:r>
            <a:r>
              <a:rPr lang="ru-RU" dirty="0" smtClean="0"/>
              <a:t>DLL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b="1" dirty="0">
                <a:solidFill>
                  <a:srgbClr val="276D3F"/>
                </a:solidFill>
              </a:rPr>
              <a:t>Локальные сети: Доставка кадра между любыми узлами сети. </a:t>
            </a:r>
          </a:p>
          <a:p>
            <a:pPr marL="0" indent="0">
              <a:buNone/>
            </a:pPr>
            <a:r>
              <a:rPr lang="ru-RU" dirty="0"/>
              <a:t>Топология – без петель, адресация, один формат адреса, управление доступом, подуровни LLC, MAC (</a:t>
            </a:r>
            <a:r>
              <a:rPr lang="ru-RU" dirty="0" err="1"/>
              <a:t>Ethernet</a:t>
            </a:r>
            <a:r>
              <a:rPr lang="ru-RU" dirty="0"/>
              <a:t>, FDDI, </a:t>
            </a:r>
            <a:r>
              <a:rPr lang="ru-RU" dirty="0" err="1"/>
              <a:t>Token</a:t>
            </a:r>
            <a:r>
              <a:rPr lang="ru-RU" dirty="0"/>
              <a:t> </a:t>
            </a:r>
            <a:r>
              <a:rPr lang="ru-RU" dirty="0" err="1"/>
              <a:t>Ring</a:t>
            </a:r>
            <a:r>
              <a:rPr lang="ru-RU" dirty="0"/>
              <a:t>…)</a:t>
            </a:r>
          </a:p>
          <a:p>
            <a:r>
              <a:rPr lang="ru-RU" b="1" dirty="0">
                <a:solidFill>
                  <a:srgbClr val="276D3F"/>
                </a:solidFill>
              </a:rPr>
              <a:t>Глобальные сети: Доставка кадра между соседними узлами, соединенными индивидуальной ЛС. </a:t>
            </a:r>
          </a:p>
          <a:p>
            <a:pPr marL="0" indent="0">
              <a:buNone/>
            </a:pPr>
            <a:r>
              <a:rPr lang="ru-RU" dirty="0"/>
              <a:t>Связи ”точка-точка”, адресация не нужна, возможны искажения, обработка ошибок (PPP, HDLC). Для связи ЛВС между собой – сетевой уровень. </a:t>
            </a:r>
          </a:p>
          <a:p>
            <a:endParaRPr lang="ru-RU" dirty="0" smtClean="0"/>
          </a:p>
          <a:p>
            <a:pPr marL="0" indent="0">
              <a:buNone/>
            </a:pPr>
            <a:r>
              <a:rPr lang="ru-RU" b="1" dirty="0">
                <a:solidFill>
                  <a:srgbClr val="276D3F"/>
                </a:solidFill>
              </a:rPr>
              <a:t>Особенности:</a:t>
            </a:r>
          </a:p>
          <a:p>
            <a:r>
              <a:rPr lang="ru-RU" dirty="0" smtClean="0"/>
              <a:t>Синхронизация </a:t>
            </a:r>
            <a:r>
              <a:rPr lang="ru-RU" dirty="0"/>
              <a:t>битов, байтов, кадров (биты - </a:t>
            </a:r>
            <a:r>
              <a:rPr lang="ru-RU" dirty="0" err="1"/>
              <a:t>Phy</a:t>
            </a:r>
            <a:r>
              <a:rPr lang="ru-RU" dirty="0"/>
              <a:t>)</a:t>
            </a:r>
          </a:p>
          <a:p>
            <a:r>
              <a:rPr lang="ru-RU" dirty="0" err="1"/>
              <a:t>Max</a:t>
            </a:r>
            <a:r>
              <a:rPr lang="ru-RU" dirty="0"/>
              <a:t>. длина </a:t>
            </a:r>
            <a:r>
              <a:rPr lang="ru-RU" dirty="0" smtClean="0"/>
              <a:t>(</a:t>
            </a:r>
            <a:r>
              <a:rPr lang="ru-RU" dirty="0"/>
              <a:t>MTU), Мин. длина поля </a:t>
            </a:r>
            <a:r>
              <a:rPr lang="ru-RU" dirty="0" smtClean="0"/>
              <a:t>данных</a:t>
            </a:r>
            <a:endParaRPr lang="ru-RU" dirty="0"/>
          </a:p>
          <a:p>
            <a:endParaRPr lang="ru-RU" dirty="0"/>
          </a:p>
          <a:p>
            <a:pPr marL="0" indent="0">
              <a:buNone/>
            </a:pPr>
            <a:r>
              <a:rPr lang="ru-RU" b="1" dirty="0">
                <a:solidFill>
                  <a:srgbClr val="276D3F"/>
                </a:solidFill>
              </a:rPr>
              <a:t>DLL — Бит-ориентированные синхронные протоколы. </a:t>
            </a:r>
          </a:p>
          <a:p>
            <a:r>
              <a:rPr lang="ru-RU" dirty="0"/>
              <a:t>     Все биты кадра – в непрерывном синхронном потоке.</a:t>
            </a:r>
          </a:p>
          <a:p>
            <a:r>
              <a:rPr lang="ru-RU" dirty="0"/>
              <a:t>     Скорость. Самосинхронизирующиеся коды. </a:t>
            </a:r>
          </a:p>
          <a:p>
            <a:r>
              <a:rPr lang="ru-RU" dirty="0"/>
              <a:t>     Различное определение границ кадра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6151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Инкапсуляция пакетов в </a:t>
            </a:r>
            <a:r>
              <a:rPr lang="ru-RU" dirty="0" smtClean="0"/>
              <a:t>кадры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ru-RU" sz="2400" dirty="0"/>
          </a:p>
          <a:p>
            <a:endParaRPr lang="ru-RU" dirty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sz="900" dirty="0"/>
          </a:p>
          <a:p>
            <a:r>
              <a:rPr lang="en-US" b="1" dirty="0" smtClean="0">
                <a:solidFill>
                  <a:srgbClr val="276D3F"/>
                </a:solidFill>
              </a:rPr>
              <a:t>Ethernet </a:t>
            </a:r>
            <a:r>
              <a:rPr lang="ru-RU" b="1" dirty="0">
                <a:solidFill>
                  <a:srgbClr val="276D3F"/>
                </a:solidFill>
              </a:rPr>
              <a:t>инкапсуляция (</a:t>
            </a:r>
            <a:r>
              <a:rPr lang="en-US" b="1" dirty="0">
                <a:solidFill>
                  <a:srgbClr val="276D3F"/>
                </a:solidFill>
              </a:rPr>
              <a:t>RFC 894):</a:t>
            </a:r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/>
          </a:p>
          <a:p>
            <a:r>
              <a:rPr lang="ru-RU" altLang="ru-RU" dirty="0">
                <a:solidFill>
                  <a:srgbClr val="000000"/>
                </a:solidFill>
              </a:rPr>
              <a:t>Адреса </a:t>
            </a:r>
            <a:r>
              <a:rPr lang="en-US" altLang="ru-RU" dirty="0">
                <a:solidFill>
                  <a:srgbClr val="000000"/>
                </a:solidFill>
              </a:rPr>
              <a:t>DLL </a:t>
            </a:r>
            <a:r>
              <a:rPr lang="ru-RU" altLang="ru-RU" dirty="0">
                <a:solidFill>
                  <a:srgbClr val="000000"/>
                </a:solidFill>
              </a:rPr>
              <a:t>используются для доставки кадров в пределах </a:t>
            </a:r>
            <a:r>
              <a:rPr lang="ru-RU" altLang="ru-RU" b="1" dirty="0">
                <a:solidFill>
                  <a:srgbClr val="276D3F"/>
                </a:solidFill>
              </a:rPr>
              <a:t>только одной сети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5</a:t>
            </a:fld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7456" y="988499"/>
            <a:ext cx="5656094" cy="2336395"/>
          </a:xfrm>
          <a:prstGeom prst="rect">
            <a:avLst/>
          </a:prstGeom>
        </p:spPr>
      </p:pic>
      <p:grpSp>
        <p:nvGrpSpPr>
          <p:cNvPr id="6" name="Group 5"/>
          <p:cNvGrpSpPr>
            <a:grpSpLocks/>
          </p:cNvGrpSpPr>
          <p:nvPr/>
        </p:nvGrpSpPr>
        <p:grpSpPr bwMode="auto">
          <a:xfrm>
            <a:off x="2095497" y="4104475"/>
            <a:ext cx="7720012" cy="1735138"/>
            <a:chOff x="461" y="2550"/>
            <a:chExt cx="4863" cy="1093"/>
          </a:xfrm>
        </p:grpSpPr>
        <p:grpSp>
          <p:nvGrpSpPr>
            <p:cNvPr id="7" name="Group 6"/>
            <p:cNvGrpSpPr>
              <a:grpSpLocks/>
            </p:cNvGrpSpPr>
            <p:nvPr/>
          </p:nvGrpSpPr>
          <p:grpSpPr bwMode="auto">
            <a:xfrm>
              <a:off x="1802" y="2902"/>
              <a:ext cx="3033" cy="373"/>
              <a:chOff x="1802" y="2902"/>
              <a:chExt cx="3033" cy="373"/>
            </a:xfrm>
          </p:grpSpPr>
          <p:grpSp>
            <p:nvGrpSpPr>
              <p:cNvPr id="25" name="Group 7"/>
              <p:cNvGrpSpPr>
                <a:grpSpLocks/>
              </p:cNvGrpSpPr>
              <p:nvPr/>
            </p:nvGrpSpPr>
            <p:grpSpPr bwMode="auto">
              <a:xfrm>
                <a:off x="1802" y="2902"/>
                <a:ext cx="3033" cy="185"/>
                <a:chOff x="1802" y="2902"/>
                <a:chExt cx="3033" cy="185"/>
              </a:xfrm>
            </p:grpSpPr>
            <p:sp>
              <p:nvSpPr>
                <p:cNvPr id="27" name="Rectangle 8"/>
                <p:cNvSpPr>
                  <a:spLocks noChangeArrowheads="1"/>
                </p:cNvSpPr>
                <p:nvPr/>
              </p:nvSpPr>
              <p:spPr bwMode="auto">
                <a:xfrm>
                  <a:off x="1802" y="2902"/>
                  <a:ext cx="322" cy="185"/>
                </a:xfrm>
                <a:prstGeom prst="rect">
                  <a:avLst/>
                </a:prstGeom>
                <a:solidFill>
                  <a:srgbClr val="FFFFFF"/>
                </a:solidFill>
                <a:ln w="9360" cap="sq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1pPr>
                  <a:lvl2pPr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2pPr>
                  <a:lvl3pPr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3pPr>
                  <a:lvl4pPr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4pPr>
                  <a:lvl5pPr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5pPr>
                  <a:lvl6pPr marL="2514600" indent="-228600" defTabSz="449263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6pPr>
                  <a:lvl7pPr marL="2971800" indent="-228600" defTabSz="449263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7pPr>
                  <a:lvl8pPr marL="3429000" indent="-228600" defTabSz="449263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8pPr>
                  <a:lvl9pPr marL="3886200" indent="-228600" defTabSz="449263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9pPr>
                </a:lstStyle>
                <a:p>
                  <a:pPr algn="ctr" eaLnBrk="0" hangingPunct="0">
                    <a:buClrTx/>
                    <a:buFontTx/>
                    <a:buNone/>
                  </a:pPr>
                  <a:r>
                    <a:rPr lang="ru-RU" altLang="ru-RU" sz="1200" dirty="0">
                      <a:solidFill>
                        <a:srgbClr val="000000"/>
                      </a:solidFill>
                      <a:latin typeface="PT Sans"/>
                    </a:rPr>
                    <a:t>тип</a:t>
                  </a:r>
                </a:p>
                <a:p>
                  <a:pPr algn="ctr" eaLnBrk="0" hangingPunct="0">
                    <a:buClrTx/>
                    <a:buFontTx/>
                    <a:buNone/>
                  </a:pPr>
                  <a:r>
                    <a:rPr lang="en-US" altLang="ru-RU" sz="1200" dirty="0">
                      <a:solidFill>
                        <a:srgbClr val="000000"/>
                      </a:solidFill>
                    </a:rPr>
                    <a:t>0800</a:t>
                  </a:r>
                </a:p>
              </p:txBody>
            </p:sp>
            <p:sp>
              <p:nvSpPr>
                <p:cNvPr id="28" name="Rectangle 9"/>
                <p:cNvSpPr>
                  <a:spLocks noChangeArrowheads="1"/>
                </p:cNvSpPr>
                <p:nvPr/>
              </p:nvSpPr>
              <p:spPr bwMode="auto">
                <a:xfrm>
                  <a:off x="2117" y="2902"/>
                  <a:ext cx="2718" cy="185"/>
                </a:xfrm>
                <a:prstGeom prst="rect">
                  <a:avLst/>
                </a:prstGeom>
                <a:solidFill>
                  <a:srgbClr val="FFFFFF"/>
                </a:solidFill>
                <a:ln w="9360" cap="sq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1pPr>
                  <a:lvl2pPr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2pPr>
                  <a:lvl3pPr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3pPr>
                  <a:lvl4pPr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4pPr>
                  <a:lvl5pPr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5pPr>
                  <a:lvl6pPr marL="2514600" indent="-228600" defTabSz="449263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6pPr>
                  <a:lvl7pPr marL="2971800" indent="-228600" defTabSz="449263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7pPr>
                  <a:lvl8pPr marL="3429000" indent="-228600" defTabSz="449263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8pPr>
                  <a:lvl9pPr marL="3886200" indent="-228600" defTabSz="449263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9pPr>
                </a:lstStyle>
                <a:p>
                  <a:pPr algn="ctr" eaLnBrk="0" hangingPunct="0">
                    <a:buClrTx/>
                    <a:buFontTx/>
                    <a:buNone/>
                  </a:pPr>
                  <a:r>
                    <a:rPr lang="en-US" altLang="ru-RU" sz="1200">
                      <a:solidFill>
                        <a:srgbClr val="000000"/>
                      </a:solidFill>
                    </a:rPr>
                    <a:t>IP </a:t>
                  </a:r>
                  <a:r>
                    <a:rPr lang="ru-RU" altLang="ru-RU" sz="1200">
                      <a:solidFill>
                        <a:srgbClr val="000000"/>
                      </a:solidFill>
                      <a:latin typeface="PT Sans"/>
                    </a:rPr>
                    <a:t>датаграмма</a:t>
                  </a:r>
                </a:p>
              </p:txBody>
            </p:sp>
          </p:grpSp>
          <p:sp>
            <p:nvSpPr>
              <p:cNvPr id="26" name="Text Box 10"/>
              <p:cNvSpPr txBox="1">
                <a:spLocks noChangeArrowheads="1"/>
              </p:cNvSpPr>
              <p:nvPr/>
            </p:nvSpPr>
            <p:spPr bwMode="auto">
              <a:xfrm>
                <a:off x="1872" y="3099"/>
                <a:ext cx="1939" cy="1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tabLst>
                    <a:tab pos="0" algn="l"/>
                    <a:tab pos="438150" algn="l"/>
                    <a:tab pos="887413" algn="l"/>
                    <a:tab pos="1336675" algn="l"/>
                    <a:tab pos="1785938" algn="l"/>
                    <a:tab pos="2235200" algn="l"/>
                    <a:tab pos="2684463" algn="l"/>
                    <a:tab pos="3133725" algn="l"/>
                    <a:tab pos="3582988" algn="l"/>
                    <a:tab pos="4032250" algn="l"/>
                    <a:tab pos="4481513" algn="l"/>
                    <a:tab pos="4930775" algn="l"/>
                    <a:tab pos="5380038" algn="l"/>
                    <a:tab pos="5829300" algn="l"/>
                    <a:tab pos="6278563" algn="l"/>
                    <a:tab pos="6727825" algn="l"/>
                    <a:tab pos="7177088" algn="l"/>
                    <a:tab pos="7626350" algn="l"/>
                    <a:tab pos="8075613" algn="l"/>
                    <a:tab pos="8524875" algn="l"/>
                    <a:tab pos="8974138" algn="l"/>
                    <a:tab pos="8975725" algn="l"/>
                    <a:tab pos="9424988" algn="l"/>
                    <a:tab pos="9874250" algn="l"/>
                    <a:tab pos="10323513" algn="l"/>
                    <a:tab pos="10772775" algn="l"/>
                    <a:tab pos="10774363" algn="l"/>
                    <a:tab pos="10775950" algn="l"/>
                    <a:tab pos="10777538" algn="l"/>
                    <a:tab pos="10779125" algn="l"/>
                    <a:tab pos="10780713" algn="l"/>
                  </a:tabLst>
                  <a:defRPr>
                    <a:solidFill>
                      <a:srgbClr val="FFFFFF"/>
                    </a:solidFill>
                    <a:latin typeface="Arial" charset="0"/>
                    <a:ea typeface="Microsoft YaHei" charset="-122"/>
                  </a:defRPr>
                </a:lvl1pPr>
                <a:lvl2pPr>
                  <a:tabLst>
                    <a:tab pos="0" algn="l"/>
                    <a:tab pos="438150" algn="l"/>
                    <a:tab pos="887413" algn="l"/>
                    <a:tab pos="1336675" algn="l"/>
                    <a:tab pos="1785938" algn="l"/>
                    <a:tab pos="2235200" algn="l"/>
                    <a:tab pos="2684463" algn="l"/>
                    <a:tab pos="3133725" algn="l"/>
                    <a:tab pos="3582988" algn="l"/>
                    <a:tab pos="4032250" algn="l"/>
                    <a:tab pos="4481513" algn="l"/>
                    <a:tab pos="4930775" algn="l"/>
                    <a:tab pos="5380038" algn="l"/>
                    <a:tab pos="5829300" algn="l"/>
                    <a:tab pos="6278563" algn="l"/>
                    <a:tab pos="6727825" algn="l"/>
                    <a:tab pos="7177088" algn="l"/>
                    <a:tab pos="7626350" algn="l"/>
                    <a:tab pos="8075613" algn="l"/>
                    <a:tab pos="8524875" algn="l"/>
                    <a:tab pos="8974138" algn="l"/>
                    <a:tab pos="8975725" algn="l"/>
                    <a:tab pos="9424988" algn="l"/>
                    <a:tab pos="9874250" algn="l"/>
                    <a:tab pos="10323513" algn="l"/>
                    <a:tab pos="10772775" algn="l"/>
                    <a:tab pos="10774363" algn="l"/>
                    <a:tab pos="10775950" algn="l"/>
                    <a:tab pos="10777538" algn="l"/>
                    <a:tab pos="10779125" algn="l"/>
                    <a:tab pos="10780713" algn="l"/>
                  </a:tabLst>
                  <a:defRPr>
                    <a:solidFill>
                      <a:srgbClr val="FFFFFF"/>
                    </a:solidFill>
                    <a:latin typeface="Arial" charset="0"/>
                    <a:ea typeface="Microsoft YaHei" charset="-122"/>
                  </a:defRPr>
                </a:lvl2pPr>
                <a:lvl3pPr>
                  <a:tabLst>
                    <a:tab pos="0" algn="l"/>
                    <a:tab pos="438150" algn="l"/>
                    <a:tab pos="887413" algn="l"/>
                    <a:tab pos="1336675" algn="l"/>
                    <a:tab pos="1785938" algn="l"/>
                    <a:tab pos="2235200" algn="l"/>
                    <a:tab pos="2684463" algn="l"/>
                    <a:tab pos="3133725" algn="l"/>
                    <a:tab pos="3582988" algn="l"/>
                    <a:tab pos="4032250" algn="l"/>
                    <a:tab pos="4481513" algn="l"/>
                    <a:tab pos="4930775" algn="l"/>
                    <a:tab pos="5380038" algn="l"/>
                    <a:tab pos="5829300" algn="l"/>
                    <a:tab pos="6278563" algn="l"/>
                    <a:tab pos="6727825" algn="l"/>
                    <a:tab pos="7177088" algn="l"/>
                    <a:tab pos="7626350" algn="l"/>
                    <a:tab pos="8075613" algn="l"/>
                    <a:tab pos="8524875" algn="l"/>
                    <a:tab pos="8974138" algn="l"/>
                    <a:tab pos="8975725" algn="l"/>
                    <a:tab pos="9424988" algn="l"/>
                    <a:tab pos="9874250" algn="l"/>
                    <a:tab pos="10323513" algn="l"/>
                    <a:tab pos="10772775" algn="l"/>
                    <a:tab pos="10774363" algn="l"/>
                    <a:tab pos="10775950" algn="l"/>
                    <a:tab pos="10777538" algn="l"/>
                    <a:tab pos="10779125" algn="l"/>
                    <a:tab pos="10780713" algn="l"/>
                  </a:tabLst>
                  <a:defRPr>
                    <a:solidFill>
                      <a:srgbClr val="FFFFFF"/>
                    </a:solidFill>
                    <a:latin typeface="Arial" charset="0"/>
                    <a:ea typeface="Microsoft YaHei" charset="-122"/>
                  </a:defRPr>
                </a:lvl3pPr>
                <a:lvl4pPr>
                  <a:tabLst>
                    <a:tab pos="0" algn="l"/>
                    <a:tab pos="438150" algn="l"/>
                    <a:tab pos="887413" algn="l"/>
                    <a:tab pos="1336675" algn="l"/>
                    <a:tab pos="1785938" algn="l"/>
                    <a:tab pos="2235200" algn="l"/>
                    <a:tab pos="2684463" algn="l"/>
                    <a:tab pos="3133725" algn="l"/>
                    <a:tab pos="3582988" algn="l"/>
                    <a:tab pos="4032250" algn="l"/>
                    <a:tab pos="4481513" algn="l"/>
                    <a:tab pos="4930775" algn="l"/>
                    <a:tab pos="5380038" algn="l"/>
                    <a:tab pos="5829300" algn="l"/>
                    <a:tab pos="6278563" algn="l"/>
                    <a:tab pos="6727825" algn="l"/>
                    <a:tab pos="7177088" algn="l"/>
                    <a:tab pos="7626350" algn="l"/>
                    <a:tab pos="8075613" algn="l"/>
                    <a:tab pos="8524875" algn="l"/>
                    <a:tab pos="8974138" algn="l"/>
                    <a:tab pos="8975725" algn="l"/>
                    <a:tab pos="9424988" algn="l"/>
                    <a:tab pos="9874250" algn="l"/>
                    <a:tab pos="10323513" algn="l"/>
                    <a:tab pos="10772775" algn="l"/>
                    <a:tab pos="10774363" algn="l"/>
                    <a:tab pos="10775950" algn="l"/>
                    <a:tab pos="10777538" algn="l"/>
                    <a:tab pos="10779125" algn="l"/>
                    <a:tab pos="10780713" algn="l"/>
                  </a:tabLst>
                  <a:defRPr>
                    <a:solidFill>
                      <a:srgbClr val="FFFFFF"/>
                    </a:solidFill>
                    <a:latin typeface="Arial" charset="0"/>
                    <a:ea typeface="Microsoft YaHei" charset="-122"/>
                  </a:defRPr>
                </a:lvl4pPr>
                <a:lvl5pPr>
                  <a:tabLst>
                    <a:tab pos="0" algn="l"/>
                    <a:tab pos="438150" algn="l"/>
                    <a:tab pos="887413" algn="l"/>
                    <a:tab pos="1336675" algn="l"/>
                    <a:tab pos="1785938" algn="l"/>
                    <a:tab pos="2235200" algn="l"/>
                    <a:tab pos="2684463" algn="l"/>
                    <a:tab pos="3133725" algn="l"/>
                    <a:tab pos="3582988" algn="l"/>
                    <a:tab pos="4032250" algn="l"/>
                    <a:tab pos="4481513" algn="l"/>
                    <a:tab pos="4930775" algn="l"/>
                    <a:tab pos="5380038" algn="l"/>
                    <a:tab pos="5829300" algn="l"/>
                    <a:tab pos="6278563" algn="l"/>
                    <a:tab pos="6727825" algn="l"/>
                    <a:tab pos="7177088" algn="l"/>
                    <a:tab pos="7626350" algn="l"/>
                    <a:tab pos="8075613" algn="l"/>
                    <a:tab pos="8524875" algn="l"/>
                    <a:tab pos="8974138" algn="l"/>
                    <a:tab pos="8975725" algn="l"/>
                    <a:tab pos="9424988" algn="l"/>
                    <a:tab pos="9874250" algn="l"/>
                    <a:tab pos="10323513" algn="l"/>
                    <a:tab pos="10772775" algn="l"/>
                    <a:tab pos="10774363" algn="l"/>
                    <a:tab pos="10775950" algn="l"/>
                    <a:tab pos="10777538" algn="l"/>
                    <a:tab pos="10779125" algn="l"/>
                    <a:tab pos="10780713" algn="l"/>
                  </a:tabLst>
                  <a:defRPr>
                    <a:solidFill>
                      <a:srgbClr val="FFFFFF"/>
                    </a:solidFill>
                    <a:latin typeface="Arial" charset="0"/>
                    <a:ea typeface="Microsoft YaHei" charset="-122"/>
                  </a:defRPr>
                </a:lvl5pPr>
                <a:lvl6pPr marL="2514600" indent="-228600" defTabSz="449263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38150" algn="l"/>
                    <a:tab pos="887413" algn="l"/>
                    <a:tab pos="1336675" algn="l"/>
                    <a:tab pos="1785938" algn="l"/>
                    <a:tab pos="2235200" algn="l"/>
                    <a:tab pos="2684463" algn="l"/>
                    <a:tab pos="3133725" algn="l"/>
                    <a:tab pos="3582988" algn="l"/>
                    <a:tab pos="4032250" algn="l"/>
                    <a:tab pos="4481513" algn="l"/>
                    <a:tab pos="4930775" algn="l"/>
                    <a:tab pos="5380038" algn="l"/>
                    <a:tab pos="5829300" algn="l"/>
                    <a:tab pos="6278563" algn="l"/>
                    <a:tab pos="6727825" algn="l"/>
                    <a:tab pos="7177088" algn="l"/>
                    <a:tab pos="7626350" algn="l"/>
                    <a:tab pos="8075613" algn="l"/>
                    <a:tab pos="8524875" algn="l"/>
                    <a:tab pos="8974138" algn="l"/>
                    <a:tab pos="8975725" algn="l"/>
                    <a:tab pos="9424988" algn="l"/>
                    <a:tab pos="9874250" algn="l"/>
                    <a:tab pos="10323513" algn="l"/>
                    <a:tab pos="10772775" algn="l"/>
                    <a:tab pos="10774363" algn="l"/>
                    <a:tab pos="10775950" algn="l"/>
                    <a:tab pos="10777538" algn="l"/>
                    <a:tab pos="10779125" algn="l"/>
                    <a:tab pos="10780713" algn="l"/>
                  </a:tabLst>
                  <a:defRPr>
                    <a:solidFill>
                      <a:srgbClr val="FFFFFF"/>
                    </a:solidFill>
                    <a:latin typeface="Arial" charset="0"/>
                    <a:ea typeface="Microsoft YaHei" charset="-122"/>
                  </a:defRPr>
                </a:lvl6pPr>
                <a:lvl7pPr marL="2971800" indent="-228600" defTabSz="449263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38150" algn="l"/>
                    <a:tab pos="887413" algn="l"/>
                    <a:tab pos="1336675" algn="l"/>
                    <a:tab pos="1785938" algn="l"/>
                    <a:tab pos="2235200" algn="l"/>
                    <a:tab pos="2684463" algn="l"/>
                    <a:tab pos="3133725" algn="l"/>
                    <a:tab pos="3582988" algn="l"/>
                    <a:tab pos="4032250" algn="l"/>
                    <a:tab pos="4481513" algn="l"/>
                    <a:tab pos="4930775" algn="l"/>
                    <a:tab pos="5380038" algn="l"/>
                    <a:tab pos="5829300" algn="l"/>
                    <a:tab pos="6278563" algn="l"/>
                    <a:tab pos="6727825" algn="l"/>
                    <a:tab pos="7177088" algn="l"/>
                    <a:tab pos="7626350" algn="l"/>
                    <a:tab pos="8075613" algn="l"/>
                    <a:tab pos="8524875" algn="l"/>
                    <a:tab pos="8974138" algn="l"/>
                    <a:tab pos="8975725" algn="l"/>
                    <a:tab pos="9424988" algn="l"/>
                    <a:tab pos="9874250" algn="l"/>
                    <a:tab pos="10323513" algn="l"/>
                    <a:tab pos="10772775" algn="l"/>
                    <a:tab pos="10774363" algn="l"/>
                    <a:tab pos="10775950" algn="l"/>
                    <a:tab pos="10777538" algn="l"/>
                    <a:tab pos="10779125" algn="l"/>
                    <a:tab pos="10780713" algn="l"/>
                  </a:tabLst>
                  <a:defRPr>
                    <a:solidFill>
                      <a:srgbClr val="FFFFFF"/>
                    </a:solidFill>
                    <a:latin typeface="Arial" charset="0"/>
                    <a:ea typeface="Microsoft YaHei" charset="-122"/>
                  </a:defRPr>
                </a:lvl7pPr>
                <a:lvl8pPr marL="3429000" indent="-228600" defTabSz="449263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38150" algn="l"/>
                    <a:tab pos="887413" algn="l"/>
                    <a:tab pos="1336675" algn="l"/>
                    <a:tab pos="1785938" algn="l"/>
                    <a:tab pos="2235200" algn="l"/>
                    <a:tab pos="2684463" algn="l"/>
                    <a:tab pos="3133725" algn="l"/>
                    <a:tab pos="3582988" algn="l"/>
                    <a:tab pos="4032250" algn="l"/>
                    <a:tab pos="4481513" algn="l"/>
                    <a:tab pos="4930775" algn="l"/>
                    <a:tab pos="5380038" algn="l"/>
                    <a:tab pos="5829300" algn="l"/>
                    <a:tab pos="6278563" algn="l"/>
                    <a:tab pos="6727825" algn="l"/>
                    <a:tab pos="7177088" algn="l"/>
                    <a:tab pos="7626350" algn="l"/>
                    <a:tab pos="8075613" algn="l"/>
                    <a:tab pos="8524875" algn="l"/>
                    <a:tab pos="8974138" algn="l"/>
                    <a:tab pos="8975725" algn="l"/>
                    <a:tab pos="9424988" algn="l"/>
                    <a:tab pos="9874250" algn="l"/>
                    <a:tab pos="10323513" algn="l"/>
                    <a:tab pos="10772775" algn="l"/>
                    <a:tab pos="10774363" algn="l"/>
                    <a:tab pos="10775950" algn="l"/>
                    <a:tab pos="10777538" algn="l"/>
                    <a:tab pos="10779125" algn="l"/>
                    <a:tab pos="10780713" algn="l"/>
                  </a:tabLst>
                  <a:defRPr>
                    <a:solidFill>
                      <a:srgbClr val="FFFFFF"/>
                    </a:solidFill>
                    <a:latin typeface="Arial" charset="0"/>
                    <a:ea typeface="Microsoft YaHei" charset="-122"/>
                  </a:defRPr>
                </a:lvl8pPr>
                <a:lvl9pPr marL="3886200" indent="-228600" defTabSz="449263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38150" algn="l"/>
                    <a:tab pos="887413" algn="l"/>
                    <a:tab pos="1336675" algn="l"/>
                    <a:tab pos="1785938" algn="l"/>
                    <a:tab pos="2235200" algn="l"/>
                    <a:tab pos="2684463" algn="l"/>
                    <a:tab pos="3133725" algn="l"/>
                    <a:tab pos="3582988" algn="l"/>
                    <a:tab pos="4032250" algn="l"/>
                    <a:tab pos="4481513" algn="l"/>
                    <a:tab pos="4930775" algn="l"/>
                    <a:tab pos="5380038" algn="l"/>
                    <a:tab pos="5829300" algn="l"/>
                    <a:tab pos="6278563" algn="l"/>
                    <a:tab pos="6727825" algn="l"/>
                    <a:tab pos="7177088" algn="l"/>
                    <a:tab pos="7626350" algn="l"/>
                    <a:tab pos="8075613" algn="l"/>
                    <a:tab pos="8524875" algn="l"/>
                    <a:tab pos="8974138" algn="l"/>
                    <a:tab pos="8975725" algn="l"/>
                    <a:tab pos="9424988" algn="l"/>
                    <a:tab pos="9874250" algn="l"/>
                    <a:tab pos="10323513" algn="l"/>
                    <a:tab pos="10772775" algn="l"/>
                    <a:tab pos="10774363" algn="l"/>
                    <a:tab pos="10775950" algn="l"/>
                    <a:tab pos="10777538" algn="l"/>
                    <a:tab pos="10779125" algn="l"/>
                    <a:tab pos="10780713" algn="l"/>
                  </a:tabLst>
                  <a:defRPr>
                    <a:solidFill>
                      <a:srgbClr val="FFFFFF"/>
                    </a:solidFill>
                    <a:latin typeface="Arial" charset="0"/>
                    <a:ea typeface="Microsoft YaHei" charset="-122"/>
                  </a:defRPr>
                </a:lvl9pPr>
              </a:lstStyle>
              <a:p>
                <a:pPr eaLnBrk="0" hangingPunct="0">
                  <a:buClrTx/>
                  <a:buFontTx/>
                  <a:buNone/>
                </a:pPr>
                <a:r>
                  <a:rPr lang="ru-RU" altLang="ru-RU" sz="1200" dirty="0">
                    <a:solidFill>
                      <a:srgbClr val="000000"/>
                    </a:solidFill>
                    <a:latin typeface="PT Sans"/>
                  </a:rPr>
                  <a:t>2                                                  </a:t>
                </a:r>
                <a:r>
                  <a:rPr lang="ru-RU" altLang="ru-RU" sz="1200" dirty="0">
                    <a:solidFill>
                      <a:srgbClr val="000000"/>
                    </a:solidFill>
                    <a:latin typeface="PT Sans"/>
                  </a:rPr>
                  <a:t>46-1500</a:t>
                </a:r>
                <a:endParaRPr lang="ru-RU" altLang="ru-RU" sz="1200" dirty="0">
                  <a:solidFill>
                    <a:srgbClr val="000000"/>
                  </a:solidFill>
                  <a:latin typeface="PT Sans"/>
                </a:endParaRPr>
              </a:p>
            </p:txBody>
          </p:sp>
        </p:grpSp>
        <p:grpSp>
          <p:nvGrpSpPr>
            <p:cNvPr id="8" name="Group 11"/>
            <p:cNvGrpSpPr>
              <a:grpSpLocks/>
            </p:cNvGrpSpPr>
            <p:nvPr/>
          </p:nvGrpSpPr>
          <p:grpSpPr bwMode="auto">
            <a:xfrm>
              <a:off x="1823" y="3265"/>
              <a:ext cx="1262" cy="378"/>
              <a:chOff x="1823" y="3265"/>
              <a:chExt cx="1262" cy="378"/>
            </a:xfrm>
          </p:grpSpPr>
          <p:grpSp>
            <p:nvGrpSpPr>
              <p:cNvPr id="20" name="Group 12"/>
              <p:cNvGrpSpPr>
                <a:grpSpLocks/>
              </p:cNvGrpSpPr>
              <p:nvPr/>
            </p:nvGrpSpPr>
            <p:grpSpPr bwMode="auto">
              <a:xfrm>
                <a:off x="1823" y="3265"/>
                <a:ext cx="1262" cy="185"/>
                <a:chOff x="1823" y="3265"/>
                <a:chExt cx="1262" cy="185"/>
              </a:xfrm>
            </p:grpSpPr>
            <p:sp>
              <p:nvSpPr>
                <p:cNvPr id="22" name="Rectangle 13"/>
                <p:cNvSpPr>
                  <a:spLocks noChangeArrowheads="1"/>
                </p:cNvSpPr>
                <p:nvPr/>
              </p:nvSpPr>
              <p:spPr bwMode="auto">
                <a:xfrm>
                  <a:off x="1823" y="3265"/>
                  <a:ext cx="279" cy="185"/>
                </a:xfrm>
                <a:prstGeom prst="rect">
                  <a:avLst/>
                </a:prstGeom>
                <a:solidFill>
                  <a:srgbClr val="FFFFFF"/>
                </a:solidFill>
                <a:ln w="9360" cap="sq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1pPr>
                  <a:lvl2pPr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2pPr>
                  <a:lvl3pPr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3pPr>
                  <a:lvl4pPr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4pPr>
                  <a:lvl5pPr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5pPr>
                  <a:lvl6pPr marL="2514600" indent="-228600" defTabSz="449263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6pPr>
                  <a:lvl7pPr marL="2971800" indent="-228600" defTabSz="449263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7pPr>
                  <a:lvl8pPr marL="3429000" indent="-228600" defTabSz="449263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8pPr>
                  <a:lvl9pPr marL="3886200" indent="-228600" defTabSz="449263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9pPr>
                </a:lstStyle>
                <a:p>
                  <a:pPr algn="ctr" eaLnBrk="0" hangingPunct="0">
                    <a:buClrTx/>
                    <a:buFontTx/>
                    <a:buNone/>
                  </a:pPr>
                  <a:r>
                    <a:rPr lang="ru-RU" altLang="ru-RU" sz="1200" dirty="0">
                      <a:solidFill>
                        <a:srgbClr val="000000"/>
                      </a:solidFill>
                      <a:latin typeface="PT Sans"/>
                    </a:rPr>
                    <a:t>тип</a:t>
                  </a:r>
                </a:p>
                <a:p>
                  <a:pPr algn="ctr" eaLnBrk="0" hangingPunct="0">
                    <a:buClrTx/>
                    <a:buFontTx/>
                    <a:buNone/>
                  </a:pPr>
                  <a:r>
                    <a:rPr lang="ru-RU" altLang="ru-RU" sz="1200" dirty="0">
                      <a:solidFill>
                        <a:srgbClr val="000000"/>
                      </a:solidFill>
                      <a:latin typeface="PT Sans"/>
                    </a:rPr>
                    <a:t>0806</a:t>
                  </a:r>
                </a:p>
              </p:txBody>
            </p:sp>
            <p:sp>
              <p:nvSpPr>
                <p:cNvPr id="23" name="Rectangle 14"/>
                <p:cNvSpPr>
                  <a:spLocks noChangeArrowheads="1"/>
                </p:cNvSpPr>
                <p:nvPr/>
              </p:nvSpPr>
              <p:spPr bwMode="auto">
                <a:xfrm>
                  <a:off x="2102" y="3265"/>
                  <a:ext cx="661" cy="185"/>
                </a:xfrm>
                <a:prstGeom prst="rect">
                  <a:avLst/>
                </a:prstGeom>
                <a:solidFill>
                  <a:srgbClr val="FFFFFF"/>
                </a:solidFill>
                <a:ln w="9360" cap="sq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1pPr>
                  <a:lvl2pPr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2pPr>
                  <a:lvl3pPr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3pPr>
                  <a:lvl4pPr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4pPr>
                  <a:lvl5pPr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5pPr>
                  <a:lvl6pPr marL="2514600" indent="-228600" defTabSz="449263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6pPr>
                  <a:lvl7pPr marL="2971800" indent="-228600" defTabSz="449263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7pPr>
                  <a:lvl8pPr marL="3429000" indent="-228600" defTabSz="449263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8pPr>
                  <a:lvl9pPr marL="3886200" indent="-228600" defTabSz="449263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9pPr>
                </a:lstStyle>
                <a:p>
                  <a:pPr algn="ctr" eaLnBrk="0" hangingPunct="0">
                    <a:buClrTx/>
                    <a:buFontTx/>
                    <a:buNone/>
                  </a:pPr>
                  <a:r>
                    <a:rPr lang="en-US" altLang="ru-RU" sz="1200" dirty="0">
                      <a:solidFill>
                        <a:srgbClr val="000000"/>
                      </a:solidFill>
                    </a:rPr>
                    <a:t>ARP</a:t>
                  </a:r>
                </a:p>
                <a:p>
                  <a:pPr algn="ctr" eaLnBrk="0" hangingPunct="0">
                    <a:buClrTx/>
                    <a:buFontTx/>
                    <a:buNone/>
                  </a:pPr>
                  <a:r>
                    <a:rPr lang="ru-RU" altLang="ru-RU" sz="1200" dirty="0">
                      <a:solidFill>
                        <a:srgbClr val="000000"/>
                      </a:solidFill>
                      <a:latin typeface="PT Sans"/>
                    </a:rPr>
                    <a:t>запрос/отклик</a:t>
                  </a:r>
                </a:p>
              </p:txBody>
            </p:sp>
            <p:sp>
              <p:nvSpPr>
                <p:cNvPr id="24" name="Rectangle 15"/>
                <p:cNvSpPr>
                  <a:spLocks noChangeArrowheads="1"/>
                </p:cNvSpPr>
                <p:nvPr/>
              </p:nvSpPr>
              <p:spPr bwMode="auto">
                <a:xfrm>
                  <a:off x="2763" y="3265"/>
                  <a:ext cx="322" cy="185"/>
                </a:xfrm>
                <a:prstGeom prst="rect">
                  <a:avLst/>
                </a:prstGeom>
                <a:solidFill>
                  <a:srgbClr val="FFFFFF"/>
                </a:solidFill>
                <a:ln w="9360" cap="sq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1pPr>
                  <a:lvl2pPr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2pPr>
                  <a:lvl3pPr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3pPr>
                  <a:lvl4pPr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4pPr>
                  <a:lvl5pPr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5pPr>
                  <a:lvl6pPr marL="2514600" indent="-228600" defTabSz="449263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6pPr>
                  <a:lvl7pPr marL="2971800" indent="-228600" defTabSz="449263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7pPr>
                  <a:lvl8pPr marL="3429000" indent="-228600" defTabSz="449263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8pPr>
                  <a:lvl9pPr marL="3886200" indent="-228600" defTabSz="449263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9pPr>
                </a:lstStyle>
                <a:p>
                  <a:pPr algn="ctr" eaLnBrk="0" hangingPunct="0">
                    <a:buClrTx/>
                    <a:buFontTx/>
                    <a:buNone/>
                  </a:pPr>
                  <a:r>
                    <a:rPr lang="en-US" altLang="ru-RU" sz="1200">
                      <a:solidFill>
                        <a:srgbClr val="000000"/>
                      </a:solidFill>
                    </a:rPr>
                    <a:t>PAD</a:t>
                  </a:r>
                </a:p>
              </p:txBody>
            </p:sp>
          </p:grpSp>
          <p:sp>
            <p:nvSpPr>
              <p:cNvPr id="21" name="Text Box 16"/>
              <p:cNvSpPr txBox="1">
                <a:spLocks noChangeArrowheads="1"/>
              </p:cNvSpPr>
              <p:nvPr/>
            </p:nvSpPr>
            <p:spPr bwMode="auto">
              <a:xfrm>
                <a:off x="1877" y="3467"/>
                <a:ext cx="1173" cy="1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tabLst>
                    <a:tab pos="0" algn="l"/>
                    <a:tab pos="438150" algn="l"/>
                    <a:tab pos="887413" algn="l"/>
                    <a:tab pos="1336675" algn="l"/>
                    <a:tab pos="1785938" algn="l"/>
                    <a:tab pos="2235200" algn="l"/>
                    <a:tab pos="2684463" algn="l"/>
                    <a:tab pos="3133725" algn="l"/>
                    <a:tab pos="3582988" algn="l"/>
                    <a:tab pos="4032250" algn="l"/>
                    <a:tab pos="4481513" algn="l"/>
                    <a:tab pos="4930775" algn="l"/>
                    <a:tab pos="5380038" algn="l"/>
                    <a:tab pos="5829300" algn="l"/>
                    <a:tab pos="6278563" algn="l"/>
                    <a:tab pos="6727825" algn="l"/>
                    <a:tab pos="7177088" algn="l"/>
                    <a:tab pos="7626350" algn="l"/>
                    <a:tab pos="8075613" algn="l"/>
                    <a:tab pos="8524875" algn="l"/>
                    <a:tab pos="8974138" algn="l"/>
                    <a:tab pos="8975725" algn="l"/>
                    <a:tab pos="9424988" algn="l"/>
                    <a:tab pos="9874250" algn="l"/>
                    <a:tab pos="10323513" algn="l"/>
                    <a:tab pos="10772775" algn="l"/>
                    <a:tab pos="10774363" algn="l"/>
                    <a:tab pos="10775950" algn="l"/>
                    <a:tab pos="10777538" algn="l"/>
                    <a:tab pos="10779125" algn="l"/>
                    <a:tab pos="10780713" algn="l"/>
                  </a:tabLst>
                  <a:defRPr>
                    <a:solidFill>
                      <a:srgbClr val="FFFFFF"/>
                    </a:solidFill>
                    <a:latin typeface="Arial" charset="0"/>
                    <a:ea typeface="Microsoft YaHei" charset="-122"/>
                  </a:defRPr>
                </a:lvl1pPr>
                <a:lvl2pPr>
                  <a:tabLst>
                    <a:tab pos="0" algn="l"/>
                    <a:tab pos="438150" algn="l"/>
                    <a:tab pos="887413" algn="l"/>
                    <a:tab pos="1336675" algn="l"/>
                    <a:tab pos="1785938" algn="l"/>
                    <a:tab pos="2235200" algn="l"/>
                    <a:tab pos="2684463" algn="l"/>
                    <a:tab pos="3133725" algn="l"/>
                    <a:tab pos="3582988" algn="l"/>
                    <a:tab pos="4032250" algn="l"/>
                    <a:tab pos="4481513" algn="l"/>
                    <a:tab pos="4930775" algn="l"/>
                    <a:tab pos="5380038" algn="l"/>
                    <a:tab pos="5829300" algn="l"/>
                    <a:tab pos="6278563" algn="l"/>
                    <a:tab pos="6727825" algn="l"/>
                    <a:tab pos="7177088" algn="l"/>
                    <a:tab pos="7626350" algn="l"/>
                    <a:tab pos="8075613" algn="l"/>
                    <a:tab pos="8524875" algn="l"/>
                    <a:tab pos="8974138" algn="l"/>
                    <a:tab pos="8975725" algn="l"/>
                    <a:tab pos="9424988" algn="l"/>
                    <a:tab pos="9874250" algn="l"/>
                    <a:tab pos="10323513" algn="l"/>
                    <a:tab pos="10772775" algn="l"/>
                    <a:tab pos="10774363" algn="l"/>
                    <a:tab pos="10775950" algn="l"/>
                    <a:tab pos="10777538" algn="l"/>
                    <a:tab pos="10779125" algn="l"/>
                    <a:tab pos="10780713" algn="l"/>
                  </a:tabLst>
                  <a:defRPr>
                    <a:solidFill>
                      <a:srgbClr val="FFFFFF"/>
                    </a:solidFill>
                    <a:latin typeface="Arial" charset="0"/>
                    <a:ea typeface="Microsoft YaHei" charset="-122"/>
                  </a:defRPr>
                </a:lvl2pPr>
                <a:lvl3pPr>
                  <a:tabLst>
                    <a:tab pos="0" algn="l"/>
                    <a:tab pos="438150" algn="l"/>
                    <a:tab pos="887413" algn="l"/>
                    <a:tab pos="1336675" algn="l"/>
                    <a:tab pos="1785938" algn="l"/>
                    <a:tab pos="2235200" algn="l"/>
                    <a:tab pos="2684463" algn="l"/>
                    <a:tab pos="3133725" algn="l"/>
                    <a:tab pos="3582988" algn="l"/>
                    <a:tab pos="4032250" algn="l"/>
                    <a:tab pos="4481513" algn="l"/>
                    <a:tab pos="4930775" algn="l"/>
                    <a:tab pos="5380038" algn="l"/>
                    <a:tab pos="5829300" algn="l"/>
                    <a:tab pos="6278563" algn="l"/>
                    <a:tab pos="6727825" algn="l"/>
                    <a:tab pos="7177088" algn="l"/>
                    <a:tab pos="7626350" algn="l"/>
                    <a:tab pos="8075613" algn="l"/>
                    <a:tab pos="8524875" algn="l"/>
                    <a:tab pos="8974138" algn="l"/>
                    <a:tab pos="8975725" algn="l"/>
                    <a:tab pos="9424988" algn="l"/>
                    <a:tab pos="9874250" algn="l"/>
                    <a:tab pos="10323513" algn="l"/>
                    <a:tab pos="10772775" algn="l"/>
                    <a:tab pos="10774363" algn="l"/>
                    <a:tab pos="10775950" algn="l"/>
                    <a:tab pos="10777538" algn="l"/>
                    <a:tab pos="10779125" algn="l"/>
                    <a:tab pos="10780713" algn="l"/>
                  </a:tabLst>
                  <a:defRPr>
                    <a:solidFill>
                      <a:srgbClr val="FFFFFF"/>
                    </a:solidFill>
                    <a:latin typeface="Arial" charset="0"/>
                    <a:ea typeface="Microsoft YaHei" charset="-122"/>
                  </a:defRPr>
                </a:lvl3pPr>
                <a:lvl4pPr>
                  <a:tabLst>
                    <a:tab pos="0" algn="l"/>
                    <a:tab pos="438150" algn="l"/>
                    <a:tab pos="887413" algn="l"/>
                    <a:tab pos="1336675" algn="l"/>
                    <a:tab pos="1785938" algn="l"/>
                    <a:tab pos="2235200" algn="l"/>
                    <a:tab pos="2684463" algn="l"/>
                    <a:tab pos="3133725" algn="l"/>
                    <a:tab pos="3582988" algn="l"/>
                    <a:tab pos="4032250" algn="l"/>
                    <a:tab pos="4481513" algn="l"/>
                    <a:tab pos="4930775" algn="l"/>
                    <a:tab pos="5380038" algn="l"/>
                    <a:tab pos="5829300" algn="l"/>
                    <a:tab pos="6278563" algn="l"/>
                    <a:tab pos="6727825" algn="l"/>
                    <a:tab pos="7177088" algn="l"/>
                    <a:tab pos="7626350" algn="l"/>
                    <a:tab pos="8075613" algn="l"/>
                    <a:tab pos="8524875" algn="l"/>
                    <a:tab pos="8974138" algn="l"/>
                    <a:tab pos="8975725" algn="l"/>
                    <a:tab pos="9424988" algn="l"/>
                    <a:tab pos="9874250" algn="l"/>
                    <a:tab pos="10323513" algn="l"/>
                    <a:tab pos="10772775" algn="l"/>
                    <a:tab pos="10774363" algn="l"/>
                    <a:tab pos="10775950" algn="l"/>
                    <a:tab pos="10777538" algn="l"/>
                    <a:tab pos="10779125" algn="l"/>
                    <a:tab pos="10780713" algn="l"/>
                  </a:tabLst>
                  <a:defRPr>
                    <a:solidFill>
                      <a:srgbClr val="FFFFFF"/>
                    </a:solidFill>
                    <a:latin typeface="Arial" charset="0"/>
                    <a:ea typeface="Microsoft YaHei" charset="-122"/>
                  </a:defRPr>
                </a:lvl4pPr>
                <a:lvl5pPr>
                  <a:tabLst>
                    <a:tab pos="0" algn="l"/>
                    <a:tab pos="438150" algn="l"/>
                    <a:tab pos="887413" algn="l"/>
                    <a:tab pos="1336675" algn="l"/>
                    <a:tab pos="1785938" algn="l"/>
                    <a:tab pos="2235200" algn="l"/>
                    <a:tab pos="2684463" algn="l"/>
                    <a:tab pos="3133725" algn="l"/>
                    <a:tab pos="3582988" algn="l"/>
                    <a:tab pos="4032250" algn="l"/>
                    <a:tab pos="4481513" algn="l"/>
                    <a:tab pos="4930775" algn="l"/>
                    <a:tab pos="5380038" algn="l"/>
                    <a:tab pos="5829300" algn="l"/>
                    <a:tab pos="6278563" algn="l"/>
                    <a:tab pos="6727825" algn="l"/>
                    <a:tab pos="7177088" algn="l"/>
                    <a:tab pos="7626350" algn="l"/>
                    <a:tab pos="8075613" algn="l"/>
                    <a:tab pos="8524875" algn="l"/>
                    <a:tab pos="8974138" algn="l"/>
                    <a:tab pos="8975725" algn="l"/>
                    <a:tab pos="9424988" algn="l"/>
                    <a:tab pos="9874250" algn="l"/>
                    <a:tab pos="10323513" algn="l"/>
                    <a:tab pos="10772775" algn="l"/>
                    <a:tab pos="10774363" algn="l"/>
                    <a:tab pos="10775950" algn="l"/>
                    <a:tab pos="10777538" algn="l"/>
                    <a:tab pos="10779125" algn="l"/>
                    <a:tab pos="10780713" algn="l"/>
                  </a:tabLst>
                  <a:defRPr>
                    <a:solidFill>
                      <a:srgbClr val="FFFFFF"/>
                    </a:solidFill>
                    <a:latin typeface="Arial" charset="0"/>
                    <a:ea typeface="Microsoft YaHei" charset="-122"/>
                  </a:defRPr>
                </a:lvl5pPr>
                <a:lvl6pPr marL="2514600" indent="-228600" defTabSz="449263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38150" algn="l"/>
                    <a:tab pos="887413" algn="l"/>
                    <a:tab pos="1336675" algn="l"/>
                    <a:tab pos="1785938" algn="l"/>
                    <a:tab pos="2235200" algn="l"/>
                    <a:tab pos="2684463" algn="l"/>
                    <a:tab pos="3133725" algn="l"/>
                    <a:tab pos="3582988" algn="l"/>
                    <a:tab pos="4032250" algn="l"/>
                    <a:tab pos="4481513" algn="l"/>
                    <a:tab pos="4930775" algn="l"/>
                    <a:tab pos="5380038" algn="l"/>
                    <a:tab pos="5829300" algn="l"/>
                    <a:tab pos="6278563" algn="l"/>
                    <a:tab pos="6727825" algn="l"/>
                    <a:tab pos="7177088" algn="l"/>
                    <a:tab pos="7626350" algn="l"/>
                    <a:tab pos="8075613" algn="l"/>
                    <a:tab pos="8524875" algn="l"/>
                    <a:tab pos="8974138" algn="l"/>
                    <a:tab pos="8975725" algn="l"/>
                    <a:tab pos="9424988" algn="l"/>
                    <a:tab pos="9874250" algn="l"/>
                    <a:tab pos="10323513" algn="l"/>
                    <a:tab pos="10772775" algn="l"/>
                    <a:tab pos="10774363" algn="l"/>
                    <a:tab pos="10775950" algn="l"/>
                    <a:tab pos="10777538" algn="l"/>
                    <a:tab pos="10779125" algn="l"/>
                    <a:tab pos="10780713" algn="l"/>
                  </a:tabLst>
                  <a:defRPr>
                    <a:solidFill>
                      <a:srgbClr val="FFFFFF"/>
                    </a:solidFill>
                    <a:latin typeface="Arial" charset="0"/>
                    <a:ea typeface="Microsoft YaHei" charset="-122"/>
                  </a:defRPr>
                </a:lvl6pPr>
                <a:lvl7pPr marL="2971800" indent="-228600" defTabSz="449263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38150" algn="l"/>
                    <a:tab pos="887413" algn="l"/>
                    <a:tab pos="1336675" algn="l"/>
                    <a:tab pos="1785938" algn="l"/>
                    <a:tab pos="2235200" algn="l"/>
                    <a:tab pos="2684463" algn="l"/>
                    <a:tab pos="3133725" algn="l"/>
                    <a:tab pos="3582988" algn="l"/>
                    <a:tab pos="4032250" algn="l"/>
                    <a:tab pos="4481513" algn="l"/>
                    <a:tab pos="4930775" algn="l"/>
                    <a:tab pos="5380038" algn="l"/>
                    <a:tab pos="5829300" algn="l"/>
                    <a:tab pos="6278563" algn="l"/>
                    <a:tab pos="6727825" algn="l"/>
                    <a:tab pos="7177088" algn="l"/>
                    <a:tab pos="7626350" algn="l"/>
                    <a:tab pos="8075613" algn="l"/>
                    <a:tab pos="8524875" algn="l"/>
                    <a:tab pos="8974138" algn="l"/>
                    <a:tab pos="8975725" algn="l"/>
                    <a:tab pos="9424988" algn="l"/>
                    <a:tab pos="9874250" algn="l"/>
                    <a:tab pos="10323513" algn="l"/>
                    <a:tab pos="10772775" algn="l"/>
                    <a:tab pos="10774363" algn="l"/>
                    <a:tab pos="10775950" algn="l"/>
                    <a:tab pos="10777538" algn="l"/>
                    <a:tab pos="10779125" algn="l"/>
                    <a:tab pos="10780713" algn="l"/>
                  </a:tabLst>
                  <a:defRPr>
                    <a:solidFill>
                      <a:srgbClr val="FFFFFF"/>
                    </a:solidFill>
                    <a:latin typeface="Arial" charset="0"/>
                    <a:ea typeface="Microsoft YaHei" charset="-122"/>
                  </a:defRPr>
                </a:lvl7pPr>
                <a:lvl8pPr marL="3429000" indent="-228600" defTabSz="449263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38150" algn="l"/>
                    <a:tab pos="887413" algn="l"/>
                    <a:tab pos="1336675" algn="l"/>
                    <a:tab pos="1785938" algn="l"/>
                    <a:tab pos="2235200" algn="l"/>
                    <a:tab pos="2684463" algn="l"/>
                    <a:tab pos="3133725" algn="l"/>
                    <a:tab pos="3582988" algn="l"/>
                    <a:tab pos="4032250" algn="l"/>
                    <a:tab pos="4481513" algn="l"/>
                    <a:tab pos="4930775" algn="l"/>
                    <a:tab pos="5380038" algn="l"/>
                    <a:tab pos="5829300" algn="l"/>
                    <a:tab pos="6278563" algn="l"/>
                    <a:tab pos="6727825" algn="l"/>
                    <a:tab pos="7177088" algn="l"/>
                    <a:tab pos="7626350" algn="l"/>
                    <a:tab pos="8075613" algn="l"/>
                    <a:tab pos="8524875" algn="l"/>
                    <a:tab pos="8974138" algn="l"/>
                    <a:tab pos="8975725" algn="l"/>
                    <a:tab pos="9424988" algn="l"/>
                    <a:tab pos="9874250" algn="l"/>
                    <a:tab pos="10323513" algn="l"/>
                    <a:tab pos="10772775" algn="l"/>
                    <a:tab pos="10774363" algn="l"/>
                    <a:tab pos="10775950" algn="l"/>
                    <a:tab pos="10777538" algn="l"/>
                    <a:tab pos="10779125" algn="l"/>
                    <a:tab pos="10780713" algn="l"/>
                  </a:tabLst>
                  <a:defRPr>
                    <a:solidFill>
                      <a:srgbClr val="FFFFFF"/>
                    </a:solidFill>
                    <a:latin typeface="Arial" charset="0"/>
                    <a:ea typeface="Microsoft YaHei" charset="-122"/>
                  </a:defRPr>
                </a:lvl8pPr>
                <a:lvl9pPr marL="3886200" indent="-228600" defTabSz="449263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38150" algn="l"/>
                    <a:tab pos="887413" algn="l"/>
                    <a:tab pos="1336675" algn="l"/>
                    <a:tab pos="1785938" algn="l"/>
                    <a:tab pos="2235200" algn="l"/>
                    <a:tab pos="2684463" algn="l"/>
                    <a:tab pos="3133725" algn="l"/>
                    <a:tab pos="3582988" algn="l"/>
                    <a:tab pos="4032250" algn="l"/>
                    <a:tab pos="4481513" algn="l"/>
                    <a:tab pos="4930775" algn="l"/>
                    <a:tab pos="5380038" algn="l"/>
                    <a:tab pos="5829300" algn="l"/>
                    <a:tab pos="6278563" algn="l"/>
                    <a:tab pos="6727825" algn="l"/>
                    <a:tab pos="7177088" algn="l"/>
                    <a:tab pos="7626350" algn="l"/>
                    <a:tab pos="8075613" algn="l"/>
                    <a:tab pos="8524875" algn="l"/>
                    <a:tab pos="8974138" algn="l"/>
                    <a:tab pos="8975725" algn="l"/>
                    <a:tab pos="9424988" algn="l"/>
                    <a:tab pos="9874250" algn="l"/>
                    <a:tab pos="10323513" algn="l"/>
                    <a:tab pos="10772775" algn="l"/>
                    <a:tab pos="10774363" algn="l"/>
                    <a:tab pos="10775950" algn="l"/>
                    <a:tab pos="10777538" algn="l"/>
                    <a:tab pos="10779125" algn="l"/>
                    <a:tab pos="10780713" algn="l"/>
                  </a:tabLst>
                  <a:defRPr>
                    <a:solidFill>
                      <a:srgbClr val="FFFFFF"/>
                    </a:solidFill>
                    <a:latin typeface="Arial" charset="0"/>
                    <a:ea typeface="Microsoft YaHei" charset="-122"/>
                  </a:defRPr>
                </a:lvl9pPr>
              </a:lstStyle>
              <a:p>
                <a:pPr eaLnBrk="0" hangingPunct="0">
                  <a:buClrTx/>
                  <a:buFontTx/>
                  <a:buNone/>
                </a:pPr>
                <a:r>
                  <a:rPr lang="ru-RU" altLang="ru-RU" sz="1200">
                    <a:solidFill>
                      <a:srgbClr val="000000"/>
                    </a:solidFill>
                    <a:latin typeface="PT Sans"/>
                  </a:rPr>
                  <a:t>2              2</a:t>
                </a:r>
                <a:r>
                  <a:rPr lang="en-US" altLang="ru-RU" sz="1200">
                    <a:solidFill>
                      <a:srgbClr val="000000"/>
                    </a:solidFill>
                  </a:rPr>
                  <a:t>8</a:t>
                </a:r>
                <a:r>
                  <a:rPr lang="ru-RU" altLang="ru-RU" sz="1200">
                    <a:solidFill>
                      <a:srgbClr val="000000"/>
                    </a:solidFill>
                    <a:latin typeface="PT Sans"/>
                  </a:rPr>
                  <a:t>               18</a:t>
                </a:r>
              </a:p>
            </p:txBody>
          </p:sp>
        </p:grpSp>
        <p:grpSp>
          <p:nvGrpSpPr>
            <p:cNvPr id="9" name="Group 17"/>
            <p:cNvGrpSpPr>
              <a:grpSpLocks/>
            </p:cNvGrpSpPr>
            <p:nvPr/>
          </p:nvGrpSpPr>
          <p:grpSpPr bwMode="auto">
            <a:xfrm>
              <a:off x="461" y="2550"/>
              <a:ext cx="4863" cy="350"/>
              <a:chOff x="461" y="2550"/>
              <a:chExt cx="4863" cy="350"/>
            </a:xfrm>
          </p:grpSpPr>
          <p:grpSp>
            <p:nvGrpSpPr>
              <p:cNvPr id="11" name="Group 18"/>
              <p:cNvGrpSpPr>
                <a:grpSpLocks/>
              </p:cNvGrpSpPr>
              <p:nvPr/>
            </p:nvGrpSpPr>
            <p:grpSpPr bwMode="auto">
              <a:xfrm>
                <a:off x="461" y="2550"/>
                <a:ext cx="4863" cy="350"/>
                <a:chOff x="461" y="2550"/>
                <a:chExt cx="4863" cy="350"/>
              </a:xfrm>
            </p:grpSpPr>
            <p:grpSp>
              <p:nvGrpSpPr>
                <p:cNvPr id="13" name="Group 19"/>
                <p:cNvGrpSpPr>
                  <a:grpSpLocks/>
                </p:cNvGrpSpPr>
                <p:nvPr/>
              </p:nvGrpSpPr>
              <p:grpSpPr bwMode="auto">
                <a:xfrm>
                  <a:off x="461" y="2550"/>
                  <a:ext cx="4863" cy="185"/>
                  <a:chOff x="461" y="2550"/>
                  <a:chExt cx="4863" cy="185"/>
                </a:xfrm>
              </p:grpSpPr>
              <p:sp>
                <p:nvSpPr>
                  <p:cNvPr id="15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461" y="2550"/>
                    <a:ext cx="658" cy="185"/>
                  </a:xfrm>
                  <a:prstGeom prst="rect">
                    <a:avLst/>
                  </a:prstGeom>
                  <a:solidFill>
                    <a:srgbClr val="FFFFFF"/>
                  </a:solidFill>
                  <a:ln w="9360" cap="sq">
                    <a:solidFill>
                      <a:srgbClr val="000000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>
                      <a:tabLst>
                        <a:tab pos="0" algn="l"/>
                        <a:tab pos="438150" algn="l"/>
                        <a:tab pos="887413" algn="l"/>
                        <a:tab pos="1336675" algn="l"/>
                        <a:tab pos="1785938" algn="l"/>
                        <a:tab pos="2235200" algn="l"/>
                        <a:tab pos="2684463" algn="l"/>
                        <a:tab pos="3133725" algn="l"/>
                        <a:tab pos="3582988" algn="l"/>
                        <a:tab pos="4032250" algn="l"/>
                        <a:tab pos="4481513" algn="l"/>
                        <a:tab pos="4930775" algn="l"/>
                        <a:tab pos="5380038" algn="l"/>
                        <a:tab pos="5829300" algn="l"/>
                        <a:tab pos="6278563" algn="l"/>
                        <a:tab pos="6727825" algn="l"/>
                        <a:tab pos="7177088" algn="l"/>
                        <a:tab pos="7626350" algn="l"/>
                        <a:tab pos="8075613" algn="l"/>
                        <a:tab pos="8524875" algn="l"/>
                        <a:tab pos="8974138" algn="l"/>
                        <a:tab pos="8975725" algn="l"/>
                        <a:tab pos="9424988" algn="l"/>
                        <a:tab pos="9874250" algn="l"/>
                        <a:tab pos="10323513" algn="l"/>
                        <a:tab pos="10772775" algn="l"/>
                        <a:tab pos="10774363" algn="l"/>
                        <a:tab pos="10775950" algn="l"/>
                        <a:tab pos="10777538" algn="l"/>
                        <a:tab pos="10779125" algn="l"/>
                        <a:tab pos="10780713" algn="l"/>
                      </a:tabLst>
                      <a:defRPr>
                        <a:solidFill>
                          <a:srgbClr val="FFFFFF"/>
                        </a:solidFill>
                        <a:latin typeface="Arial" charset="0"/>
                        <a:ea typeface="Microsoft YaHei" charset="-122"/>
                      </a:defRPr>
                    </a:lvl1pPr>
                    <a:lvl2pPr>
                      <a:tabLst>
                        <a:tab pos="0" algn="l"/>
                        <a:tab pos="438150" algn="l"/>
                        <a:tab pos="887413" algn="l"/>
                        <a:tab pos="1336675" algn="l"/>
                        <a:tab pos="1785938" algn="l"/>
                        <a:tab pos="2235200" algn="l"/>
                        <a:tab pos="2684463" algn="l"/>
                        <a:tab pos="3133725" algn="l"/>
                        <a:tab pos="3582988" algn="l"/>
                        <a:tab pos="4032250" algn="l"/>
                        <a:tab pos="4481513" algn="l"/>
                        <a:tab pos="4930775" algn="l"/>
                        <a:tab pos="5380038" algn="l"/>
                        <a:tab pos="5829300" algn="l"/>
                        <a:tab pos="6278563" algn="l"/>
                        <a:tab pos="6727825" algn="l"/>
                        <a:tab pos="7177088" algn="l"/>
                        <a:tab pos="7626350" algn="l"/>
                        <a:tab pos="8075613" algn="l"/>
                        <a:tab pos="8524875" algn="l"/>
                        <a:tab pos="8974138" algn="l"/>
                        <a:tab pos="8975725" algn="l"/>
                        <a:tab pos="9424988" algn="l"/>
                        <a:tab pos="9874250" algn="l"/>
                        <a:tab pos="10323513" algn="l"/>
                        <a:tab pos="10772775" algn="l"/>
                        <a:tab pos="10774363" algn="l"/>
                        <a:tab pos="10775950" algn="l"/>
                        <a:tab pos="10777538" algn="l"/>
                        <a:tab pos="10779125" algn="l"/>
                        <a:tab pos="10780713" algn="l"/>
                      </a:tabLst>
                      <a:defRPr>
                        <a:solidFill>
                          <a:srgbClr val="FFFFFF"/>
                        </a:solidFill>
                        <a:latin typeface="Arial" charset="0"/>
                        <a:ea typeface="Microsoft YaHei" charset="-122"/>
                      </a:defRPr>
                    </a:lvl2pPr>
                    <a:lvl3pPr>
                      <a:tabLst>
                        <a:tab pos="0" algn="l"/>
                        <a:tab pos="438150" algn="l"/>
                        <a:tab pos="887413" algn="l"/>
                        <a:tab pos="1336675" algn="l"/>
                        <a:tab pos="1785938" algn="l"/>
                        <a:tab pos="2235200" algn="l"/>
                        <a:tab pos="2684463" algn="l"/>
                        <a:tab pos="3133725" algn="l"/>
                        <a:tab pos="3582988" algn="l"/>
                        <a:tab pos="4032250" algn="l"/>
                        <a:tab pos="4481513" algn="l"/>
                        <a:tab pos="4930775" algn="l"/>
                        <a:tab pos="5380038" algn="l"/>
                        <a:tab pos="5829300" algn="l"/>
                        <a:tab pos="6278563" algn="l"/>
                        <a:tab pos="6727825" algn="l"/>
                        <a:tab pos="7177088" algn="l"/>
                        <a:tab pos="7626350" algn="l"/>
                        <a:tab pos="8075613" algn="l"/>
                        <a:tab pos="8524875" algn="l"/>
                        <a:tab pos="8974138" algn="l"/>
                        <a:tab pos="8975725" algn="l"/>
                        <a:tab pos="9424988" algn="l"/>
                        <a:tab pos="9874250" algn="l"/>
                        <a:tab pos="10323513" algn="l"/>
                        <a:tab pos="10772775" algn="l"/>
                        <a:tab pos="10774363" algn="l"/>
                        <a:tab pos="10775950" algn="l"/>
                        <a:tab pos="10777538" algn="l"/>
                        <a:tab pos="10779125" algn="l"/>
                        <a:tab pos="10780713" algn="l"/>
                      </a:tabLst>
                      <a:defRPr>
                        <a:solidFill>
                          <a:srgbClr val="FFFFFF"/>
                        </a:solidFill>
                        <a:latin typeface="Arial" charset="0"/>
                        <a:ea typeface="Microsoft YaHei" charset="-122"/>
                      </a:defRPr>
                    </a:lvl3pPr>
                    <a:lvl4pPr>
                      <a:tabLst>
                        <a:tab pos="0" algn="l"/>
                        <a:tab pos="438150" algn="l"/>
                        <a:tab pos="887413" algn="l"/>
                        <a:tab pos="1336675" algn="l"/>
                        <a:tab pos="1785938" algn="l"/>
                        <a:tab pos="2235200" algn="l"/>
                        <a:tab pos="2684463" algn="l"/>
                        <a:tab pos="3133725" algn="l"/>
                        <a:tab pos="3582988" algn="l"/>
                        <a:tab pos="4032250" algn="l"/>
                        <a:tab pos="4481513" algn="l"/>
                        <a:tab pos="4930775" algn="l"/>
                        <a:tab pos="5380038" algn="l"/>
                        <a:tab pos="5829300" algn="l"/>
                        <a:tab pos="6278563" algn="l"/>
                        <a:tab pos="6727825" algn="l"/>
                        <a:tab pos="7177088" algn="l"/>
                        <a:tab pos="7626350" algn="l"/>
                        <a:tab pos="8075613" algn="l"/>
                        <a:tab pos="8524875" algn="l"/>
                        <a:tab pos="8974138" algn="l"/>
                        <a:tab pos="8975725" algn="l"/>
                        <a:tab pos="9424988" algn="l"/>
                        <a:tab pos="9874250" algn="l"/>
                        <a:tab pos="10323513" algn="l"/>
                        <a:tab pos="10772775" algn="l"/>
                        <a:tab pos="10774363" algn="l"/>
                        <a:tab pos="10775950" algn="l"/>
                        <a:tab pos="10777538" algn="l"/>
                        <a:tab pos="10779125" algn="l"/>
                        <a:tab pos="10780713" algn="l"/>
                      </a:tabLst>
                      <a:defRPr>
                        <a:solidFill>
                          <a:srgbClr val="FFFFFF"/>
                        </a:solidFill>
                        <a:latin typeface="Arial" charset="0"/>
                        <a:ea typeface="Microsoft YaHei" charset="-122"/>
                      </a:defRPr>
                    </a:lvl4pPr>
                    <a:lvl5pPr>
                      <a:tabLst>
                        <a:tab pos="0" algn="l"/>
                        <a:tab pos="438150" algn="l"/>
                        <a:tab pos="887413" algn="l"/>
                        <a:tab pos="1336675" algn="l"/>
                        <a:tab pos="1785938" algn="l"/>
                        <a:tab pos="2235200" algn="l"/>
                        <a:tab pos="2684463" algn="l"/>
                        <a:tab pos="3133725" algn="l"/>
                        <a:tab pos="3582988" algn="l"/>
                        <a:tab pos="4032250" algn="l"/>
                        <a:tab pos="4481513" algn="l"/>
                        <a:tab pos="4930775" algn="l"/>
                        <a:tab pos="5380038" algn="l"/>
                        <a:tab pos="5829300" algn="l"/>
                        <a:tab pos="6278563" algn="l"/>
                        <a:tab pos="6727825" algn="l"/>
                        <a:tab pos="7177088" algn="l"/>
                        <a:tab pos="7626350" algn="l"/>
                        <a:tab pos="8075613" algn="l"/>
                        <a:tab pos="8524875" algn="l"/>
                        <a:tab pos="8974138" algn="l"/>
                        <a:tab pos="8975725" algn="l"/>
                        <a:tab pos="9424988" algn="l"/>
                        <a:tab pos="9874250" algn="l"/>
                        <a:tab pos="10323513" algn="l"/>
                        <a:tab pos="10772775" algn="l"/>
                        <a:tab pos="10774363" algn="l"/>
                        <a:tab pos="10775950" algn="l"/>
                        <a:tab pos="10777538" algn="l"/>
                        <a:tab pos="10779125" algn="l"/>
                        <a:tab pos="10780713" algn="l"/>
                      </a:tabLst>
                      <a:defRPr>
                        <a:solidFill>
                          <a:srgbClr val="FFFFFF"/>
                        </a:solidFill>
                        <a:latin typeface="Arial" charset="0"/>
                        <a:ea typeface="Microsoft YaHei" charset="-122"/>
                      </a:defRPr>
                    </a:lvl5pPr>
                    <a:lvl6pPr marL="2514600" indent="-228600" defTabSz="449263" fontAlgn="base"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SzPct val="100000"/>
                      <a:buFont typeface="Times New Roman" pitchFamily="16" charset="0"/>
                      <a:tabLst>
                        <a:tab pos="0" algn="l"/>
                        <a:tab pos="438150" algn="l"/>
                        <a:tab pos="887413" algn="l"/>
                        <a:tab pos="1336675" algn="l"/>
                        <a:tab pos="1785938" algn="l"/>
                        <a:tab pos="2235200" algn="l"/>
                        <a:tab pos="2684463" algn="l"/>
                        <a:tab pos="3133725" algn="l"/>
                        <a:tab pos="3582988" algn="l"/>
                        <a:tab pos="4032250" algn="l"/>
                        <a:tab pos="4481513" algn="l"/>
                        <a:tab pos="4930775" algn="l"/>
                        <a:tab pos="5380038" algn="l"/>
                        <a:tab pos="5829300" algn="l"/>
                        <a:tab pos="6278563" algn="l"/>
                        <a:tab pos="6727825" algn="l"/>
                        <a:tab pos="7177088" algn="l"/>
                        <a:tab pos="7626350" algn="l"/>
                        <a:tab pos="8075613" algn="l"/>
                        <a:tab pos="8524875" algn="l"/>
                        <a:tab pos="8974138" algn="l"/>
                        <a:tab pos="8975725" algn="l"/>
                        <a:tab pos="9424988" algn="l"/>
                        <a:tab pos="9874250" algn="l"/>
                        <a:tab pos="10323513" algn="l"/>
                        <a:tab pos="10772775" algn="l"/>
                        <a:tab pos="10774363" algn="l"/>
                        <a:tab pos="10775950" algn="l"/>
                        <a:tab pos="10777538" algn="l"/>
                        <a:tab pos="10779125" algn="l"/>
                        <a:tab pos="10780713" algn="l"/>
                      </a:tabLst>
                      <a:defRPr>
                        <a:solidFill>
                          <a:srgbClr val="FFFFFF"/>
                        </a:solidFill>
                        <a:latin typeface="Arial" charset="0"/>
                        <a:ea typeface="Microsoft YaHei" charset="-122"/>
                      </a:defRPr>
                    </a:lvl6pPr>
                    <a:lvl7pPr marL="2971800" indent="-228600" defTabSz="449263" fontAlgn="base"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SzPct val="100000"/>
                      <a:buFont typeface="Times New Roman" pitchFamily="16" charset="0"/>
                      <a:tabLst>
                        <a:tab pos="0" algn="l"/>
                        <a:tab pos="438150" algn="l"/>
                        <a:tab pos="887413" algn="l"/>
                        <a:tab pos="1336675" algn="l"/>
                        <a:tab pos="1785938" algn="l"/>
                        <a:tab pos="2235200" algn="l"/>
                        <a:tab pos="2684463" algn="l"/>
                        <a:tab pos="3133725" algn="l"/>
                        <a:tab pos="3582988" algn="l"/>
                        <a:tab pos="4032250" algn="l"/>
                        <a:tab pos="4481513" algn="l"/>
                        <a:tab pos="4930775" algn="l"/>
                        <a:tab pos="5380038" algn="l"/>
                        <a:tab pos="5829300" algn="l"/>
                        <a:tab pos="6278563" algn="l"/>
                        <a:tab pos="6727825" algn="l"/>
                        <a:tab pos="7177088" algn="l"/>
                        <a:tab pos="7626350" algn="l"/>
                        <a:tab pos="8075613" algn="l"/>
                        <a:tab pos="8524875" algn="l"/>
                        <a:tab pos="8974138" algn="l"/>
                        <a:tab pos="8975725" algn="l"/>
                        <a:tab pos="9424988" algn="l"/>
                        <a:tab pos="9874250" algn="l"/>
                        <a:tab pos="10323513" algn="l"/>
                        <a:tab pos="10772775" algn="l"/>
                        <a:tab pos="10774363" algn="l"/>
                        <a:tab pos="10775950" algn="l"/>
                        <a:tab pos="10777538" algn="l"/>
                        <a:tab pos="10779125" algn="l"/>
                        <a:tab pos="10780713" algn="l"/>
                      </a:tabLst>
                      <a:defRPr>
                        <a:solidFill>
                          <a:srgbClr val="FFFFFF"/>
                        </a:solidFill>
                        <a:latin typeface="Arial" charset="0"/>
                        <a:ea typeface="Microsoft YaHei" charset="-122"/>
                      </a:defRPr>
                    </a:lvl7pPr>
                    <a:lvl8pPr marL="3429000" indent="-228600" defTabSz="449263" fontAlgn="base"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SzPct val="100000"/>
                      <a:buFont typeface="Times New Roman" pitchFamily="16" charset="0"/>
                      <a:tabLst>
                        <a:tab pos="0" algn="l"/>
                        <a:tab pos="438150" algn="l"/>
                        <a:tab pos="887413" algn="l"/>
                        <a:tab pos="1336675" algn="l"/>
                        <a:tab pos="1785938" algn="l"/>
                        <a:tab pos="2235200" algn="l"/>
                        <a:tab pos="2684463" algn="l"/>
                        <a:tab pos="3133725" algn="l"/>
                        <a:tab pos="3582988" algn="l"/>
                        <a:tab pos="4032250" algn="l"/>
                        <a:tab pos="4481513" algn="l"/>
                        <a:tab pos="4930775" algn="l"/>
                        <a:tab pos="5380038" algn="l"/>
                        <a:tab pos="5829300" algn="l"/>
                        <a:tab pos="6278563" algn="l"/>
                        <a:tab pos="6727825" algn="l"/>
                        <a:tab pos="7177088" algn="l"/>
                        <a:tab pos="7626350" algn="l"/>
                        <a:tab pos="8075613" algn="l"/>
                        <a:tab pos="8524875" algn="l"/>
                        <a:tab pos="8974138" algn="l"/>
                        <a:tab pos="8975725" algn="l"/>
                        <a:tab pos="9424988" algn="l"/>
                        <a:tab pos="9874250" algn="l"/>
                        <a:tab pos="10323513" algn="l"/>
                        <a:tab pos="10772775" algn="l"/>
                        <a:tab pos="10774363" algn="l"/>
                        <a:tab pos="10775950" algn="l"/>
                        <a:tab pos="10777538" algn="l"/>
                        <a:tab pos="10779125" algn="l"/>
                        <a:tab pos="10780713" algn="l"/>
                      </a:tabLst>
                      <a:defRPr>
                        <a:solidFill>
                          <a:srgbClr val="FFFFFF"/>
                        </a:solidFill>
                        <a:latin typeface="Arial" charset="0"/>
                        <a:ea typeface="Microsoft YaHei" charset="-122"/>
                      </a:defRPr>
                    </a:lvl8pPr>
                    <a:lvl9pPr marL="3886200" indent="-228600" defTabSz="449263" fontAlgn="base"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SzPct val="100000"/>
                      <a:buFont typeface="Times New Roman" pitchFamily="16" charset="0"/>
                      <a:tabLst>
                        <a:tab pos="0" algn="l"/>
                        <a:tab pos="438150" algn="l"/>
                        <a:tab pos="887413" algn="l"/>
                        <a:tab pos="1336675" algn="l"/>
                        <a:tab pos="1785938" algn="l"/>
                        <a:tab pos="2235200" algn="l"/>
                        <a:tab pos="2684463" algn="l"/>
                        <a:tab pos="3133725" algn="l"/>
                        <a:tab pos="3582988" algn="l"/>
                        <a:tab pos="4032250" algn="l"/>
                        <a:tab pos="4481513" algn="l"/>
                        <a:tab pos="4930775" algn="l"/>
                        <a:tab pos="5380038" algn="l"/>
                        <a:tab pos="5829300" algn="l"/>
                        <a:tab pos="6278563" algn="l"/>
                        <a:tab pos="6727825" algn="l"/>
                        <a:tab pos="7177088" algn="l"/>
                        <a:tab pos="7626350" algn="l"/>
                        <a:tab pos="8075613" algn="l"/>
                        <a:tab pos="8524875" algn="l"/>
                        <a:tab pos="8974138" algn="l"/>
                        <a:tab pos="8975725" algn="l"/>
                        <a:tab pos="9424988" algn="l"/>
                        <a:tab pos="9874250" algn="l"/>
                        <a:tab pos="10323513" algn="l"/>
                        <a:tab pos="10772775" algn="l"/>
                        <a:tab pos="10774363" algn="l"/>
                        <a:tab pos="10775950" algn="l"/>
                        <a:tab pos="10777538" algn="l"/>
                        <a:tab pos="10779125" algn="l"/>
                        <a:tab pos="10780713" algn="l"/>
                      </a:tabLst>
                      <a:defRPr>
                        <a:solidFill>
                          <a:srgbClr val="FFFFFF"/>
                        </a:solidFill>
                        <a:latin typeface="Arial" charset="0"/>
                        <a:ea typeface="Microsoft YaHei" charset="-122"/>
                      </a:defRPr>
                    </a:lvl9pPr>
                  </a:lstStyle>
                  <a:p>
                    <a:pPr algn="ctr" eaLnBrk="0" hangingPunct="0">
                      <a:buClrTx/>
                      <a:buFontTx/>
                      <a:buNone/>
                    </a:pPr>
                    <a:r>
                      <a:rPr lang="ru-RU" altLang="ru-RU" sz="1100" dirty="0">
                        <a:solidFill>
                          <a:srgbClr val="000000"/>
                        </a:solidFill>
                        <a:latin typeface="PT Sans"/>
                      </a:rPr>
                      <a:t>адрес</a:t>
                    </a:r>
                  </a:p>
                  <a:p>
                    <a:pPr algn="ctr" eaLnBrk="0" hangingPunct="0">
                      <a:buClrTx/>
                      <a:buFontTx/>
                      <a:buNone/>
                    </a:pPr>
                    <a:r>
                      <a:rPr lang="ru-RU" altLang="ru-RU" sz="1100" dirty="0">
                        <a:solidFill>
                          <a:srgbClr val="000000"/>
                        </a:solidFill>
                        <a:latin typeface="PT Sans"/>
                      </a:rPr>
                      <a:t>назначения</a:t>
                    </a:r>
                  </a:p>
                </p:txBody>
              </p:sp>
              <p:sp>
                <p:nvSpPr>
                  <p:cNvPr id="16" name="Rectangle 21"/>
                  <p:cNvSpPr>
                    <a:spLocks noChangeArrowheads="1"/>
                  </p:cNvSpPr>
                  <p:nvPr/>
                </p:nvSpPr>
                <p:spPr bwMode="auto">
                  <a:xfrm>
                    <a:off x="1132" y="2550"/>
                    <a:ext cx="659" cy="185"/>
                  </a:xfrm>
                  <a:prstGeom prst="rect">
                    <a:avLst/>
                  </a:prstGeom>
                  <a:solidFill>
                    <a:srgbClr val="FFFFFF"/>
                  </a:solidFill>
                  <a:ln w="9360" cap="sq">
                    <a:solidFill>
                      <a:srgbClr val="000000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>
                      <a:tabLst>
                        <a:tab pos="0" algn="l"/>
                        <a:tab pos="438150" algn="l"/>
                        <a:tab pos="887413" algn="l"/>
                        <a:tab pos="1336675" algn="l"/>
                        <a:tab pos="1785938" algn="l"/>
                        <a:tab pos="2235200" algn="l"/>
                        <a:tab pos="2684463" algn="l"/>
                        <a:tab pos="3133725" algn="l"/>
                        <a:tab pos="3582988" algn="l"/>
                        <a:tab pos="4032250" algn="l"/>
                        <a:tab pos="4481513" algn="l"/>
                        <a:tab pos="4930775" algn="l"/>
                        <a:tab pos="5380038" algn="l"/>
                        <a:tab pos="5829300" algn="l"/>
                        <a:tab pos="6278563" algn="l"/>
                        <a:tab pos="6727825" algn="l"/>
                        <a:tab pos="7177088" algn="l"/>
                        <a:tab pos="7626350" algn="l"/>
                        <a:tab pos="8075613" algn="l"/>
                        <a:tab pos="8524875" algn="l"/>
                        <a:tab pos="8974138" algn="l"/>
                        <a:tab pos="8975725" algn="l"/>
                        <a:tab pos="9424988" algn="l"/>
                        <a:tab pos="9874250" algn="l"/>
                        <a:tab pos="10323513" algn="l"/>
                        <a:tab pos="10772775" algn="l"/>
                        <a:tab pos="10774363" algn="l"/>
                        <a:tab pos="10775950" algn="l"/>
                        <a:tab pos="10777538" algn="l"/>
                        <a:tab pos="10779125" algn="l"/>
                        <a:tab pos="10780713" algn="l"/>
                      </a:tabLst>
                      <a:defRPr>
                        <a:solidFill>
                          <a:srgbClr val="FFFFFF"/>
                        </a:solidFill>
                        <a:latin typeface="Arial" charset="0"/>
                        <a:ea typeface="Microsoft YaHei" charset="-122"/>
                      </a:defRPr>
                    </a:lvl1pPr>
                    <a:lvl2pPr>
                      <a:tabLst>
                        <a:tab pos="0" algn="l"/>
                        <a:tab pos="438150" algn="l"/>
                        <a:tab pos="887413" algn="l"/>
                        <a:tab pos="1336675" algn="l"/>
                        <a:tab pos="1785938" algn="l"/>
                        <a:tab pos="2235200" algn="l"/>
                        <a:tab pos="2684463" algn="l"/>
                        <a:tab pos="3133725" algn="l"/>
                        <a:tab pos="3582988" algn="l"/>
                        <a:tab pos="4032250" algn="l"/>
                        <a:tab pos="4481513" algn="l"/>
                        <a:tab pos="4930775" algn="l"/>
                        <a:tab pos="5380038" algn="l"/>
                        <a:tab pos="5829300" algn="l"/>
                        <a:tab pos="6278563" algn="l"/>
                        <a:tab pos="6727825" algn="l"/>
                        <a:tab pos="7177088" algn="l"/>
                        <a:tab pos="7626350" algn="l"/>
                        <a:tab pos="8075613" algn="l"/>
                        <a:tab pos="8524875" algn="l"/>
                        <a:tab pos="8974138" algn="l"/>
                        <a:tab pos="8975725" algn="l"/>
                        <a:tab pos="9424988" algn="l"/>
                        <a:tab pos="9874250" algn="l"/>
                        <a:tab pos="10323513" algn="l"/>
                        <a:tab pos="10772775" algn="l"/>
                        <a:tab pos="10774363" algn="l"/>
                        <a:tab pos="10775950" algn="l"/>
                        <a:tab pos="10777538" algn="l"/>
                        <a:tab pos="10779125" algn="l"/>
                        <a:tab pos="10780713" algn="l"/>
                      </a:tabLst>
                      <a:defRPr>
                        <a:solidFill>
                          <a:srgbClr val="FFFFFF"/>
                        </a:solidFill>
                        <a:latin typeface="Arial" charset="0"/>
                        <a:ea typeface="Microsoft YaHei" charset="-122"/>
                      </a:defRPr>
                    </a:lvl2pPr>
                    <a:lvl3pPr>
                      <a:tabLst>
                        <a:tab pos="0" algn="l"/>
                        <a:tab pos="438150" algn="l"/>
                        <a:tab pos="887413" algn="l"/>
                        <a:tab pos="1336675" algn="l"/>
                        <a:tab pos="1785938" algn="l"/>
                        <a:tab pos="2235200" algn="l"/>
                        <a:tab pos="2684463" algn="l"/>
                        <a:tab pos="3133725" algn="l"/>
                        <a:tab pos="3582988" algn="l"/>
                        <a:tab pos="4032250" algn="l"/>
                        <a:tab pos="4481513" algn="l"/>
                        <a:tab pos="4930775" algn="l"/>
                        <a:tab pos="5380038" algn="l"/>
                        <a:tab pos="5829300" algn="l"/>
                        <a:tab pos="6278563" algn="l"/>
                        <a:tab pos="6727825" algn="l"/>
                        <a:tab pos="7177088" algn="l"/>
                        <a:tab pos="7626350" algn="l"/>
                        <a:tab pos="8075613" algn="l"/>
                        <a:tab pos="8524875" algn="l"/>
                        <a:tab pos="8974138" algn="l"/>
                        <a:tab pos="8975725" algn="l"/>
                        <a:tab pos="9424988" algn="l"/>
                        <a:tab pos="9874250" algn="l"/>
                        <a:tab pos="10323513" algn="l"/>
                        <a:tab pos="10772775" algn="l"/>
                        <a:tab pos="10774363" algn="l"/>
                        <a:tab pos="10775950" algn="l"/>
                        <a:tab pos="10777538" algn="l"/>
                        <a:tab pos="10779125" algn="l"/>
                        <a:tab pos="10780713" algn="l"/>
                      </a:tabLst>
                      <a:defRPr>
                        <a:solidFill>
                          <a:srgbClr val="FFFFFF"/>
                        </a:solidFill>
                        <a:latin typeface="Arial" charset="0"/>
                        <a:ea typeface="Microsoft YaHei" charset="-122"/>
                      </a:defRPr>
                    </a:lvl3pPr>
                    <a:lvl4pPr>
                      <a:tabLst>
                        <a:tab pos="0" algn="l"/>
                        <a:tab pos="438150" algn="l"/>
                        <a:tab pos="887413" algn="l"/>
                        <a:tab pos="1336675" algn="l"/>
                        <a:tab pos="1785938" algn="l"/>
                        <a:tab pos="2235200" algn="l"/>
                        <a:tab pos="2684463" algn="l"/>
                        <a:tab pos="3133725" algn="l"/>
                        <a:tab pos="3582988" algn="l"/>
                        <a:tab pos="4032250" algn="l"/>
                        <a:tab pos="4481513" algn="l"/>
                        <a:tab pos="4930775" algn="l"/>
                        <a:tab pos="5380038" algn="l"/>
                        <a:tab pos="5829300" algn="l"/>
                        <a:tab pos="6278563" algn="l"/>
                        <a:tab pos="6727825" algn="l"/>
                        <a:tab pos="7177088" algn="l"/>
                        <a:tab pos="7626350" algn="l"/>
                        <a:tab pos="8075613" algn="l"/>
                        <a:tab pos="8524875" algn="l"/>
                        <a:tab pos="8974138" algn="l"/>
                        <a:tab pos="8975725" algn="l"/>
                        <a:tab pos="9424988" algn="l"/>
                        <a:tab pos="9874250" algn="l"/>
                        <a:tab pos="10323513" algn="l"/>
                        <a:tab pos="10772775" algn="l"/>
                        <a:tab pos="10774363" algn="l"/>
                        <a:tab pos="10775950" algn="l"/>
                        <a:tab pos="10777538" algn="l"/>
                        <a:tab pos="10779125" algn="l"/>
                        <a:tab pos="10780713" algn="l"/>
                      </a:tabLst>
                      <a:defRPr>
                        <a:solidFill>
                          <a:srgbClr val="FFFFFF"/>
                        </a:solidFill>
                        <a:latin typeface="Arial" charset="0"/>
                        <a:ea typeface="Microsoft YaHei" charset="-122"/>
                      </a:defRPr>
                    </a:lvl4pPr>
                    <a:lvl5pPr>
                      <a:tabLst>
                        <a:tab pos="0" algn="l"/>
                        <a:tab pos="438150" algn="l"/>
                        <a:tab pos="887413" algn="l"/>
                        <a:tab pos="1336675" algn="l"/>
                        <a:tab pos="1785938" algn="l"/>
                        <a:tab pos="2235200" algn="l"/>
                        <a:tab pos="2684463" algn="l"/>
                        <a:tab pos="3133725" algn="l"/>
                        <a:tab pos="3582988" algn="l"/>
                        <a:tab pos="4032250" algn="l"/>
                        <a:tab pos="4481513" algn="l"/>
                        <a:tab pos="4930775" algn="l"/>
                        <a:tab pos="5380038" algn="l"/>
                        <a:tab pos="5829300" algn="l"/>
                        <a:tab pos="6278563" algn="l"/>
                        <a:tab pos="6727825" algn="l"/>
                        <a:tab pos="7177088" algn="l"/>
                        <a:tab pos="7626350" algn="l"/>
                        <a:tab pos="8075613" algn="l"/>
                        <a:tab pos="8524875" algn="l"/>
                        <a:tab pos="8974138" algn="l"/>
                        <a:tab pos="8975725" algn="l"/>
                        <a:tab pos="9424988" algn="l"/>
                        <a:tab pos="9874250" algn="l"/>
                        <a:tab pos="10323513" algn="l"/>
                        <a:tab pos="10772775" algn="l"/>
                        <a:tab pos="10774363" algn="l"/>
                        <a:tab pos="10775950" algn="l"/>
                        <a:tab pos="10777538" algn="l"/>
                        <a:tab pos="10779125" algn="l"/>
                        <a:tab pos="10780713" algn="l"/>
                      </a:tabLst>
                      <a:defRPr>
                        <a:solidFill>
                          <a:srgbClr val="FFFFFF"/>
                        </a:solidFill>
                        <a:latin typeface="Arial" charset="0"/>
                        <a:ea typeface="Microsoft YaHei" charset="-122"/>
                      </a:defRPr>
                    </a:lvl5pPr>
                    <a:lvl6pPr marL="2514600" indent="-228600" defTabSz="449263" fontAlgn="base"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SzPct val="100000"/>
                      <a:buFont typeface="Times New Roman" pitchFamily="16" charset="0"/>
                      <a:tabLst>
                        <a:tab pos="0" algn="l"/>
                        <a:tab pos="438150" algn="l"/>
                        <a:tab pos="887413" algn="l"/>
                        <a:tab pos="1336675" algn="l"/>
                        <a:tab pos="1785938" algn="l"/>
                        <a:tab pos="2235200" algn="l"/>
                        <a:tab pos="2684463" algn="l"/>
                        <a:tab pos="3133725" algn="l"/>
                        <a:tab pos="3582988" algn="l"/>
                        <a:tab pos="4032250" algn="l"/>
                        <a:tab pos="4481513" algn="l"/>
                        <a:tab pos="4930775" algn="l"/>
                        <a:tab pos="5380038" algn="l"/>
                        <a:tab pos="5829300" algn="l"/>
                        <a:tab pos="6278563" algn="l"/>
                        <a:tab pos="6727825" algn="l"/>
                        <a:tab pos="7177088" algn="l"/>
                        <a:tab pos="7626350" algn="l"/>
                        <a:tab pos="8075613" algn="l"/>
                        <a:tab pos="8524875" algn="l"/>
                        <a:tab pos="8974138" algn="l"/>
                        <a:tab pos="8975725" algn="l"/>
                        <a:tab pos="9424988" algn="l"/>
                        <a:tab pos="9874250" algn="l"/>
                        <a:tab pos="10323513" algn="l"/>
                        <a:tab pos="10772775" algn="l"/>
                        <a:tab pos="10774363" algn="l"/>
                        <a:tab pos="10775950" algn="l"/>
                        <a:tab pos="10777538" algn="l"/>
                        <a:tab pos="10779125" algn="l"/>
                        <a:tab pos="10780713" algn="l"/>
                      </a:tabLst>
                      <a:defRPr>
                        <a:solidFill>
                          <a:srgbClr val="FFFFFF"/>
                        </a:solidFill>
                        <a:latin typeface="Arial" charset="0"/>
                        <a:ea typeface="Microsoft YaHei" charset="-122"/>
                      </a:defRPr>
                    </a:lvl6pPr>
                    <a:lvl7pPr marL="2971800" indent="-228600" defTabSz="449263" fontAlgn="base"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SzPct val="100000"/>
                      <a:buFont typeface="Times New Roman" pitchFamily="16" charset="0"/>
                      <a:tabLst>
                        <a:tab pos="0" algn="l"/>
                        <a:tab pos="438150" algn="l"/>
                        <a:tab pos="887413" algn="l"/>
                        <a:tab pos="1336675" algn="l"/>
                        <a:tab pos="1785938" algn="l"/>
                        <a:tab pos="2235200" algn="l"/>
                        <a:tab pos="2684463" algn="l"/>
                        <a:tab pos="3133725" algn="l"/>
                        <a:tab pos="3582988" algn="l"/>
                        <a:tab pos="4032250" algn="l"/>
                        <a:tab pos="4481513" algn="l"/>
                        <a:tab pos="4930775" algn="l"/>
                        <a:tab pos="5380038" algn="l"/>
                        <a:tab pos="5829300" algn="l"/>
                        <a:tab pos="6278563" algn="l"/>
                        <a:tab pos="6727825" algn="l"/>
                        <a:tab pos="7177088" algn="l"/>
                        <a:tab pos="7626350" algn="l"/>
                        <a:tab pos="8075613" algn="l"/>
                        <a:tab pos="8524875" algn="l"/>
                        <a:tab pos="8974138" algn="l"/>
                        <a:tab pos="8975725" algn="l"/>
                        <a:tab pos="9424988" algn="l"/>
                        <a:tab pos="9874250" algn="l"/>
                        <a:tab pos="10323513" algn="l"/>
                        <a:tab pos="10772775" algn="l"/>
                        <a:tab pos="10774363" algn="l"/>
                        <a:tab pos="10775950" algn="l"/>
                        <a:tab pos="10777538" algn="l"/>
                        <a:tab pos="10779125" algn="l"/>
                        <a:tab pos="10780713" algn="l"/>
                      </a:tabLst>
                      <a:defRPr>
                        <a:solidFill>
                          <a:srgbClr val="FFFFFF"/>
                        </a:solidFill>
                        <a:latin typeface="Arial" charset="0"/>
                        <a:ea typeface="Microsoft YaHei" charset="-122"/>
                      </a:defRPr>
                    </a:lvl7pPr>
                    <a:lvl8pPr marL="3429000" indent="-228600" defTabSz="449263" fontAlgn="base"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SzPct val="100000"/>
                      <a:buFont typeface="Times New Roman" pitchFamily="16" charset="0"/>
                      <a:tabLst>
                        <a:tab pos="0" algn="l"/>
                        <a:tab pos="438150" algn="l"/>
                        <a:tab pos="887413" algn="l"/>
                        <a:tab pos="1336675" algn="l"/>
                        <a:tab pos="1785938" algn="l"/>
                        <a:tab pos="2235200" algn="l"/>
                        <a:tab pos="2684463" algn="l"/>
                        <a:tab pos="3133725" algn="l"/>
                        <a:tab pos="3582988" algn="l"/>
                        <a:tab pos="4032250" algn="l"/>
                        <a:tab pos="4481513" algn="l"/>
                        <a:tab pos="4930775" algn="l"/>
                        <a:tab pos="5380038" algn="l"/>
                        <a:tab pos="5829300" algn="l"/>
                        <a:tab pos="6278563" algn="l"/>
                        <a:tab pos="6727825" algn="l"/>
                        <a:tab pos="7177088" algn="l"/>
                        <a:tab pos="7626350" algn="l"/>
                        <a:tab pos="8075613" algn="l"/>
                        <a:tab pos="8524875" algn="l"/>
                        <a:tab pos="8974138" algn="l"/>
                        <a:tab pos="8975725" algn="l"/>
                        <a:tab pos="9424988" algn="l"/>
                        <a:tab pos="9874250" algn="l"/>
                        <a:tab pos="10323513" algn="l"/>
                        <a:tab pos="10772775" algn="l"/>
                        <a:tab pos="10774363" algn="l"/>
                        <a:tab pos="10775950" algn="l"/>
                        <a:tab pos="10777538" algn="l"/>
                        <a:tab pos="10779125" algn="l"/>
                        <a:tab pos="10780713" algn="l"/>
                      </a:tabLst>
                      <a:defRPr>
                        <a:solidFill>
                          <a:srgbClr val="FFFFFF"/>
                        </a:solidFill>
                        <a:latin typeface="Arial" charset="0"/>
                        <a:ea typeface="Microsoft YaHei" charset="-122"/>
                      </a:defRPr>
                    </a:lvl8pPr>
                    <a:lvl9pPr marL="3886200" indent="-228600" defTabSz="449263" fontAlgn="base"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SzPct val="100000"/>
                      <a:buFont typeface="Times New Roman" pitchFamily="16" charset="0"/>
                      <a:tabLst>
                        <a:tab pos="0" algn="l"/>
                        <a:tab pos="438150" algn="l"/>
                        <a:tab pos="887413" algn="l"/>
                        <a:tab pos="1336675" algn="l"/>
                        <a:tab pos="1785938" algn="l"/>
                        <a:tab pos="2235200" algn="l"/>
                        <a:tab pos="2684463" algn="l"/>
                        <a:tab pos="3133725" algn="l"/>
                        <a:tab pos="3582988" algn="l"/>
                        <a:tab pos="4032250" algn="l"/>
                        <a:tab pos="4481513" algn="l"/>
                        <a:tab pos="4930775" algn="l"/>
                        <a:tab pos="5380038" algn="l"/>
                        <a:tab pos="5829300" algn="l"/>
                        <a:tab pos="6278563" algn="l"/>
                        <a:tab pos="6727825" algn="l"/>
                        <a:tab pos="7177088" algn="l"/>
                        <a:tab pos="7626350" algn="l"/>
                        <a:tab pos="8075613" algn="l"/>
                        <a:tab pos="8524875" algn="l"/>
                        <a:tab pos="8974138" algn="l"/>
                        <a:tab pos="8975725" algn="l"/>
                        <a:tab pos="9424988" algn="l"/>
                        <a:tab pos="9874250" algn="l"/>
                        <a:tab pos="10323513" algn="l"/>
                        <a:tab pos="10772775" algn="l"/>
                        <a:tab pos="10774363" algn="l"/>
                        <a:tab pos="10775950" algn="l"/>
                        <a:tab pos="10777538" algn="l"/>
                        <a:tab pos="10779125" algn="l"/>
                        <a:tab pos="10780713" algn="l"/>
                      </a:tabLst>
                      <a:defRPr>
                        <a:solidFill>
                          <a:srgbClr val="FFFFFF"/>
                        </a:solidFill>
                        <a:latin typeface="Arial" charset="0"/>
                        <a:ea typeface="Microsoft YaHei" charset="-122"/>
                      </a:defRPr>
                    </a:lvl9pPr>
                  </a:lstStyle>
                  <a:p>
                    <a:pPr algn="ctr" eaLnBrk="0" hangingPunct="0">
                      <a:buClrTx/>
                      <a:buFontTx/>
                      <a:buNone/>
                    </a:pPr>
                    <a:r>
                      <a:rPr lang="ru-RU" altLang="ru-RU" sz="1100">
                        <a:solidFill>
                          <a:srgbClr val="000000"/>
                        </a:solidFill>
                        <a:latin typeface="PT Sans"/>
                      </a:rPr>
                      <a:t>адрес</a:t>
                    </a:r>
                  </a:p>
                  <a:p>
                    <a:pPr algn="ctr" eaLnBrk="0" hangingPunct="0">
                      <a:buClrTx/>
                      <a:buFontTx/>
                      <a:buNone/>
                    </a:pPr>
                    <a:r>
                      <a:rPr lang="ru-RU" altLang="ru-RU" sz="1100">
                        <a:solidFill>
                          <a:srgbClr val="000000"/>
                        </a:solidFill>
                        <a:latin typeface="PT Sans"/>
                      </a:rPr>
                      <a:t>источника</a:t>
                    </a:r>
                  </a:p>
                </p:txBody>
              </p:sp>
              <p:sp>
                <p:nvSpPr>
                  <p:cNvPr id="17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1806" y="2550"/>
                    <a:ext cx="322" cy="185"/>
                  </a:xfrm>
                  <a:prstGeom prst="rect">
                    <a:avLst/>
                  </a:prstGeom>
                  <a:solidFill>
                    <a:srgbClr val="FFFFFF"/>
                  </a:solidFill>
                  <a:ln w="9360" cap="sq">
                    <a:solidFill>
                      <a:srgbClr val="000000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>
                      <a:tabLst>
                        <a:tab pos="0" algn="l"/>
                        <a:tab pos="438150" algn="l"/>
                        <a:tab pos="887413" algn="l"/>
                        <a:tab pos="1336675" algn="l"/>
                        <a:tab pos="1785938" algn="l"/>
                        <a:tab pos="2235200" algn="l"/>
                        <a:tab pos="2684463" algn="l"/>
                        <a:tab pos="3133725" algn="l"/>
                        <a:tab pos="3582988" algn="l"/>
                        <a:tab pos="4032250" algn="l"/>
                        <a:tab pos="4481513" algn="l"/>
                        <a:tab pos="4930775" algn="l"/>
                        <a:tab pos="5380038" algn="l"/>
                        <a:tab pos="5829300" algn="l"/>
                        <a:tab pos="6278563" algn="l"/>
                        <a:tab pos="6727825" algn="l"/>
                        <a:tab pos="7177088" algn="l"/>
                        <a:tab pos="7626350" algn="l"/>
                        <a:tab pos="8075613" algn="l"/>
                        <a:tab pos="8524875" algn="l"/>
                        <a:tab pos="8974138" algn="l"/>
                        <a:tab pos="8975725" algn="l"/>
                        <a:tab pos="9424988" algn="l"/>
                        <a:tab pos="9874250" algn="l"/>
                        <a:tab pos="10323513" algn="l"/>
                        <a:tab pos="10772775" algn="l"/>
                        <a:tab pos="10774363" algn="l"/>
                        <a:tab pos="10775950" algn="l"/>
                        <a:tab pos="10777538" algn="l"/>
                        <a:tab pos="10779125" algn="l"/>
                        <a:tab pos="10780713" algn="l"/>
                      </a:tabLst>
                      <a:defRPr>
                        <a:solidFill>
                          <a:srgbClr val="FFFFFF"/>
                        </a:solidFill>
                        <a:latin typeface="Arial" charset="0"/>
                        <a:ea typeface="Microsoft YaHei" charset="-122"/>
                      </a:defRPr>
                    </a:lvl1pPr>
                    <a:lvl2pPr>
                      <a:tabLst>
                        <a:tab pos="0" algn="l"/>
                        <a:tab pos="438150" algn="l"/>
                        <a:tab pos="887413" algn="l"/>
                        <a:tab pos="1336675" algn="l"/>
                        <a:tab pos="1785938" algn="l"/>
                        <a:tab pos="2235200" algn="l"/>
                        <a:tab pos="2684463" algn="l"/>
                        <a:tab pos="3133725" algn="l"/>
                        <a:tab pos="3582988" algn="l"/>
                        <a:tab pos="4032250" algn="l"/>
                        <a:tab pos="4481513" algn="l"/>
                        <a:tab pos="4930775" algn="l"/>
                        <a:tab pos="5380038" algn="l"/>
                        <a:tab pos="5829300" algn="l"/>
                        <a:tab pos="6278563" algn="l"/>
                        <a:tab pos="6727825" algn="l"/>
                        <a:tab pos="7177088" algn="l"/>
                        <a:tab pos="7626350" algn="l"/>
                        <a:tab pos="8075613" algn="l"/>
                        <a:tab pos="8524875" algn="l"/>
                        <a:tab pos="8974138" algn="l"/>
                        <a:tab pos="8975725" algn="l"/>
                        <a:tab pos="9424988" algn="l"/>
                        <a:tab pos="9874250" algn="l"/>
                        <a:tab pos="10323513" algn="l"/>
                        <a:tab pos="10772775" algn="l"/>
                        <a:tab pos="10774363" algn="l"/>
                        <a:tab pos="10775950" algn="l"/>
                        <a:tab pos="10777538" algn="l"/>
                        <a:tab pos="10779125" algn="l"/>
                        <a:tab pos="10780713" algn="l"/>
                      </a:tabLst>
                      <a:defRPr>
                        <a:solidFill>
                          <a:srgbClr val="FFFFFF"/>
                        </a:solidFill>
                        <a:latin typeface="Arial" charset="0"/>
                        <a:ea typeface="Microsoft YaHei" charset="-122"/>
                      </a:defRPr>
                    </a:lvl2pPr>
                    <a:lvl3pPr>
                      <a:tabLst>
                        <a:tab pos="0" algn="l"/>
                        <a:tab pos="438150" algn="l"/>
                        <a:tab pos="887413" algn="l"/>
                        <a:tab pos="1336675" algn="l"/>
                        <a:tab pos="1785938" algn="l"/>
                        <a:tab pos="2235200" algn="l"/>
                        <a:tab pos="2684463" algn="l"/>
                        <a:tab pos="3133725" algn="l"/>
                        <a:tab pos="3582988" algn="l"/>
                        <a:tab pos="4032250" algn="l"/>
                        <a:tab pos="4481513" algn="l"/>
                        <a:tab pos="4930775" algn="l"/>
                        <a:tab pos="5380038" algn="l"/>
                        <a:tab pos="5829300" algn="l"/>
                        <a:tab pos="6278563" algn="l"/>
                        <a:tab pos="6727825" algn="l"/>
                        <a:tab pos="7177088" algn="l"/>
                        <a:tab pos="7626350" algn="l"/>
                        <a:tab pos="8075613" algn="l"/>
                        <a:tab pos="8524875" algn="l"/>
                        <a:tab pos="8974138" algn="l"/>
                        <a:tab pos="8975725" algn="l"/>
                        <a:tab pos="9424988" algn="l"/>
                        <a:tab pos="9874250" algn="l"/>
                        <a:tab pos="10323513" algn="l"/>
                        <a:tab pos="10772775" algn="l"/>
                        <a:tab pos="10774363" algn="l"/>
                        <a:tab pos="10775950" algn="l"/>
                        <a:tab pos="10777538" algn="l"/>
                        <a:tab pos="10779125" algn="l"/>
                        <a:tab pos="10780713" algn="l"/>
                      </a:tabLst>
                      <a:defRPr>
                        <a:solidFill>
                          <a:srgbClr val="FFFFFF"/>
                        </a:solidFill>
                        <a:latin typeface="Arial" charset="0"/>
                        <a:ea typeface="Microsoft YaHei" charset="-122"/>
                      </a:defRPr>
                    </a:lvl3pPr>
                    <a:lvl4pPr>
                      <a:tabLst>
                        <a:tab pos="0" algn="l"/>
                        <a:tab pos="438150" algn="l"/>
                        <a:tab pos="887413" algn="l"/>
                        <a:tab pos="1336675" algn="l"/>
                        <a:tab pos="1785938" algn="l"/>
                        <a:tab pos="2235200" algn="l"/>
                        <a:tab pos="2684463" algn="l"/>
                        <a:tab pos="3133725" algn="l"/>
                        <a:tab pos="3582988" algn="l"/>
                        <a:tab pos="4032250" algn="l"/>
                        <a:tab pos="4481513" algn="l"/>
                        <a:tab pos="4930775" algn="l"/>
                        <a:tab pos="5380038" algn="l"/>
                        <a:tab pos="5829300" algn="l"/>
                        <a:tab pos="6278563" algn="l"/>
                        <a:tab pos="6727825" algn="l"/>
                        <a:tab pos="7177088" algn="l"/>
                        <a:tab pos="7626350" algn="l"/>
                        <a:tab pos="8075613" algn="l"/>
                        <a:tab pos="8524875" algn="l"/>
                        <a:tab pos="8974138" algn="l"/>
                        <a:tab pos="8975725" algn="l"/>
                        <a:tab pos="9424988" algn="l"/>
                        <a:tab pos="9874250" algn="l"/>
                        <a:tab pos="10323513" algn="l"/>
                        <a:tab pos="10772775" algn="l"/>
                        <a:tab pos="10774363" algn="l"/>
                        <a:tab pos="10775950" algn="l"/>
                        <a:tab pos="10777538" algn="l"/>
                        <a:tab pos="10779125" algn="l"/>
                        <a:tab pos="10780713" algn="l"/>
                      </a:tabLst>
                      <a:defRPr>
                        <a:solidFill>
                          <a:srgbClr val="FFFFFF"/>
                        </a:solidFill>
                        <a:latin typeface="Arial" charset="0"/>
                        <a:ea typeface="Microsoft YaHei" charset="-122"/>
                      </a:defRPr>
                    </a:lvl4pPr>
                    <a:lvl5pPr>
                      <a:tabLst>
                        <a:tab pos="0" algn="l"/>
                        <a:tab pos="438150" algn="l"/>
                        <a:tab pos="887413" algn="l"/>
                        <a:tab pos="1336675" algn="l"/>
                        <a:tab pos="1785938" algn="l"/>
                        <a:tab pos="2235200" algn="l"/>
                        <a:tab pos="2684463" algn="l"/>
                        <a:tab pos="3133725" algn="l"/>
                        <a:tab pos="3582988" algn="l"/>
                        <a:tab pos="4032250" algn="l"/>
                        <a:tab pos="4481513" algn="l"/>
                        <a:tab pos="4930775" algn="l"/>
                        <a:tab pos="5380038" algn="l"/>
                        <a:tab pos="5829300" algn="l"/>
                        <a:tab pos="6278563" algn="l"/>
                        <a:tab pos="6727825" algn="l"/>
                        <a:tab pos="7177088" algn="l"/>
                        <a:tab pos="7626350" algn="l"/>
                        <a:tab pos="8075613" algn="l"/>
                        <a:tab pos="8524875" algn="l"/>
                        <a:tab pos="8974138" algn="l"/>
                        <a:tab pos="8975725" algn="l"/>
                        <a:tab pos="9424988" algn="l"/>
                        <a:tab pos="9874250" algn="l"/>
                        <a:tab pos="10323513" algn="l"/>
                        <a:tab pos="10772775" algn="l"/>
                        <a:tab pos="10774363" algn="l"/>
                        <a:tab pos="10775950" algn="l"/>
                        <a:tab pos="10777538" algn="l"/>
                        <a:tab pos="10779125" algn="l"/>
                        <a:tab pos="10780713" algn="l"/>
                      </a:tabLst>
                      <a:defRPr>
                        <a:solidFill>
                          <a:srgbClr val="FFFFFF"/>
                        </a:solidFill>
                        <a:latin typeface="Arial" charset="0"/>
                        <a:ea typeface="Microsoft YaHei" charset="-122"/>
                      </a:defRPr>
                    </a:lvl5pPr>
                    <a:lvl6pPr marL="2514600" indent="-228600" defTabSz="449263" fontAlgn="base"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SzPct val="100000"/>
                      <a:buFont typeface="Times New Roman" pitchFamily="16" charset="0"/>
                      <a:tabLst>
                        <a:tab pos="0" algn="l"/>
                        <a:tab pos="438150" algn="l"/>
                        <a:tab pos="887413" algn="l"/>
                        <a:tab pos="1336675" algn="l"/>
                        <a:tab pos="1785938" algn="l"/>
                        <a:tab pos="2235200" algn="l"/>
                        <a:tab pos="2684463" algn="l"/>
                        <a:tab pos="3133725" algn="l"/>
                        <a:tab pos="3582988" algn="l"/>
                        <a:tab pos="4032250" algn="l"/>
                        <a:tab pos="4481513" algn="l"/>
                        <a:tab pos="4930775" algn="l"/>
                        <a:tab pos="5380038" algn="l"/>
                        <a:tab pos="5829300" algn="l"/>
                        <a:tab pos="6278563" algn="l"/>
                        <a:tab pos="6727825" algn="l"/>
                        <a:tab pos="7177088" algn="l"/>
                        <a:tab pos="7626350" algn="l"/>
                        <a:tab pos="8075613" algn="l"/>
                        <a:tab pos="8524875" algn="l"/>
                        <a:tab pos="8974138" algn="l"/>
                        <a:tab pos="8975725" algn="l"/>
                        <a:tab pos="9424988" algn="l"/>
                        <a:tab pos="9874250" algn="l"/>
                        <a:tab pos="10323513" algn="l"/>
                        <a:tab pos="10772775" algn="l"/>
                        <a:tab pos="10774363" algn="l"/>
                        <a:tab pos="10775950" algn="l"/>
                        <a:tab pos="10777538" algn="l"/>
                        <a:tab pos="10779125" algn="l"/>
                        <a:tab pos="10780713" algn="l"/>
                      </a:tabLst>
                      <a:defRPr>
                        <a:solidFill>
                          <a:srgbClr val="FFFFFF"/>
                        </a:solidFill>
                        <a:latin typeface="Arial" charset="0"/>
                        <a:ea typeface="Microsoft YaHei" charset="-122"/>
                      </a:defRPr>
                    </a:lvl6pPr>
                    <a:lvl7pPr marL="2971800" indent="-228600" defTabSz="449263" fontAlgn="base"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SzPct val="100000"/>
                      <a:buFont typeface="Times New Roman" pitchFamily="16" charset="0"/>
                      <a:tabLst>
                        <a:tab pos="0" algn="l"/>
                        <a:tab pos="438150" algn="l"/>
                        <a:tab pos="887413" algn="l"/>
                        <a:tab pos="1336675" algn="l"/>
                        <a:tab pos="1785938" algn="l"/>
                        <a:tab pos="2235200" algn="l"/>
                        <a:tab pos="2684463" algn="l"/>
                        <a:tab pos="3133725" algn="l"/>
                        <a:tab pos="3582988" algn="l"/>
                        <a:tab pos="4032250" algn="l"/>
                        <a:tab pos="4481513" algn="l"/>
                        <a:tab pos="4930775" algn="l"/>
                        <a:tab pos="5380038" algn="l"/>
                        <a:tab pos="5829300" algn="l"/>
                        <a:tab pos="6278563" algn="l"/>
                        <a:tab pos="6727825" algn="l"/>
                        <a:tab pos="7177088" algn="l"/>
                        <a:tab pos="7626350" algn="l"/>
                        <a:tab pos="8075613" algn="l"/>
                        <a:tab pos="8524875" algn="l"/>
                        <a:tab pos="8974138" algn="l"/>
                        <a:tab pos="8975725" algn="l"/>
                        <a:tab pos="9424988" algn="l"/>
                        <a:tab pos="9874250" algn="l"/>
                        <a:tab pos="10323513" algn="l"/>
                        <a:tab pos="10772775" algn="l"/>
                        <a:tab pos="10774363" algn="l"/>
                        <a:tab pos="10775950" algn="l"/>
                        <a:tab pos="10777538" algn="l"/>
                        <a:tab pos="10779125" algn="l"/>
                        <a:tab pos="10780713" algn="l"/>
                      </a:tabLst>
                      <a:defRPr>
                        <a:solidFill>
                          <a:srgbClr val="FFFFFF"/>
                        </a:solidFill>
                        <a:latin typeface="Arial" charset="0"/>
                        <a:ea typeface="Microsoft YaHei" charset="-122"/>
                      </a:defRPr>
                    </a:lvl7pPr>
                    <a:lvl8pPr marL="3429000" indent="-228600" defTabSz="449263" fontAlgn="base"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SzPct val="100000"/>
                      <a:buFont typeface="Times New Roman" pitchFamily="16" charset="0"/>
                      <a:tabLst>
                        <a:tab pos="0" algn="l"/>
                        <a:tab pos="438150" algn="l"/>
                        <a:tab pos="887413" algn="l"/>
                        <a:tab pos="1336675" algn="l"/>
                        <a:tab pos="1785938" algn="l"/>
                        <a:tab pos="2235200" algn="l"/>
                        <a:tab pos="2684463" algn="l"/>
                        <a:tab pos="3133725" algn="l"/>
                        <a:tab pos="3582988" algn="l"/>
                        <a:tab pos="4032250" algn="l"/>
                        <a:tab pos="4481513" algn="l"/>
                        <a:tab pos="4930775" algn="l"/>
                        <a:tab pos="5380038" algn="l"/>
                        <a:tab pos="5829300" algn="l"/>
                        <a:tab pos="6278563" algn="l"/>
                        <a:tab pos="6727825" algn="l"/>
                        <a:tab pos="7177088" algn="l"/>
                        <a:tab pos="7626350" algn="l"/>
                        <a:tab pos="8075613" algn="l"/>
                        <a:tab pos="8524875" algn="l"/>
                        <a:tab pos="8974138" algn="l"/>
                        <a:tab pos="8975725" algn="l"/>
                        <a:tab pos="9424988" algn="l"/>
                        <a:tab pos="9874250" algn="l"/>
                        <a:tab pos="10323513" algn="l"/>
                        <a:tab pos="10772775" algn="l"/>
                        <a:tab pos="10774363" algn="l"/>
                        <a:tab pos="10775950" algn="l"/>
                        <a:tab pos="10777538" algn="l"/>
                        <a:tab pos="10779125" algn="l"/>
                        <a:tab pos="10780713" algn="l"/>
                      </a:tabLst>
                      <a:defRPr>
                        <a:solidFill>
                          <a:srgbClr val="FFFFFF"/>
                        </a:solidFill>
                        <a:latin typeface="Arial" charset="0"/>
                        <a:ea typeface="Microsoft YaHei" charset="-122"/>
                      </a:defRPr>
                    </a:lvl8pPr>
                    <a:lvl9pPr marL="3886200" indent="-228600" defTabSz="449263" fontAlgn="base"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SzPct val="100000"/>
                      <a:buFont typeface="Times New Roman" pitchFamily="16" charset="0"/>
                      <a:tabLst>
                        <a:tab pos="0" algn="l"/>
                        <a:tab pos="438150" algn="l"/>
                        <a:tab pos="887413" algn="l"/>
                        <a:tab pos="1336675" algn="l"/>
                        <a:tab pos="1785938" algn="l"/>
                        <a:tab pos="2235200" algn="l"/>
                        <a:tab pos="2684463" algn="l"/>
                        <a:tab pos="3133725" algn="l"/>
                        <a:tab pos="3582988" algn="l"/>
                        <a:tab pos="4032250" algn="l"/>
                        <a:tab pos="4481513" algn="l"/>
                        <a:tab pos="4930775" algn="l"/>
                        <a:tab pos="5380038" algn="l"/>
                        <a:tab pos="5829300" algn="l"/>
                        <a:tab pos="6278563" algn="l"/>
                        <a:tab pos="6727825" algn="l"/>
                        <a:tab pos="7177088" algn="l"/>
                        <a:tab pos="7626350" algn="l"/>
                        <a:tab pos="8075613" algn="l"/>
                        <a:tab pos="8524875" algn="l"/>
                        <a:tab pos="8974138" algn="l"/>
                        <a:tab pos="8975725" algn="l"/>
                        <a:tab pos="9424988" algn="l"/>
                        <a:tab pos="9874250" algn="l"/>
                        <a:tab pos="10323513" algn="l"/>
                        <a:tab pos="10772775" algn="l"/>
                        <a:tab pos="10774363" algn="l"/>
                        <a:tab pos="10775950" algn="l"/>
                        <a:tab pos="10777538" algn="l"/>
                        <a:tab pos="10779125" algn="l"/>
                        <a:tab pos="10780713" algn="l"/>
                      </a:tabLst>
                      <a:defRPr>
                        <a:solidFill>
                          <a:srgbClr val="FFFFFF"/>
                        </a:solidFill>
                        <a:latin typeface="Arial" charset="0"/>
                        <a:ea typeface="Microsoft YaHei" charset="-122"/>
                      </a:defRPr>
                    </a:lvl9pPr>
                  </a:lstStyle>
                  <a:p>
                    <a:pPr algn="ctr" eaLnBrk="0" hangingPunct="0">
                      <a:buClrTx/>
                      <a:buFontTx/>
                      <a:buNone/>
                    </a:pPr>
                    <a:r>
                      <a:rPr lang="ru-RU" altLang="ru-RU" sz="1200">
                        <a:solidFill>
                          <a:srgbClr val="000000"/>
                        </a:solidFill>
                        <a:latin typeface="PT Sans"/>
                      </a:rPr>
                      <a:t>тип</a:t>
                    </a:r>
                  </a:p>
                </p:txBody>
              </p:sp>
              <p:sp>
                <p:nvSpPr>
                  <p:cNvPr id="18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2142" y="2550"/>
                    <a:ext cx="2677" cy="185"/>
                  </a:xfrm>
                  <a:prstGeom prst="rect">
                    <a:avLst/>
                  </a:prstGeom>
                  <a:solidFill>
                    <a:srgbClr val="FFFFFF"/>
                  </a:solidFill>
                  <a:ln w="9360" cap="sq">
                    <a:solidFill>
                      <a:srgbClr val="000000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>
                      <a:tabLst>
                        <a:tab pos="0" algn="l"/>
                        <a:tab pos="438150" algn="l"/>
                        <a:tab pos="887413" algn="l"/>
                        <a:tab pos="1336675" algn="l"/>
                        <a:tab pos="1785938" algn="l"/>
                        <a:tab pos="2235200" algn="l"/>
                        <a:tab pos="2684463" algn="l"/>
                        <a:tab pos="3133725" algn="l"/>
                        <a:tab pos="3582988" algn="l"/>
                        <a:tab pos="4032250" algn="l"/>
                        <a:tab pos="4481513" algn="l"/>
                        <a:tab pos="4930775" algn="l"/>
                        <a:tab pos="5380038" algn="l"/>
                        <a:tab pos="5829300" algn="l"/>
                        <a:tab pos="6278563" algn="l"/>
                        <a:tab pos="6727825" algn="l"/>
                        <a:tab pos="7177088" algn="l"/>
                        <a:tab pos="7626350" algn="l"/>
                        <a:tab pos="8075613" algn="l"/>
                        <a:tab pos="8524875" algn="l"/>
                        <a:tab pos="8974138" algn="l"/>
                        <a:tab pos="8975725" algn="l"/>
                        <a:tab pos="9424988" algn="l"/>
                        <a:tab pos="9874250" algn="l"/>
                        <a:tab pos="10323513" algn="l"/>
                        <a:tab pos="10772775" algn="l"/>
                        <a:tab pos="10774363" algn="l"/>
                        <a:tab pos="10775950" algn="l"/>
                        <a:tab pos="10777538" algn="l"/>
                        <a:tab pos="10779125" algn="l"/>
                        <a:tab pos="10780713" algn="l"/>
                      </a:tabLst>
                      <a:defRPr>
                        <a:solidFill>
                          <a:srgbClr val="FFFFFF"/>
                        </a:solidFill>
                        <a:latin typeface="Arial" charset="0"/>
                        <a:ea typeface="Microsoft YaHei" charset="-122"/>
                      </a:defRPr>
                    </a:lvl1pPr>
                    <a:lvl2pPr>
                      <a:tabLst>
                        <a:tab pos="0" algn="l"/>
                        <a:tab pos="438150" algn="l"/>
                        <a:tab pos="887413" algn="l"/>
                        <a:tab pos="1336675" algn="l"/>
                        <a:tab pos="1785938" algn="l"/>
                        <a:tab pos="2235200" algn="l"/>
                        <a:tab pos="2684463" algn="l"/>
                        <a:tab pos="3133725" algn="l"/>
                        <a:tab pos="3582988" algn="l"/>
                        <a:tab pos="4032250" algn="l"/>
                        <a:tab pos="4481513" algn="l"/>
                        <a:tab pos="4930775" algn="l"/>
                        <a:tab pos="5380038" algn="l"/>
                        <a:tab pos="5829300" algn="l"/>
                        <a:tab pos="6278563" algn="l"/>
                        <a:tab pos="6727825" algn="l"/>
                        <a:tab pos="7177088" algn="l"/>
                        <a:tab pos="7626350" algn="l"/>
                        <a:tab pos="8075613" algn="l"/>
                        <a:tab pos="8524875" algn="l"/>
                        <a:tab pos="8974138" algn="l"/>
                        <a:tab pos="8975725" algn="l"/>
                        <a:tab pos="9424988" algn="l"/>
                        <a:tab pos="9874250" algn="l"/>
                        <a:tab pos="10323513" algn="l"/>
                        <a:tab pos="10772775" algn="l"/>
                        <a:tab pos="10774363" algn="l"/>
                        <a:tab pos="10775950" algn="l"/>
                        <a:tab pos="10777538" algn="l"/>
                        <a:tab pos="10779125" algn="l"/>
                        <a:tab pos="10780713" algn="l"/>
                      </a:tabLst>
                      <a:defRPr>
                        <a:solidFill>
                          <a:srgbClr val="FFFFFF"/>
                        </a:solidFill>
                        <a:latin typeface="Arial" charset="0"/>
                        <a:ea typeface="Microsoft YaHei" charset="-122"/>
                      </a:defRPr>
                    </a:lvl2pPr>
                    <a:lvl3pPr>
                      <a:tabLst>
                        <a:tab pos="0" algn="l"/>
                        <a:tab pos="438150" algn="l"/>
                        <a:tab pos="887413" algn="l"/>
                        <a:tab pos="1336675" algn="l"/>
                        <a:tab pos="1785938" algn="l"/>
                        <a:tab pos="2235200" algn="l"/>
                        <a:tab pos="2684463" algn="l"/>
                        <a:tab pos="3133725" algn="l"/>
                        <a:tab pos="3582988" algn="l"/>
                        <a:tab pos="4032250" algn="l"/>
                        <a:tab pos="4481513" algn="l"/>
                        <a:tab pos="4930775" algn="l"/>
                        <a:tab pos="5380038" algn="l"/>
                        <a:tab pos="5829300" algn="l"/>
                        <a:tab pos="6278563" algn="l"/>
                        <a:tab pos="6727825" algn="l"/>
                        <a:tab pos="7177088" algn="l"/>
                        <a:tab pos="7626350" algn="l"/>
                        <a:tab pos="8075613" algn="l"/>
                        <a:tab pos="8524875" algn="l"/>
                        <a:tab pos="8974138" algn="l"/>
                        <a:tab pos="8975725" algn="l"/>
                        <a:tab pos="9424988" algn="l"/>
                        <a:tab pos="9874250" algn="l"/>
                        <a:tab pos="10323513" algn="l"/>
                        <a:tab pos="10772775" algn="l"/>
                        <a:tab pos="10774363" algn="l"/>
                        <a:tab pos="10775950" algn="l"/>
                        <a:tab pos="10777538" algn="l"/>
                        <a:tab pos="10779125" algn="l"/>
                        <a:tab pos="10780713" algn="l"/>
                      </a:tabLst>
                      <a:defRPr>
                        <a:solidFill>
                          <a:srgbClr val="FFFFFF"/>
                        </a:solidFill>
                        <a:latin typeface="Arial" charset="0"/>
                        <a:ea typeface="Microsoft YaHei" charset="-122"/>
                      </a:defRPr>
                    </a:lvl3pPr>
                    <a:lvl4pPr>
                      <a:tabLst>
                        <a:tab pos="0" algn="l"/>
                        <a:tab pos="438150" algn="l"/>
                        <a:tab pos="887413" algn="l"/>
                        <a:tab pos="1336675" algn="l"/>
                        <a:tab pos="1785938" algn="l"/>
                        <a:tab pos="2235200" algn="l"/>
                        <a:tab pos="2684463" algn="l"/>
                        <a:tab pos="3133725" algn="l"/>
                        <a:tab pos="3582988" algn="l"/>
                        <a:tab pos="4032250" algn="l"/>
                        <a:tab pos="4481513" algn="l"/>
                        <a:tab pos="4930775" algn="l"/>
                        <a:tab pos="5380038" algn="l"/>
                        <a:tab pos="5829300" algn="l"/>
                        <a:tab pos="6278563" algn="l"/>
                        <a:tab pos="6727825" algn="l"/>
                        <a:tab pos="7177088" algn="l"/>
                        <a:tab pos="7626350" algn="l"/>
                        <a:tab pos="8075613" algn="l"/>
                        <a:tab pos="8524875" algn="l"/>
                        <a:tab pos="8974138" algn="l"/>
                        <a:tab pos="8975725" algn="l"/>
                        <a:tab pos="9424988" algn="l"/>
                        <a:tab pos="9874250" algn="l"/>
                        <a:tab pos="10323513" algn="l"/>
                        <a:tab pos="10772775" algn="l"/>
                        <a:tab pos="10774363" algn="l"/>
                        <a:tab pos="10775950" algn="l"/>
                        <a:tab pos="10777538" algn="l"/>
                        <a:tab pos="10779125" algn="l"/>
                        <a:tab pos="10780713" algn="l"/>
                      </a:tabLst>
                      <a:defRPr>
                        <a:solidFill>
                          <a:srgbClr val="FFFFFF"/>
                        </a:solidFill>
                        <a:latin typeface="Arial" charset="0"/>
                        <a:ea typeface="Microsoft YaHei" charset="-122"/>
                      </a:defRPr>
                    </a:lvl4pPr>
                    <a:lvl5pPr>
                      <a:tabLst>
                        <a:tab pos="0" algn="l"/>
                        <a:tab pos="438150" algn="l"/>
                        <a:tab pos="887413" algn="l"/>
                        <a:tab pos="1336675" algn="l"/>
                        <a:tab pos="1785938" algn="l"/>
                        <a:tab pos="2235200" algn="l"/>
                        <a:tab pos="2684463" algn="l"/>
                        <a:tab pos="3133725" algn="l"/>
                        <a:tab pos="3582988" algn="l"/>
                        <a:tab pos="4032250" algn="l"/>
                        <a:tab pos="4481513" algn="l"/>
                        <a:tab pos="4930775" algn="l"/>
                        <a:tab pos="5380038" algn="l"/>
                        <a:tab pos="5829300" algn="l"/>
                        <a:tab pos="6278563" algn="l"/>
                        <a:tab pos="6727825" algn="l"/>
                        <a:tab pos="7177088" algn="l"/>
                        <a:tab pos="7626350" algn="l"/>
                        <a:tab pos="8075613" algn="l"/>
                        <a:tab pos="8524875" algn="l"/>
                        <a:tab pos="8974138" algn="l"/>
                        <a:tab pos="8975725" algn="l"/>
                        <a:tab pos="9424988" algn="l"/>
                        <a:tab pos="9874250" algn="l"/>
                        <a:tab pos="10323513" algn="l"/>
                        <a:tab pos="10772775" algn="l"/>
                        <a:tab pos="10774363" algn="l"/>
                        <a:tab pos="10775950" algn="l"/>
                        <a:tab pos="10777538" algn="l"/>
                        <a:tab pos="10779125" algn="l"/>
                        <a:tab pos="10780713" algn="l"/>
                      </a:tabLst>
                      <a:defRPr>
                        <a:solidFill>
                          <a:srgbClr val="FFFFFF"/>
                        </a:solidFill>
                        <a:latin typeface="Arial" charset="0"/>
                        <a:ea typeface="Microsoft YaHei" charset="-122"/>
                      </a:defRPr>
                    </a:lvl5pPr>
                    <a:lvl6pPr marL="2514600" indent="-228600" defTabSz="449263" fontAlgn="base"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SzPct val="100000"/>
                      <a:buFont typeface="Times New Roman" pitchFamily="16" charset="0"/>
                      <a:tabLst>
                        <a:tab pos="0" algn="l"/>
                        <a:tab pos="438150" algn="l"/>
                        <a:tab pos="887413" algn="l"/>
                        <a:tab pos="1336675" algn="l"/>
                        <a:tab pos="1785938" algn="l"/>
                        <a:tab pos="2235200" algn="l"/>
                        <a:tab pos="2684463" algn="l"/>
                        <a:tab pos="3133725" algn="l"/>
                        <a:tab pos="3582988" algn="l"/>
                        <a:tab pos="4032250" algn="l"/>
                        <a:tab pos="4481513" algn="l"/>
                        <a:tab pos="4930775" algn="l"/>
                        <a:tab pos="5380038" algn="l"/>
                        <a:tab pos="5829300" algn="l"/>
                        <a:tab pos="6278563" algn="l"/>
                        <a:tab pos="6727825" algn="l"/>
                        <a:tab pos="7177088" algn="l"/>
                        <a:tab pos="7626350" algn="l"/>
                        <a:tab pos="8075613" algn="l"/>
                        <a:tab pos="8524875" algn="l"/>
                        <a:tab pos="8974138" algn="l"/>
                        <a:tab pos="8975725" algn="l"/>
                        <a:tab pos="9424988" algn="l"/>
                        <a:tab pos="9874250" algn="l"/>
                        <a:tab pos="10323513" algn="l"/>
                        <a:tab pos="10772775" algn="l"/>
                        <a:tab pos="10774363" algn="l"/>
                        <a:tab pos="10775950" algn="l"/>
                        <a:tab pos="10777538" algn="l"/>
                        <a:tab pos="10779125" algn="l"/>
                        <a:tab pos="10780713" algn="l"/>
                      </a:tabLst>
                      <a:defRPr>
                        <a:solidFill>
                          <a:srgbClr val="FFFFFF"/>
                        </a:solidFill>
                        <a:latin typeface="Arial" charset="0"/>
                        <a:ea typeface="Microsoft YaHei" charset="-122"/>
                      </a:defRPr>
                    </a:lvl6pPr>
                    <a:lvl7pPr marL="2971800" indent="-228600" defTabSz="449263" fontAlgn="base"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SzPct val="100000"/>
                      <a:buFont typeface="Times New Roman" pitchFamily="16" charset="0"/>
                      <a:tabLst>
                        <a:tab pos="0" algn="l"/>
                        <a:tab pos="438150" algn="l"/>
                        <a:tab pos="887413" algn="l"/>
                        <a:tab pos="1336675" algn="l"/>
                        <a:tab pos="1785938" algn="l"/>
                        <a:tab pos="2235200" algn="l"/>
                        <a:tab pos="2684463" algn="l"/>
                        <a:tab pos="3133725" algn="l"/>
                        <a:tab pos="3582988" algn="l"/>
                        <a:tab pos="4032250" algn="l"/>
                        <a:tab pos="4481513" algn="l"/>
                        <a:tab pos="4930775" algn="l"/>
                        <a:tab pos="5380038" algn="l"/>
                        <a:tab pos="5829300" algn="l"/>
                        <a:tab pos="6278563" algn="l"/>
                        <a:tab pos="6727825" algn="l"/>
                        <a:tab pos="7177088" algn="l"/>
                        <a:tab pos="7626350" algn="l"/>
                        <a:tab pos="8075613" algn="l"/>
                        <a:tab pos="8524875" algn="l"/>
                        <a:tab pos="8974138" algn="l"/>
                        <a:tab pos="8975725" algn="l"/>
                        <a:tab pos="9424988" algn="l"/>
                        <a:tab pos="9874250" algn="l"/>
                        <a:tab pos="10323513" algn="l"/>
                        <a:tab pos="10772775" algn="l"/>
                        <a:tab pos="10774363" algn="l"/>
                        <a:tab pos="10775950" algn="l"/>
                        <a:tab pos="10777538" algn="l"/>
                        <a:tab pos="10779125" algn="l"/>
                        <a:tab pos="10780713" algn="l"/>
                      </a:tabLst>
                      <a:defRPr>
                        <a:solidFill>
                          <a:srgbClr val="FFFFFF"/>
                        </a:solidFill>
                        <a:latin typeface="Arial" charset="0"/>
                        <a:ea typeface="Microsoft YaHei" charset="-122"/>
                      </a:defRPr>
                    </a:lvl7pPr>
                    <a:lvl8pPr marL="3429000" indent="-228600" defTabSz="449263" fontAlgn="base"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SzPct val="100000"/>
                      <a:buFont typeface="Times New Roman" pitchFamily="16" charset="0"/>
                      <a:tabLst>
                        <a:tab pos="0" algn="l"/>
                        <a:tab pos="438150" algn="l"/>
                        <a:tab pos="887413" algn="l"/>
                        <a:tab pos="1336675" algn="l"/>
                        <a:tab pos="1785938" algn="l"/>
                        <a:tab pos="2235200" algn="l"/>
                        <a:tab pos="2684463" algn="l"/>
                        <a:tab pos="3133725" algn="l"/>
                        <a:tab pos="3582988" algn="l"/>
                        <a:tab pos="4032250" algn="l"/>
                        <a:tab pos="4481513" algn="l"/>
                        <a:tab pos="4930775" algn="l"/>
                        <a:tab pos="5380038" algn="l"/>
                        <a:tab pos="5829300" algn="l"/>
                        <a:tab pos="6278563" algn="l"/>
                        <a:tab pos="6727825" algn="l"/>
                        <a:tab pos="7177088" algn="l"/>
                        <a:tab pos="7626350" algn="l"/>
                        <a:tab pos="8075613" algn="l"/>
                        <a:tab pos="8524875" algn="l"/>
                        <a:tab pos="8974138" algn="l"/>
                        <a:tab pos="8975725" algn="l"/>
                        <a:tab pos="9424988" algn="l"/>
                        <a:tab pos="9874250" algn="l"/>
                        <a:tab pos="10323513" algn="l"/>
                        <a:tab pos="10772775" algn="l"/>
                        <a:tab pos="10774363" algn="l"/>
                        <a:tab pos="10775950" algn="l"/>
                        <a:tab pos="10777538" algn="l"/>
                        <a:tab pos="10779125" algn="l"/>
                        <a:tab pos="10780713" algn="l"/>
                      </a:tabLst>
                      <a:defRPr>
                        <a:solidFill>
                          <a:srgbClr val="FFFFFF"/>
                        </a:solidFill>
                        <a:latin typeface="Arial" charset="0"/>
                        <a:ea typeface="Microsoft YaHei" charset="-122"/>
                      </a:defRPr>
                    </a:lvl8pPr>
                    <a:lvl9pPr marL="3886200" indent="-228600" defTabSz="449263" fontAlgn="base"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SzPct val="100000"/>
                      <a:buFont typeface="Times New Roman" pitchFamily="16" charset="0"/>
                      <a:tabLst>
                        <a:tab pos="0" algn="l"/>
                        <a:tab pos="438150" algn="l"/>
                        <a:tab pos="887413" algn="l"/>
                        <a:tab pos="1336675" algn="l"/>
                        <a:tab pos="1785938" algn="l"/>
                        <a:tab pos="2235200" algn="l"/>
                        <a:tab pos="2684463" algn="l"/>
                        <a:tab pos="3133725" algn="l"/>
                        <a:tab pos="3582988" algn="l"/>
                        <a:tab pos="4032250" algn="l"/>
                        <a:tab pos="4481513" algn="l"/>
                        <a:tab pos="4930775" algn="l"/>
                        <a:tab pos="5380038" algn="l"/>
                        <a:tab pos="5829300" algn="l"/>
                        <a:tab pos="6278563" algn="l"/>
                        <a:tab pos="6727825" algn="l"/>
                        <a:tab pos="7177088" algn="l"/>
                        <a:tab pos="7626350" algn="l"/>
                        <a:tab pos="8075613" algn="l"/>
                        <a:tab pos="8524875" algn="l"/>
                        <a:tab pos="8974138" algn="l"/>
                        <a:tab pos="8975725" algn="l"/>
                        <a:tab pos="9424988" algn="l"/>
                        <a:tab pos="9874250" algn="l"/>
                        <a:tab pos="10323513" algn="l"/>
                        <a:tab pos="10772775" algn="l"/>
                        <a:tab pos="10774363" algn="l"/>
                        <a:tab pos="10775950" algn="l"/>
                        <a:tab pos="10777538" algn="l"/>
                        <a:tab pos="10779125" algn="l"/>
                        <a:tab pos="10780713" algn="l"/>
                      </a:tabLst>
                      <a:defRPr>
                        <a:solidFill>
                          <a:srgbClr val="FFFFFF"/>
                        </a:solidFill>
                        <a:latin typeface="Arial" charset="0"/>
                        <a:ea typeface="Microsoft YaHei" charset="-122"/>
                      </a:defRPr>
                    </a:lvl9pPr>
                  </a:lstStyle>
                  <a:p>
                    <a:pPr algn="ctr" eaLnBrk="0" hangingPunct="0">
                      <a:buClrTx/>
                      <a:buFontTx/>
                      <a:buNone/>
                    </a:pPr>
                    <a:r>
                      <a:rPr lang="ru-RU" altLang="ru-RU" sz="1200">
                        <a:solidFill>
                          <a:srgbClr val="000000"/>
                        </a:solidFill>
                        <a:latin typeface="PT Sans"/>
                      </a:rPr>
                      <a:t>данные</a:t>
                    </a:r>
                  </a:p>
                </p:txBody>
              </p:sp>
              <p:sp>
                <p:nvSpPr>
                  <p:cNvPr id="19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4829" y="2550"/>
                    <a:ext cx="495" cy="185"/>
                  </a:xfrm>
                  <a:prstGeom prst="rect">
                    <a:avLst/>
                  </a:prstGeom>
                  <a:solidFill>
                    <a:srgbClr val="FFFFFF"/>
                  </a:solidFill>
                  <a:ln w="9360" cap="sq">
                    <a:solidFill>
                      <a:srgbClr val="000000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>
                    <a:lvl1pPr>
                      <a:tabLst>
                        <a:tab pos="0" algn="l"/>
                        <a:tab pos="438150" algn="l"/>
                        <a:tab pos="887413" algn="l"/>
                        <a:tab pos="1336675" algn="l"/>
                        <a:tab pos="1785938" algn="l"/>
                        <a:tab pos="2235200" algn="l"/>
                        <a:tab pos="2684463" algn="l"/>
                        <a:tab pos="3133725" algn="l"/>
                        <a:tab pos="3582988" algn="l"/>
                        <a:tab pos="4032250" algn="l"/>
                        <a:tab pos="4481513" algn="l"/>
                        <a:tab pos="4930775" algn="l"/>
                        <a:tab pos="5380038" algn="l"/>
                        <a:tab pos="5829300" algn="l"/>
                        <a:tab pos="6278563" algn="l"/>
                        <a:tab pos="6727825" algn="l"/>
                        <a:tab pos="7177088" algn="l"/>
                        <a:tab pos="7626350" algn="l"/>
                        <a:tab pos="8075613" algn="l"/>
                        <a:tab pos="8524875" algn="l"/>
                        <a:tab pos="8974138" algn="l"/>
                        <a:tab pos="8975725" algn="l"/>
                        <a:tab pos="9424988" algn="l"/>
                        <a:tab pos="9874250" algn="l"/>
                        <a:tab pos="10323513" algn="l"/>
                        <a:tab pos="10772775" algn="l"/>
                        <a:tab pos="10774363" algn="l"/>
                        <a:tab pos="10775950" algn="l"/>
                        <a:tab pos="10777538" algn="l"/>
                        <a:tab pos="10779125" algn="l"/>
                        <a:tab pos="10780713" algn="l"/>
                      </a:tabLst>
                      <a:defRPr>
                        <a:solidFill>
                          <a:srgbClr val="FFFFFF"/>
                        </a:solidFill>
                        <a:latin typeface="Arial" charset="0"/>
                        <a:ea typeface="Microsoft YaHei" charset="-122"/>
                      </a:defRPr>
                    </a:lvl1pPr>
                    <a:lvl2pPr>
                      <a:tabLst>
                        <a:tab pos="0" algn="l"/>
                        <a:tab pos="438150" algn="l"/>
                        <a:tab pos="887413" algn="l"/>
                        <a:tab pos="1336675" algn="l"/>
                        <a:tab pos="1785938" algn="l"/>
                        <a:tab pos="2235200" algn="l"/>
                        <a:tab pos="2684463" algn="l"/>
                        <a:tab pos="3133725" algn="l"/>
                        <a:tab pos="3582988" algn="l"/>
                        <a:tab pos="4032250" algn="l"/>
                        <a:tab pos="4481513" algn="l"/>
                        <a:tab pos="4930775" algn="l"/>
                        <a:tab pos="5380038" algn="l"/>
                        <a:tab pos="5829300" algn="l"/>
                        <a:tab pos="6278563" algn="l"/>
                        <a:tab pos="6727825" algn="l"/>
                        <a:tab pos="7177088" algn="l"/>
                        <a:tab pos="7626350" algn="l"/>
                        <a:tab pos="8075613" algn="l"/>
                        <a:tab pos="8524875" algn="l"/>
                        <a:tab pos="8974138" algn="l"/>
                        <a:tab pos="8975725" algn="l"/>
                        <a:tab pos="9424988" algn="l"/>
                        <a:tab pos="9874250" algn="l"/>
                        <a:tab pos="10323513" algn="l"/>
                        <a:tab pos="10772775" algn="l"/>
                        <a:tab pos="10774363" algn="l"/>
                        <a:tab pos="10775950" algn="l"/>
                        <a:tab pos="10777538" algn="l"/>
                        <a:tab pos="10779125" algn="l"/>
                        <a:tab pos="10780713" algn="l"/>
                      </a:tabLst>
                      <a:defRPr>
                        <a:solidFill>
                          <a:srgbClr val="FFFFFF"/>
                        </a:solidFill>
                        <a:latin typeface="Arial" charset="0"/>
                        <a:ea typeface="Microsoft YaHei" charset="-122"/>
                      </a:defRPr>
                    </a:lvl2pPr>
                    <a:lvl3pPr>
                      <a:tabLst>
                        <a:tab pos="0" algn="l"/>
                        <a:tab pos="438150" algn="l"/>
                        <a:tab pos="887413" algn="l"/>
                        <a:tab pos="1336675" algn="l"/>
                        <a:tab pos="1785938" algn="l"/>
                        <a:tab pos="2235200" algn="l"/>
                        <a:tab pos="2684463" algn="l"/>
                        <a:tab pos="3133725" algn="l"/>
                        <a:tab pos="3582988" algn="l"/>
                        <a:tab pos="4032250" algn="l"/>
                        <a:tab pos="4481513" algn="l"/>
                        <a:tab pos="4930775" algn="l"/>
                        <a:tab pos="5380038" algn="l"/>
                        <a:tab pos="5829300" algn="l"/>
                        <a:tab pos="6278563" algn="l"/>
                        <a:tab pos="6727825" algn="l"/>
                        <a:tab pos="7177088" algn="l"/>
                        <a:tab pos="7626350" algn="l"/>
                        <a:tab pos="8075613" algn="l"/>
                        <a:tab pos="8524875" algn="l"/>
                        <a:tab pos="8974138" algn="l"/>
                        <a:tab pos="8975725" algn="l"/>
                        <a:tab pos="9424988" algn="l"/>
                        <a:tab pos="9874250" algn="l"/>
                        <a:tab pos="10323513" algn="l"/>
                        <a:tab pos="10772775" algn="l"/>
                        <a:tab pos="10774363" algn="l"/>
                        <a:tab pos="10775950" algn="l"/>
                        <a:tab pos="10777538" algn="l"/>
                        <a:tab pos="10779125" algn="l"/>
                        <a:tab pos="10780713" algn="l"/>
                      </a:tabLst>
                      <a:defRPr>
                        <a:solidFill>
                          <a:srgbClr val="FFFFFF"/>
                        </a:solidFill>
                        <a:latin typeface="Arial" charset="0"/>
                        <a:ea typeface="Microsoft YaHei" charset="-122"/>
                      </a:defRPr>
                    </a:lvl3pPr>
                    <a:lvl4pPr>
                      <a:tabLst>
                        <a:tab pos="0" algn="l"/>
                        <a:tab pos="438150" algn="l"/>
                        <a:tab pos="887413" algn="l"/>
                        <a:tab pos="1336675" algn="l"/>
                        <a:tab pos="1785938" algn="l"/>
                        <a:tab pos="2235200" algn="l"/>
                        <a:tab pos="2684463" algn="l"/>
                        <a:tab pos="3133725" algn="l"/>
                        <a:tab pos="3582988" algn="l"/>
                        <a:tab pos="4032250" algn="l"/>
                        <a:tab pos="4481513" algn="l"/>
                        <a:tab pos="4930775" algn="l"/>
                        <a:tab pos="5380038" algn="l"/>
                        <a:tab pos="5829300" algn="l"/>
                        <a:tab pos="6278563" algn="l"/>
                        <a:tab pos="6727825" algn="l"/>
                        <a:tab pos="7177088" algn="l"/>
                        <a:tab pos="7626350" algn="l"/>
                        <a:tab pos="8075613" algn="l"/>
                        <a:tab pos="8524875" algn="l"/>
                        <a:tab pos="8974138" algn="l"/>
                        <a:tab pos="8975725" algn="l"/>
                        <a:tab pos="9424988" algn="l"/>
                        <a:tab pos="9874250" algn="l"/>
                        <a:tab pos="10323513" algn="l"/>
                        <a:tab pos="10772775" algn="l"/>
                        <a:tab pos="10774363" algn="l"/>
                        <a:tab pos="10775950" algn="l"/>
                        <a:tab pos="10777538" algn="l"/>
                        <a:tab pos="10779125" algn="l"/>
                        <a:tab pos="10780713" algn="l"/>
                      </a:tabLst>
                      <a:defRPr>
                        <a:solidFill>
                          <a:srgbClr val="FFFFFF"/>
                        </a:solidFill>
                        <a:latin typeface="Arial" charset="0"/>
                        <a:ea typeface="Microsoft YaHei" charset="-122"/>
                      </a:defRPr>
                    </a:lvl4pPr>
                    <a:lvl5pPr>
                      <a:tabLst>
                        <a:tab pos="0" algn="l"/>
                        <a:tab pos="438150" algn="l"/>
                        <a:tab pos="887413" algn="l"/>
                        <a:tab pos="1336675" algn="l"/>
                        <a:tab pos="1785938" algn="l"/>
                        <a:tab pos="2235200" algn="l"/>
                        <a:tab pos="2684463" algn="l"/>
                        <a:tab pos="3133725" algn="l"/>
                        <a:tab pos="3582988" algn="l"/>
                        <a:tab pos="4032250" algn="l"/>
                        <a:tab pos="4481513" algn="l"/>
                        <a:tab pos="4930775" algn="l"/>
                        <a:tab pos="5380038" algn="l"/>
                        <a:tab pos="5829300" algn="l"/>
                        <a:tab pos="6278563" algn="l"/>
                        <a:tab pos="6727825" algn="l"/>
                        <a:tab pos="7177088" algn="l"/>
                        <a:tab pos="7626350" algn="l"/>
                        <a:tab pos="8075613" algn="l"/>
                        <a:tab pos="8524875" algn="l"/>
                        <a:tab pos="8974138" algn="l"/>
                        <a:tab pos="8975725" algn="l"/>
                        <a:tab pos="9424988" algn="l"/>
                        <a:tab pos="9874250" algn="l"/>
                        <a:tab pos="10323513" algn="l"/>
                        <a:tab pos="10772775" algn="l"/>
                        <a:tab pos="10774363" algn="l"/>
                        <a:tab pos="10775950" algn="l"/>
                        <a:tab pos="10777538" algn="l"/>
                        <a:tab pos="10779125" algn="l"/>
                        <a:tab pos="10780713" algn="l"/>
                      </a:tabLst>
                      <a:defRPr>
                        <a:solidFill>
                          <a:srgbClr val="FFFFFF"/>
                        </a:solidFill>
                        <a:latin typeface="Arial" charset="0"/>
                        <a:ea typeface="Microsoft YaHei" charset="-122"/>
                      </a:defRPr>
                    </a:lvl5pPr>
                    <a:lvl6pPr marL="2514600" indent="-228600" defTabSz="449263" fontAlgn="base"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SzPct val="100000"/>
                      <a:buFont typeface="Times New Roman" pitchFamily="16" charset="0"/>
                      <a:tabLst>
                        <a:tab pos="0" algn="l"/>
                        <a:tab pos="438150" algn="l"/>
                        <a:tab pos="887413" algn="l"/>
                        <a:tab pos="1336675" algn="l"/>
                        <a:tab pos="1785938" algn="l"/>
                        <a:tab pos="2235200" algn="l"/>
                        <a:tab pos="2684463" algn="l"/>
                        <a:tab pos="3133725" algn="l"/>
                        <a:tab pos="3582988" algn="l"/>
                        <a:tab pos="4032250" algn="l"/>
                        <a:tab pos="4481513" algn="l"/>
                        <a:tab pos="4930775" algn="l"/>
                        <a:tab pos="5380038" algn="l"/>
                        <a:tab pos="5829300" algn="l"/>
                        <a:tab pos="6278563" algn="l"/>
                        <a:tab pos="6727825" algn="l"/>
                        <a:tab pos="7177088" algn="l"/>
                        <a:tab pos="7626350" algn="l"/>
                        <a:tab pos="8075613" algn="l"/>
                        <a:tab pos="8524875" algn="l"/>
                        <a:tab pos="8974138" algn="l"/>
                        <a:tab pos="8975725" algn="l"/>
                        <a:tab pos="9424988" algn="l"/>
                        <a:tab pos="9874250" algn="l"/>
                        <a:tab pos="10323513" algn="l"/>
                        <a:tab pos="10772775" algn="l"/>
                        <a:tab pos="10774363" algn="l"/>
                        <a:tab pos="10775950" algn="l"/>
                        <a:tab pos="10777538" algn="l"/>
                        <a:tab pos="10779125" algn="l"/>
                        <a:tab pos="10780713" algn="l"/>
                      </a:tabLst>
                      <a:defRPr>
                        <a:solidFill>
                          <a:srgbClr val="FFFFFF"/>
                        </a:solidFill>
                        <a:latin typeface="Arial" charset="0"/>
                        <a:ea typeface="Microsoft YaHei" charset="-122"/>
                      </a:defRPr>
                    </a:lvl6pPr>
                    <a:lvl7pPr marL="2971800" indent="-228600" defTabSz="449263" fontAlgn="base"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SzPct val="100000"/>
                      <a:buFont typeface="Times New Roman" pitchFamily="16" charset="0"/>
                      <a:tabLst>
                        <a:tab pos="0" algn="l"/>
                        <a:tab pos="438150" algn="l"/>
                        <a:tab pos="887413" algn="l"/>
                        <a:tab pos="1336675" algn="l"/>
                        <a:tab pos="1785938" algn="l"/>
                        <a:tab pos="2235200" algn="l"/>
                        <a:tab pos="2684463" algn="l"/>
                        <a:tab pos="3133725" algn="l"/>
                        <a:tab pos="3582988" algn="l"/>
                        <a:tab pos="4032250" algn="l"/>
                        <a:tab pos="4481513" algn="l"/>
                        <a:tab pos="4930775" algn="l"/>
                        <a:tab pos="5380038" algn="l"/>
                        <a:tab pos="5829300" algn="l"/>
                        <a:tab pos="6278563" algn="l"/>
                        <a:tab pos="6727825" algn="l"/>
                        <a:tab pos="7177088" algn="l"/>
                        <a:tab pos="7626350" algn="l"/>
                        <a:tab pos="8075613" algn="l"/>
                        <a:tab pos="8524875" algn="l"/>
                        <a:tab pos="8974138" algn="l"/>
                        <a:tab pos="8975725" algn="l"/>
                        <a:tab pos="9424988" algn="l"/>
                        <a:tab pos="9874250" algn="l"/>
                        <a:tab pos="10323513" algn="l"/>
                        <a:tab pos="10772775" algn="l"/>
                        <a:tab pos="10774363" algn="l"/>
                        <a:tab pos="10775950" algn="l"/>
                        <a:tab pos="10777538" algn="l"/>
                        <a:tab pos="10779125" algn="l"/>
                        <a:tab pos="10780713" algn="l"/>
                      </a:tabLst>
                      <a:defRPr>
                        <a:solidFill>
                          <a:srgbClr val="FFFFFF"/>
                        </a:solidFill>
                        <a:latin typeface="Arial" charset="0"/>
                        <a:ea typeface="Microsoft YaHei" charset="-122"/>
                      </a:defRPr>
                    </a:lvl7pPr>
                    <a:lvl8pPr marL="3429000" indent="-228600" defTabSz="449263" fontAlgn="base"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SzPct val="100000"/>
                      <a:buFont typeface="Times New Roman" pitchFamily="16" charset="0"/>
                      <a:tabLst>
                        <a:tab pos="0" algn="l"/>
                        <a:tab pos="438150" algn="l"/>
                        <a:tab pos="887413" algn="l"/>
                        <a:tab pos="1336675" algn="l"/>
                        <a:tab pos="1785938" algn="l"/>
                        <a:tab pos="2235200" algn="l"/>
                        <a:tab pos="2684463" algn="l"/>
                        <a:tab pos="3133725" algn="l"/>
                        <a:tab pos="3582988" algn="l"/>
                        <a:tab pos="4032250" algn="l"/>
                        <a:tab pos="4481513" algn="l"/>
                        <a:tab pos="4930775" algn="l"/>
                        <a:tab pos="5380038" algn="l"/>
                        <a:tab pos="5829300" algn="l"/>
                        <a:tab pos="6278563" algn="l"/>
                        <a:tab pos="6727825" algn="l"/>
                        <a:tab pos="7177088" algn="l"/>
                        <a:tab pos="7626350" algn="l"/>
                        <a:tab pos="8075613" algn="l"/>
                        <a:tab pos="8524875" algn="l"/>
                        <a:tab pos="8974138" algn="l"/>
                        <a:tab pos="8975725" algn="l"/>
                        <a:tab pos="9424988" algn="l"/>
                        <a:tab pos="9874250" algn="l"/>
                        <a:tab pos="10323513" algn="l"/>
                        <a:tab pos="10772775" algn="l"/>
                        <a:tab pos="10774363" algn="l"/>
                        <a:tab pos="10775950" algn="l"/>
                        <a:tab pos="10777538" algn="l"/>
                        <a:tab pos="10779125" algn="l"/>
                        <a:tab pos="10780713" algn="l"/>
                      </a:tabLst>
                      <a:defRPr>
                        <a:solidFill>
                          <a:srgbClr val="FFFFFF"/>
                        </a:solidFill>
                        <a:latin typeface="Arial" charset="0"/>
                        <a:ea typeface="Microsoft YaHei" charset="-122"/>
                      </a:defRPr>
                    </a:lvl8pPr>
                    <a:lvl9pPr marL="3886200" indent="-228600" defTabSz="449263" fontAlgn="base"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SzPct val="100000"/>
                      <a:buFont typeface="Times New Roman" pitchFamily="16" charset="0"/>
                      <a:tabLst>
                        <a:tab pos="0" algn="l"/>
                        <a:tab pos="438150" algn="l"/>
                        <a:tab pos="887413" algn="l"/>
                        <a:tab pos="1336675" algn="l"/>
                        <a:tab pos="1785938" algn="l"/>
                        <a:tab pos="2235200" algn="l"/>
                        <a:tab pos="2684463" algn="l"/>
                        <a:tab pos="3133725" algn="l"/>
                        <a:tab pos="3582988" algn="l"/>
                        <a:tab pos="4032250" algn="l"/>
                        <a:tab pos="4481513" algn="l"/>
                        <a:tab pos="4930775" algn="l"/>
                        <a:tab pos="5380038" algn="l"/>
                        <a:tab pos="5829300" algn="l"/>
                        <a:tab pos="6278563" algn="l"/>
                        <a:tab pos="6727825" algn="l"/>
                        <a:tab pos="7177088" algn="l"/>
                        <a:tab pos="7626350" algn="l"/>
                        <a:tab pos="8075613" algn="l"/>
                        <a:tab pos="8524875" algn="l"/>
                        <a:tab pos="8974138" algn="l"/>
                        <a:tab pos="8975725" algn="l"/>
                        <a:tab pos="9424988" algn="l"/>
                        <a:tab pos="9874250" algn="l"/>
                        <a:tab pos="10323513" algn="l"/>
                        <a:tab pos="10772775" algn="l"/>
                        <a:tab pos="10774363" algn="l"/>
                        <a:tab pos="10775950" algn="l"/>
                        <a:tab pos="10777538" algn="l"/>
                        <a:tab pos="10779125" algn="l"/>
                        <a:tab pos="10780713" algn="l"/>
                      </a:tabLst>
                      <a:defRPr>
                        <a:solidFill>
                          <a:srgbClr val="FFFFFF"/>
                        </a:solidFill>
                        <a:latin typeface="Arial" charset="0"/>
                        <a:ea typeface="Microsoft YaHei" charset="-122"/>
                      </a:defRPr>
                    </a:lvl9pPr>
                  </a:lstStyle>
                  <a:p>
                    <a:pPr algn="ctr" eaLnBrk="0" hangingPunct="0">
                      <a:buClrTx/>
                      <a:buFontTx/>
                      <a:buNone/>
                    </a:pPr>
                    <a:r>
                      <a:rPr lang="en-US" altLang="ru-RU" sz="1200">
                        <a:solidFill>
                          <a:srgbClr val="000000"/>
                        </a:solidFill>
                      </a:rPr>
                      <a:t>CRC</a:t>
                    </a:r>
                  </a:p>
                </p:txBody>
              </p:sp>
            </p:grpSp>
            <p:sp>
              <p:nvSpPr>
                <p:cNvPr id="14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696" y="2724"/>
                  <a:ext cx="4499" cy="17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cap="flat">
                      <a:solidFill>
                        <a:srgbClr val="3465A4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>
                  <a:lvl1pPr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1pPr>
                  <a:lvl2pPr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2pPr>
                  <a:lvl3pPr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3pPr>
                  <a:lvl4pPr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4pPr>
                  <a:lvl5pPr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5pPr>
                  <a:lvl6pPr marL="2514600" indent="-228600" defTabSz="449263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6pPr>
                  <a:lvl7pPr marL="2971800" indent="-228600" defTabSz="449263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7pPr>
                  <a:lvl8pPr marL="3429000" indent="-228600" defTabSz="449263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8pPr>
                  <a:lvl9pPr marL="3886200" indent="-228600" defTabSz="449263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SzPct val="100000"/>
                    <a:buFont typeface="Times New Roman" pitchFamily="16" charset="0"/>
                    <a:tabLst>
                      <a:tab pos="0" algn="l"/>
                      <a:tab pos="438150" algn="l"/>
                      <a:tab pos="887413" algn="l"/>
                      <a:tab pos="1336675" algn="l"/>
                      <a:tab pos="1785938" algn="l"/>
                      <a:tab pos="2235200" algn="l"/>
                      <a:tab pos="2684463" algn="l"/>
                      <a:tab pos="3133725" algn="l"/>
                      <a:tab pos="3582988" algn="l"/>
                      <a:tab pos="4032250" algn="l"/>
                      <a:tab pos="4481513" algn="l"/>
                      <a:tab pos="4930775" algn="l"/>
                      <a:tab pos="5380038" algn="l"/>
                      <a:tab pos="5829300" algn="l"/>
                      <a:tab pos="6278563" algn="l"/>
                      <a:tab pos="6727825" algn="l"/>
                      <a:tab pos="7177088" algn="l"/>
                      <a:tab pos="7626350" algn="l"/>
                      <a:tab pos="8075613" algn="l"/>
                      <a:tab pos="8524875" algn="l"/>
                      <a:tab pos="8974138" algn="l"/>
                      <a:tab pos="8975725" algn="l"/>
                      <a:tab pos="9424988" algn="l"/>
                      <a:tab pos="9874250" algn="l"/>
                      <a:tab pos="10323513" algn="l"/>
                      <a:tab pos="10772775" algn="l"/>
                      <a:tab pos="10774363" algn="l"/>
                      <a:tab pos="10775950" algn="l"/>
                      <a:tab pos="10777538" algn="l"/>
                      <a:tab pos="10779125" algn="l"/>
                      <a:tab pos="10780713" algn="l"/>
                    </a:tabLst>
                    <a:defRPr>
                      <a:solidFill>
                        <a:srgbClr val="FFFFFF"/>
                      </a:solidFill>
                      <a:latin typeface="Arial" charset="0"/>
                      <a:ea typeface="Microsoft YaHei" charset="-122"/>
                    </a:defRPr>
                  </a:lvl9pPr>
                </a:lstStyle>
                <a:p>
                  <a:pPr eaLnBrk="0" hangingPunct="0">
                    <a:buClrTx/>
                    <a:buFontTx/>
                    <a:buNone/>
                  </a:pPr>
                  <a:r>
                    <a:rPr lang="ru-RU" altLang="ru-RU" sz="1200" dirty="0">
                      <a:solidFill>
                        <a:srgbClr val="000000"/>
                      </a:solidFill>
                      <a:latin typeface="PT Sans"/>
                    </a:rPr>
                    <a:t>6                </a:t>
                  </a:r>
                  <a:r>
                    <a:rPr lang="ru-RU" altLang="ru-RU" sz="1200" dirty="0">
                      <a:solidFill>
                        <a:srgbClr val="000000"/>
                      </a:solidFill>
                      <a:latin typeface="PT Sans"/>
                    </a:rPr>
                    <a:t>       </a:t>
                  </a:r>
                  <a:r>
                    <a:rPr lang="ru-RU" altLang="ru-RU" sz="1200" dirty="0">
                      <a:solidFill>
                        <a:srgbClr val="000000"/>
                      </a:solidFill>
                      <a:latin typeface="PT Sans"/>
                    </a:rPr>
                    <a:t>6          </a:t>
                  </a:r>
                  <a:r>
                    <a:rPr lang="ru-RU" altLang="ru-RU" sz="1200" dirty="0">
                      <a:solidFill>
                        <a:srgbClr val="000000"/>
                      </a:solidFill>
                      <a:latin typeface="PT Sans"/>
                    </a:rPr>
                    <a:t>       </a:t>
                  </a:r>
                  <a:r>
                    <a:rPr lang="ru-RU" altLang="ru-RU" sz="1200" dirty="0">
                      <a:solidFill>
                        <a:srgbClr val="000000"/>
                      </a:solidFill>
                      <a:latin typeface="PT Sans"/>
                    </a:rPr>
                    <a:t>2                                   </a:t>
                  </a:r>
                  <a:r>
                    <a:rPr lang="ru-RU" altLang="ru-RU" sz="1200" dirty="0">
                      <a:solidFill>
                        <a:srgbClr val="000000"/>
                      </a:solidFill>
                      <a:latin typeface="PT Sans"/>
                    </a:rPr>
                    <a:t>              </a:t>
                  </a:r>
                  <a:r>
                    <a:rPr lang="ru-RU" altLang="ru-RU" sz="1200" dirty="0">
                      <a:solidFill>
                        <a:srgbClr val="000000"/>
                      </a:solidFill>
                      <a:latin typeface="PT Sans"/>
                    </a:rPr>
                    <a:t>46-1500                                          </a:t>
                  </a:r>
                  <a:r>
                    <a:rPr lang="ru-RU" altLang="ru-RU" sz="1200" dirty="0">
                      <a:solidFill>
                        <a:srgbClr val="000000"/>
                      </a:solidFill>
                      <a:latin typeface="PT Sans"/>
                    </a:rPr>
                    <a:t>         </a:t>
                  </a:r>
                  <a:r>
                    <a:rPr lang="ru-RU" altLang="ru-RU" sz="1200" dirty="0">
                      <a:solidFill>
                        <a:srgbClr val="000000"/>
                      </a:solidFill>
                      <a:latin typeface="PT Sans"/>
                    </a:rPr>
                    <a:t>4</a:t>
                  </a:r>
                </a:p>
              </p:txBody>
            </p:sp>
          </p:grpSp>
          <p:sp>
            <p:nvSpPr>
              <p:cNvPr id="12" name="Rectangle 26"/>
              <p:cNvSpPr>
                <a:spLocks noChangeArrowheads="1"/>
              </p:cNvSpPr>
              <p:nvPr/>
            </p:nvSpPr>
            <p:spPr bwMode="auto">
              <a:xfrm>
                <a:off x="461" y="2550"/>
                <a:ext cx="4863" cy="185"/>
              </a:xfrm>
              <a:prstGeom prst="rect">
                <a:avLst/>
              </a:prstGeom>
              <a:noFill/>
              <a:ln w="1908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>
                  <a:latin typeface="PT San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46467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Бит-ориентированные </a:t>
            </a:r>
            <a:r>
              <a:rPr lang="ru-RU" dirty="0" smtClean="0"/>
              <a:t>протоколы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Определение границ кадра</a:t>
            </a:r>
            <a:r>
              <a:rPr lang="ru-RU" dirty="0" smtClean="0"/>
              <a:t>:</a:t>
            </a:r>
          </a:p>
          <a:p>
            <a:pPr lvl="1"/>
            <a:r>
              <a:rPr lang="ru-RU" dirty="0" smtClean="0"/>
              <a:t>FLAG  </a:t>
            </a:r>
            <a:r>
              <a:rPr lang="ru-RU" dirty="0"/>
              <a:t>(используется бит-</a:t>
            </a:r>
            <a:r>
              <a:rPr lang="ru-RU" dirty="0" err="1"/>
              <a:t>стаффинг</a:t>
            </a:r>
            <a:r>
              <a:rPr lang="ru-RU" dirty="0"/>
              <a:t>) </a:t>
            </a:r>
          </a:p>
          <a:p>
            <a:pPr lvl="1"/>
            <a:r>
              <a:rPr lang="ru-RU" dirty="0" smtClean="0"/>
              <a:t>Использование </a:t>
            </a:r>
            <a:r>
              <a:rPr lang="ru-RU" dirty="0"/>
              <a:t>поля “Длина кадра”</a:t>
            </a:r>
          </a:p>
          <a:p>
            <a:pPr lvl="1"/>
            <a:r>
              <a:rPr lang="ru-RU" dirty="0" smtClean="0"/>
              <a:t>Специальные </a:t>
            </a:r>
            <a:r>
              <a:rPr lang="ru-RU" dirty="0"/>
              <a:t>(запрещенные) сигналы</a:t>
            </a:r>
          </a:p>
          <a:p>
            <a:r>
              <a:rPr lang="ru-RU" dirty="0" smtClean="0"/>
              <a:t>Бит-</a:t>
            </a:r>
            <a:r>
              <a:rPr lang="ru-RU" dirty="0" err="1" smtClean="0"/>
              <a:t>стаффинг</a:t>
            </a:r>
            <a:r>
              <a:rPr lang="ru-RU" dirty="0" smtClean="0"/>
              <a:t> (</a:t>
            </a:r>
            <a:r>
              <a:rPr lang="en-US" dirty="0" smtClean="0"/>
              <a:t>SDLC(5) /USB (6)</a:t>
            </a:r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en-US" dirty="0" smtClean="0"/>
          </a:p>
          <a:p>
            <a:r>
              <a:rPr lang="ru-RU" dirty="0" smtClean="0"/>
              <a:t>Передающая </a:t>
            </a:r>
            <a:r>
              <a:rPr lang="ru-RU" dirty="0"/>
              <a:t>сторона  </a:t>
            </a:r>
            <a:r>
              <a:rPr lang="en-US" dirty="0" smtClean="0"/>
              <a:t>	</a:t>
            </a:r>
            <a:r>
              <a:rPr lang="ru-RU" dirty="0" smtClean="0"/>
              <a:t>– </a:t>
            </a:r>
            <a:r>
              <a:rPr lang="ru-RU" dirty="0"/>
              <a:t>вставка битов</a:t>
            </a:r>
          </a:p>
          <a:p>
            <a:r>
              <a:rPr lang="ru-RU" dirty="0"/>
              <a:t>Приемная сторона </a:t>
            </a:r>
            <a:r>
              <a:rPr lang="en-US" dirty="0" smtClean="0"/>
              <a:t>	</a:t>
            </a:r>
            <a:r>
              <a:rPr lang="ru-RU" dirty="0" smtClean="0"/>
              <a:t>– удаление </a:t>
            </a:r>
            <a:r>
              <a:rPr lang="ru-RU" dirty="0"/>
              <a:t>битов</a:t>
            </a:r>
          </a:p>
          <a:p>
            <a:r>
              <a:rPr lang="ru-RU" dirty="0"/>
              <a:t>Отсутствует  поле длины кадра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4089805" y="3361287"/>
            <a:ext cx="4800600" cy="1248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42913" algn="l"/>
                <a:tab pos="892175" algn="l"/>
                <a:tab pos="1341438" algn="l"/>
                <a:tab pos="1790700" algn="l"/>
                <a:tab pos="2239963" algn="l"/>
                <a:tab pos="2689225" algn="l"/>
                <a:tab pos="3138488" algn="l"/>
                <a:tab pos="3587750" algn="l"/>
                <a:tab pos="4037013" algn="l"/>
                <a:tab pos="4486275" algn="l"/>
                <a:tab pos="4935538" algn="l"/>
                <a:tab pos="5384800" algn="l"/>
                <a:tab pos="5834063" algn="l"/>
                <a:tab pos="6283325" algn="l"/>
                <a:tab pos="6732588" algn="l"/>
                <a:tab pos="7181850" algn="l"/>
                <a:tab pos="7631113" algn="l"/>
                <a:tab pos="8080375" algn="l"/>
                <a:tab pos="8529638" algn="l"/>
                <a:tab pos="8978900" algn="l"/>
                <a:tab pos="8980488" algn="l"/>
                <a:tab pos="9429750" algn="l"/>
                <a:tab pos="9879013" algn="l"/>
                <a:tab pos="10328275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1pPr>
            <a:lvl2pPr>
              <a:tabLst>
                <a:tab pos="0" algn="l"/>
                <a:tab pos="442913" algn="l"/>
                <a:tab pos="892175" algn="l"/>
                <a:tab pos="1341438" algn="l"/>
                <a:tab pos="1790700" algn="l"/>
                <a:tab pos="2239963" algn="l"/>
                <a:tab pos="2689225" algn="l"/>
                <a:tab pos="3138488" algn="l"/>
                <a:tab pos="3587750" algn="l"/>
                <a:tab pos="4037013" algn="l"/>
                <a:tab pos="4486275" algn="l"/>
                <a:tab pos="4935538" algn="l"/>
                <a:tab pos="5384800" algn="l"/>
                <a:tab pos="5834063" algn="l"/>
                <a:tab pos="6283325" algn="l"/>
                <a:tab pos="6732588" algn="l"/>
                <a:tab pos="7181850" algn="l"/>
                <a:tab pos="7631113" algn="l"/>
                <a:tab pos="8080375" algn="l"/>
                <a:tab pos="8529638" algn="l"/>
                <a:tab pos="8978900" algn="l"/>
                <a:tab pos="8980488" algn="l"/>
                <a:tab pos="9429750" algn="l"/>
                <a:tab pos="9879013" algn="l"/>
                <a:tab pos="10328275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2pPr>
            <a:lvl3pPr>
              <a:tabLst>
                <a:tab pos="0" algn="l"/>
                <a:tab pos="442913" algn="l"/>
                <a:tab pos="892175" algn="l"/>
                <a:tab pos="1341438" algn="l"/>
                <a:tab pos="1790700" algn="l"/>
                <a:tab pos="2239963" algn="l"/>
                <a:tab pos="2689225" algn="l"/>
                <a:tab pos="3138488" algn="l"/>
                <a:tab pos="3587750" algn="l"/>
                <a:tab pos="4037013" algn="l"/>
                <a:tab pos="4486275" algn="l"/>
                <a:tab pos="4935538" algn="l"/>
                <a:tab pos="5384800" algn="l"/>
                <a:tab pos="5834063" algn="l"/>
                <a:tab pos="6283325" algn="l"/>
                <a:tab pos="6732588" algn="l"/>
                <a:tab pos="7181850" algn="l"/>
                <a:tab pos="7631113" algn="l"/>
                <a:tab pos="8080375" algn="l"/>
                <a:tab pos="8529638" algn="l"/>
                <a:tab pos="8978900" algn="l"/>
                <a:tab pos="8980488" algn="l"/>
                <a:tab pos="9429750" algn="l"/>
                <a:tab pos="9879013" algn="l"/>
                <a:tab pos="10328275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3pPr>
            <a:lvl4pPr>
              <a:tabLst>
                <a:tab pos="0" algn="l"/>
                <a:tab pos="442913" algn="l"/>
                <a:tab pos="892175" algn="l"/>
                <a:tab pos="1341438" algn="l"/>
                <a:tab pos="1790700" algn="l"/>
                <a:tab pos="2239963" algn="l"/>
                <a:tab pos="2689225" algn="l"/>
                <a:tab pos="3138488" algn="l"/>
                <a:tab pos="3587750" algn="l"/>
                <a:tab pos="4037013" algn="l"/>
                <a:tab pos="4486275" algn="l"/>
                <a:tab pos="4935538" algn="l"/>
                <a:tab pos="5384800" algn="l"/>
                <a:tab pos="5834063" algn="l"/>
                <a:tab pos="6283325" algn="l"/>
                <a:tab pos="6732588" algn="l"/>
                <a:tab pos="7181850" algn="l"/>
                <a:tab pos="7631113" algn="l"/>
                <a:tab pos="8080375" algn="l"/>
                <a:tab pos="8529638" algn="l"/>
                <a:tab pos="8978900" algn="l"/>
                <a:tab pos="8980488" algn="l"/>
                <a:tab pos="9429750" algn="l"/>
                <a:tab pos="9879013" algn="l"/>
                <a:tab pos="10328275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4pPr>
            <a:lvl5pPr>
              <a:tabLst>
                <a:tab pos="0" algn="l"/>
                <a:tab pos="442913" algn="l"/>
                <a:tab pos="892175" algn="l"/>
                <a:tab pos="1341438" algn="l"/>
                <a:tab pos="1790700" algn="l"/>
                <a:tab pos="2239963" algn="l"/>
                <a:tab pos="2689225" algn="l"/>
                <a:tab pos="3138488" algn="l"/>
                <a:tab pos="3587750" algn="l"/>
                <a:tab pos="4037013" algn="l"/>
                <a:tab pos="4486275" algn="l"/>
                <a:tab pos="4935538" algn="l"/>
                <a:tab pos="5384800" algn="l"/>
                <a:tab pos="5834063" algn="l"/>
                <a:tab pos="6283325" algn="l"/>
                <a:tab pos="6732588" algn="l"/>
                <a:tab pos="7181850" algn="l"/>
                <a:tab pos="7631113" algn="l"/>
                <a:tab pos="8080375" algn="l"/>
                <a:tab pos="8529638" algn="l"/>
                <a:tab pos="8978900" algn="l"/>
                <a:tab pos="8980488" algn="l"/>
                <a:tab pos="9429750" algn="l"/>
                <a:tab pos="9879013" algn="l"/>
                <a:tab pos="10328275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2913" algn="l"/>
                <a:tab pos="892175" algn="l"/>
                <a:tab pos="1341438" algn="l"/>
                <a:tab pos="1790700" algn="l"/>
                <a:tab pos="2239963" algn="l"/>
                <a:tab pos="2689225" algn="l"/>
                <a:tab pos="3138488" algn="l"/>
                <a:tab pos="3587750" algn="l"/>
                <a:tab pos="4037013" algn="l"/>
                <a:tab pos="4486275" algn="l"/>
                <a:tab pos="4935538" algn="l"/>
                <a:tab pos="5384800" algn="l"/>
                <a:tab pos="5834063" algn="l"/>
                <a:tab pos="6283325" algn="l"/>
                <a:tab pos="6732588" algn="l"/>
                <a:tab pos="7181850" algn="l"/>
                <a:tab pos="7631113" algn="l"/>
                <a:tab pos="8080375" algn="l"/>
                <a:tab pos="8529638" algn="l"/>
                <a:tab pos="8978900" algn="l"/>
                <a:tab pos="8980488" algn="l"/>
                <a:tab pos="9429750" algn="l"/>
                <a:tab pos="9879013" algn="l"/>
                <a:tab pos="10328275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2913" algn="l"/>
                <a:tab pos="892175" algn="l"/>
                <a:tab pos="1341438" algn="l"/>
                <a:tab pos="1790700" algn="l"/>
                <a:tab pos="2239963" algn="l"/>
                <a:tab pos="2689225" algn="l"/>
                <a:tab pos="3138488" algn="l"/>
                <a:tab pos="3587750" algn="l"/>
                <a:tab pos="4037013" algn="l"/>
                <a:tab pos="4486275" algn="l"/>
                <a:tab pos="4935538" algn="l"/>
                <a:tab pos="5384800" algn="l"/>
                <a:tab pos="5834063" algn="l"/>
                <a:tab pos="6283325" algn="l"/>
                <a:tab pos="6732588" algn="l"/>
                <a:tab pos="7181850" algn="l"/>
                <a:tab pos="7631113" algn="l"/>
                <a:tab pos="8080375" algn="l"/>
                <a:tab pos="8529638" algn="l"/>
                <a:tab pos="8978900" algn="l"/>
                <a:tab pos="8980488" algn="l"/>
                <a:tab pos="9429750" algn="l"/>
                <a:tab pos="9879013" algn="l"/>
                <a:tab pos="10328275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2913" algn="l"/>
                <a:tab pos="892175" algn="l"/>
                <a:tab pos="1341438" algn="l"/>
                <a:tab pos="1790700" algn="l"/>
                <a:tab pos="2239963" algn="l"/>
                <a:tab pos="2689225" algn="l"/>
                <a:tab pos="3138488" algn="l"/>
                <a:tab pos="3587750" algn="l"/>
                <a:tab pos="4037013" algn="l"/>
                <a:tab pos="4486275" algn="l"/>
                <a:tab pos="4935538" algn="l"/>
                <a:tab pos="5384800" algn="l"/>
                <a:tab pos="5834063" algn="l"/>
                <a:tab pos="6283325" algn="l"/>
                <a:tab pos="6732588" algn="l"/>
                <a:tab pos="7181850" algn="l"/>
                <a:tab pos="7631113" algn="l"/>
                <a:tab pos="8080375" algn="l"/>
                <a:tab pos="8529638" algn="l"/>
                <a:tab pos="8978900" algn="l"/>
                <a:tab pos="8980488" algn="l"/>
                <a:tab pos="9429750" algn="l"/>
                <a:tab pos="9879013" algn="l"/>
                <a:tab pos="10328275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2913" algn="l"/>
                <a:tab pos="892175" algn="l"/>
                <a:tab pos="1341438" algn="l"/>
                <a:tab pos="1790700" algn="l"/>
                <a:tab pos="2239963" algn="l"/>
                <a:tab pos="2689225" algn="l"/>
                <a:tab pos="3138488" algn="l"/>
                <a:tab pos="3587750" algn="l"/>
                <a:tab pos="4037013" algn="l"/>
                <a:tab pos="4486275" algn="l"/>
                <a:tab pos="4935538" algn="l"/>
                <a:tab pos="5384800" algn="l"/>
                <a:tab pos="5834063" algn="l"/>
                <a:tab pos="6283325" algn="l"/>
                <a:tab pos="6732588" algn="l"/>
                <a:tab pos="7181850" algn="l"/>
                <a:tab pos="7631113" algn="l"/>
                <a:tab pos="8080375" algn="l"/>
                <a:tab pos="8529638" algn="l"/>
                <a:tab pos="8978900" algn="l"/>
                <a:tab pos="8980488" algn="l"/>
                <a:tab pos="9429750" algn="l"/>
                <a:tab pos="9879013" algn="l"/>
                <a:tab pos="10328275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9pPr>
          </a:lstStyle>
          <a:p>
            <a:pPr algn="ctr" eaLnBrk="0" hangingPunct="0">
              <a:spcBef>
                <a:spcPts val="1750"/>
              </a:spcBef>
            </a:pPr>
            <a:r>
              <a:rPr lang="ru-RU" altLang="ru-RU" sz="2400" b="1" dirty="0">
                <a:solidFill>
                  <a:srgbClr val="000000"/>
                </a:solidFill>
                <a:latin typeface="Times New Roman" pitchFamily="16" charset="0"/>
              </a:rPr>
              <a:t>11000111111110011111011101010 </a:t>
            </a:r>
            <a:r>
              <a:rPr lang="ru-RU" altLang="ru-RU" dirty="0">
                <a:solidFill>
                  <a:srgbClr val="000000"/>
                </a:solidFill>
              </a:rPr>
              <a:t>информационное поле </a:t>
            </a:r>
          </a:p>
          <a:p>
            <a:pPr algn="ctr" eaLnBrk="0" hangingPunct="0">
              <a:spcBef>
                <a:spcPts val="1750"/>
              </a:spcBef>
            </a:pPr>
            <a:endParaRPr lang="ru-RU" altLang="ru-RU" dirty="0">
              <a:solidFill>
                <a:srgbClr val="000000"/>
              </a:solidFill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797050" y="4154952"/>
            <a:ext cx="887095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42913" algn="l"/>
                <a:tab pos="892175" algn="l"/>
                <a:tab pos="1341438" algn="l"/>
                <a:tab pos="1790700" algn="l"/>
                <a:tab pos="2239963" algn="l"/>
                <a:tab pos="2689225" algn="l"/>
                <a:tab pos="3138488" algn="l"/>
                <a:tab pos="3587750" algn="l"/>
                <a:tab pos="4037013" algn="l"/>
                <a:tab pos="4486275" algn="l"/>
                <a:tab pos="4935538" algn="l"/>
                <a:tab pos="5384800" algn="l"/>
                <a:tab pos="5834063" algn="l"/>
                <a:tab pos="6283325" algn="l"/>
                <a:tab pos="6732588" algn="l"/>
                <a:tab pos="7181850" algn="l"/>
                <a:tab pos="7631113" algn="l"/>
                <a:tab pos="8080375" algn="l"/>
                <a:tab pos="8529638" algn="l"/>
                <a:tab pos="8978900" algn="l"/>
                <a:tab pos="8980488" algn="l"/>
                <a:tab pos="9429750" algn="l"/>
                <a:tab pos="9879013" algn="l"/>
                <a:tab pos="10328275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1pPr>
            <a:lvl2pPr>
              <a:tabLst>
                <a:tab pos="0" algn="l"/>
                <a:tab pos="442913" algn="l"/>
                <a:tab pos="892175" algn="l"/>
                <a:tab pos="1341438" algn="l"/>
                <a:tab pos="1790700" algn="l"/>
                <a:tab pos="2239963" algn="l"/>
                <a:tab pos="2689225" algn="l"/>
                <a:tab pos="3138488" algn="l"/>
                <a:tab pos="3587750" algn="l"/>
                <a:tab pos="4037013" algn="l"/>
                <a:tab pos="4486275" algn="l"/>
                <a:tab pos="4935538" algn="l"/>
                <a:tab pos="5384800" algn="l"/>
                <a:tab pos="5834063" algn="l"/>
                <a:tab pos="6283325" algn="l"/>
                <a:tab pos="6732588" algn="l"/>
                <a:tab pos="7181850" algn="l"/>
                <a:tab pos="7631113" algn="l"/>
                <a:tab pos="8080375" algn="l"/>
                <a:tab pos="8529638" algn="l"/>
                <a:tab pos="8978900" algn="l"/>
                <a:tab pos="8980488" algn="l"/>
                <a:tab pos="9429750" algn="l"/>
                <a:tab pos="9879013" algn="l"/>
                <a:tab pos="10328275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2pPr>
            <a:lvl3pPr>
              <a:tabLst>
                <a:tab pos="0" algn="l"/>
                <a:tab pos="442913" algn="l"/>
                <a:tab pos="892175" algn="l"/>
                <a:tab pos="1341438" algn="l"/>
                <a:tab pos="1790700" algn="l"/>
                <a:tab pos="2239963" algn="l"/>
                <a:tab pos="2689225" algn="l"/>
                <a:tab pos="3138488" algn="l"/>
                <a:tab pos="3587750" algn="l"/>
                <a:tab pos="4037013" algn="l"/>
                <a:tab pos="4486275" algn="l"/>
                <a:tab pos="4935538" algn="l"/>
                <a:tab pos="5384800" algn="l"/>
                <a:tab pos="5834063" algn="l"/>
                <a:tab pos="6283325" algn="l"/>
                <a:tab pos="6732588" algn="l"/>
                <a:tab pos="7181850" algn="l"/>
                <a:tab pos="7631113" algn="l"/>
                <a:tab pos="8080375" algn="l"/>
                <a:tab pos="8529638" algn="l"/>
                <a:tab pos="8978900" algn="l"/>
                <a:tab pos="8980488" algn="l"/>
                <a:tab pos="9429750" algn="l"/>
                <a:tab pos="9879013" algn="l"/>
                <a:tab pos="10328275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3pPr>
            <a:lvl4pPr>
              <a:tabLst>
                <a:tab pos="0" algn="l"/>
                <a:tab pos="442913" algn="l"/>
                <a:tab pos="892175" algn="l"/>
                <a:tab pos="1341438" algn="l"/>
                <a:tab pos="1790700" algn="l"/>
                <a:tab pos="2239963" algn="l"/>
                <a:tab pos="2689225" algn="l"/>
                <a:tab pos="3138488" algn="l"/>
                <a:tab pos="3587750" algn="l"/>
                <a:tab pos="4037013" algn="l"/>
                <a:tab pos="4486275" algn="l"/>
                <a:tab pos="4935538" algn="l"/>
                <a:tab pos="5384800" algn="l"/>
                <a:tab pos="5834063" algn="l"/>
                <a:tab pos="6283325" algn="l"/>
                <a:tab pos="6732588" algn="l"/>
                <a:tab pos="7181850" algn="l"/>
                <a:tab pos="7631113" algn="l"/>
                <a:tab pos="8080375" algn="l"/>
                <a:tab pos="8529638" algn="l"/>
                <a:tab pos="8978900" algn="l"/>
                <a:tab pos="8980488" algn="l"/>
                <a:tab pos="9429750" algn="l"/>
                <a:tab pos="9879013" algn="l"/>
                <a:tab pos="10328275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4pPr>
            <a:lvl5pPr>
              <a:tabLst>
                <a:tab pos="0" algn="l"/>
                <a:tab pos="442913" algn="l"/>
                <a:tab pos="892175" algn="l"/>
                <a:tab pos="1341438" algn="l"/>
                <a:tab pos="1790700" algn="l"/>
                <a:tab pos="2239963" algn="l"/>
                <a:tab pos="2689225" algn="l"/>
                <a:tab pos="3138488" algn="l"/>
                <a:tab pos="3587750" algn="l"/>
                <a:tab pos="4037013" algn="l"/>
                <a:tab pos="4486275" algn="l"/>
                <a:tab pos="4935538" algn="l"/>
                <a:tab pos="5384800" algn="l"/>
                <a:tab pos="5834063" algn="l"/>
                <a:tab pos="6283325" algn="l"/>
                <a:tab pos="6732588" algn="l"/>
                <a:tab pos="7181850" algn="l"/>
                <a:tab pos="7631113" algn="l"/>
                <a:tab pos="8080375" algn="l"/>
                <a:tab pos="8529638" algn="l"/>
                <a:tab pos="8978900" algn="l"/>
                <a:tab pos="8980488" algn="l"/>
                <a:tab pos="9429750" algn="l"/>
                <a:tab pos="9879013" algn="l"/>
                <a:tab pos="10328275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2913" algn="l"/>
                <a:tab pos="892175" algn="l"/>
                <a:tab pos="1341438" algn="l"/>
                <a:tab pos="1790700" algn="l"/>
                <a:tab pos="2239963" algn="l"/>
                <a:tab pos="2689225" algn="l"/>
                <a:tab pos="3138488" algn="l"/>
                <a:tab pos="3587750" algn="l"/>
                <a:tab pos="4037013" algn="l"/>
                <a:tab pos="4486275" algn="l"/>
                <a:tab pos="4935538" algn="l"/>
                <a:tab pos="5384800" algn="l"/>
                <a:tab pos="5834063" algn="l"/>
                <a:tab pos="6283325" algn="l"/>
                <a:tab pos="6732588" algn="l"/>
                <a:tab pos="7181850" algn="l"/>
                <a:tab pos="7631113" algn="l"/>
                <a:tab pos="8080375" algn="l"/>
                <a:tab pos="8529638" algn="l"/>
                <a:tab pos="8978900" algn="l"/>
                <a:tab pos="8980488" algn="l"/>
                <a:tab pos="9429750" algn="l"/>
                <a:tab pos="9879013" algn="l"/>
                <a:tab pos="10328275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2913" algn="l"/>
                <a:tab pos="892175" algn="l"/>
                <a:tab pos="1341438" algn="l"/>
                <a:tab pos="1790700" algn="l"/>
                <a:tab pos="2239963" algn="l"/>
                <a:tab pos="2689225" algn="l"/>
                <a:tab pos="3138488" algn="l"/>
                <a:tab pos="3587750" algn="l"/>
                <a:tab pos="4037013" algn="l"/>
                <a:tab pos="4486275" algn="l"/>
                <a:tab pos="4935538" algn="l"/>
                <a:tab pos="5384800" algn="l"/>
                <a:tab pos="5834063" algn="l"/>
                <a:tab pos="6283325" algn="l"/>
                <a:tab pos="6732588" algn="l"/>
                <a:tab pos="7181850" algn="l"/>
                <a:tab pos="7631113" algn="l"/>
                <a:tab pos="8080375" algn="l"/>
                <a:tab pos="8529638" algn="l"/>
                <a:tab pos="8978900" algn="l"/>
                <a:tab pos="8980488" algn="l"/>
                <a:tab pos="9429750" algn="l"/>
                <a:tab pos="9879013" algn="l"/>
                <a:tab pos="10328275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2913" algn="l"/>
                <a:tab pos="892175" algn="l"/>
                <a:tab pos="1341438" algn="l"/>
                <a:tab pos="1790700" algn="l"/>
                <a:tab pos="2239963" algn="l"/>
                <a:tab pos="2689225" algn="l"/>
                <a:tab pos="3138488" algn="l"/>
                <a:tab pos="3587750" algn="l"/>
                <a:tab pos="4037013" algn="l"/>
                <a:tab pos="4486275" algn="l"/>
                <a:tab pos="4935538" algn="l"/>
                <a:tab pos="5384800" algn="l"/>
                <a:tab pos="5834063" algn="l"/>
                <a:tab pos="6283325" algn="l"/>
                <a:tab pos="6732588" algn="l"/>
                <a:tab pos="7181850" algn="l"/>
                <a:tab pos="7631113" algn="l"/>
                <a:tab pos="8080375" algn="l"/>
                <a:tab pos="8529638" algn="l"/>
                <a:tab pos="8978900" algn="l"/>
                <a:tab pos="8980488" algn="l"/>
                <a:tab pos="9429750" algn="l"/>
                <a:tab pos="9879013" algn="l"/>
                <a:tab pos="10328275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2913" algn="l"/>
                <a:tab pos="892175" algn="l"/>
                <a:tab pos="1341438" algn="l"/>
                <a:tab pos="1790700" algn="l"/>
                <a:tab pos="2239963" algn="l"/>
                <a:tab pos="2689225" algn="l"/>
                <a:tab pos="3138488" algn="l"/>
                <a:tab pos="3587750" algn="l"/>
                <a:tab pos="4037013" algn="l"/>
                <a:tab pos="4486275" algn="l"/>
                <a:tab pos="4935538" algn="l"/>
                <a:tab pos="5384800" algn="l"/>
                <a:tab pos="5834063" algn="l"/>
                <a:tab pos="6283325" algn="l"/>
                <a:tab pos="6732588" algn="l"/>
                <a:tab pos="7181850" algn="l"/>
                <a:tab pos="7631113" algn="l"/>
                <a:tab pos="8080375" algn="l"/>
                <a:tab pos="8529638" algn="l"/>
                <a:tab pos="8978900" algn="l"/>
                <a:tab pos="8980488" algn="l"/>
                <a:tab pos="9429750" algn="l"/>
                <a:tab pos="9879013" algn="l"/>
                <a:tab pos="10328275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ru-RU" altLang="ru-RU" sz="2400" b="1" dirty="0">
                <a:solidFill>
                  <a:srgbClr val="000000"/>
                </a:solidFill>
                <a:latin typeface="Times New Roman" pitchFamily="16" charset="0"/>
              </a:rPr>
              <a:t>11111111 </a:t>
            </a:r>
            <a:r>
              <a:rPr lang="ru-RU" altLang="ru-RU" sz="2400" b="1" dirty="0">
                <a:solidFill>
                  <a:srgbClr val="000000"/>
                </a:solidFill>
                <a:latin typeface="Times New Roman" pitchFamily="16" charset="0"/>
              </a:rPr>
              <a:t> 01111110  1100011111</a:t>
            </a:r>
            <a:r>
              <a:rPr lang="ru-RU" altLang="ru-RU" sz="2400" b="1" dirty="0">
                <a:solidFill>
                  <a:schemeClr val="accent2"/>
                </a:solidFill>
                <a:latin typeface="Times New Roman" pitchFamily="16" charset="0"/>
              </a:rPr>
              <a:t>0</a:t>
            </a:r>
            <a:r>
              <a:rPr lang="ru-RU" altLang="ru-RU" sz="2400" b="1" dirty="0">
                <a:solidFill>
                  <a:srgbClr val="000000"/>
                </a:solidFill>
                <a:latin typeface="Times New Roman" pitchFamily="16" charset="0"/>
              </a:rPr>
              <a:t>1110011111</a:t>
            </a:r>
            <a:r>
              <a:rPr lang="ru-RU" altLang="ru-RU" sz="2400" b="1" dirty="0">
                <a:solidFill>
                  <a:schemeClr val="accent2"/>
                </a:solidFill>
                <a:latin typeface="Times New Roman" pitchFamily="16" charset="0"/>
              </a:rPr>
              <a:t>0</a:t>
            </a:r>
            <a:r>
              <a:rPr lang="ru-RU" altLang="ru-RU" sz="2400" b="1" dirty="0">
                <a:solidFill>
                  <a:srgbClr val="000000"/>
                </a:solidFill>
                <a:latin typeface="Times New Roman" pitchFamily="16" charset="0"/>
              </a:rPr>
              <a:t>011101010  01111110</a:t>
            </a:r>
            <a:endParaRPr lang="ru-RU" altLang="ru-RU" sz="2400" b="1" dirty="0">
              <a:solidFill>
                <a:srgbClr val="000000"/>
              </a:solidFill>
              <a:latin typeface="Times New Roman" pitchFamily="16" charset="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834587" y="4479044"/>
            <a:ext cx="83820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0338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0338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0338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0338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0338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0338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0338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0338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20338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9pPr>
          </a:lstStyle>
          <a:p>
            <a:pPr eaLnBrk="0" hangingPunct="0">
              <a:buClrTx/>
              <a:buFontTx/>
              <a:buNone/>
            </a:pPr>
            <a:r>
              <a:rPr lang="ru-RU" altLang="ru-RU" sz="2400" dirty="0" err="1">
                <a:solidFill>
                  <a:srgbClr val="000000"/>
                </a:solidFill>
                <a:latin typeface="Times New Roman" pitchFamily="16" charset="0"/>
              </a:rPr>
              <a:t>Синхро</a:t>
            </a:r>
            <a:r>
              <a:rPr lang="ru-RU" altLang="ru-RU" sz="2400" dirty="0">
                <a:solidFill>
                  <a:srgbClr val="000000"/>
                </a:solidFill>
                <a:latin typeface="Times New Roman" pitchFamily="16" charset="0"/>
              </a:rPr>
              <a:t>    </a:t>
            </a:r>
            <a:r>
              <a:rPr lang="en-US" altLang="ru-RU" sz="2400" dirty="0">
                <a:solidFill>
                  <a:srgbClr val="000000"/>
                </a:solidFill>
                <a:latin typeface="Times New Roman" pitchFamily="16" charset="0"/>
              </a:rPr>
              <a:t>  </a:t>
            </a:r>
            <a:r>
              <a:rPr lang="ru-RU" altLang="ru-RU" sz="2400" dirty="0">
                <a:solidFill>
                  <a:srgbClr val="000000"/>
                </a:solidFill>
                <a:latin typeface="Times New Roman" pitchFamily="16" charset="0"/>
              </a:rPr>
              <a:t>флаг	            Бит-</a:t>
            </a:r>
            <a:r>
              <a:rPr lang="ru-RU" altLang="ru-RU" sz="2400" dirty="0" err="1">
                <a:solidFill>
                  <a:srgbClr val="000000"/>
                </a:solidFill>
                <a:latin typeface="Times New Roman" pitchFamily="16" charset="0"/>
              </a:rPr>
              <a:t>стаффиннг</a:t>
            </a:r>
            <a:r>
              <a:rPr lang="ru-RU" altLang="ru-RU" sz="2400" dirty="0">
                <a:solidFill>
                  <a:srgbClr val="000000"/>
                </a:solidFill>
                <a:latin typeface="Times New Roman" pitchFamily="16" charset="0"/>
              </a:rPr>
              <a:t>		 флаг</a:t>
            </a:r>
            <a:endParaRPr lang="ru-RU" altLang="ru-RU" sz="2400" dirty="0">
              <a:solidFill>
                <a:srgbClr val="000000"/>
              </a:solidFill>
              <a:latin typeface="Times New Roman" pitchFamily="16" charset="0"/>
            </a:endParaRPr>
          </a:p>
        </p:txBody>
      </p:sp>
      <p:sp>
        <p:nvSpPr>
          <p:cNvPr id="8" name="Line 11"/>
          <p:cNvSpPr>
            <a:spLocks noChangeShapeType="1"/>
          </p:cNvSpPr>
          <p:nvPr/>
        </p:nvSpPr>
        <p:spPr bwMode="auto">
          <a:xfrm flipH="1">
            <a:off x="1714343" y="3710493"/>
            <a:ext cx="2314575" cy="1588"/>
          </a:xfrm>
          <a:prstGeom prst="line">
            <a:avLst/>
          </a:prstGeom>
          <a:noFill/>
          <a:ln w="38160" cap="sq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9" name="Text Box 12"/>
          <p:cNvSpPr txBox="1">
            <a:spLocks noChangeArrowheads="1"/>
          </p:cNvSpPr>
          <p:nvPr/>
        </p:nvSpPr>
        <p:spPr bwMode="auto">
          <a:xfrm>
            <a:off x="1639020" y="3331902"/>
            <a:ext cx="5256213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42913" algn="l"/>
                <a:tab pos="892175" algn="l"/>
                <a:tab pos="1341438" algn="l"/>
                <a:tab pos="1790700" algn="l"/>
                <a:tab pos="2239963" algn="l"/>
                <a:tab pos="2689225" algn="l"/>
                <a:tab pos="3138488" algn="l"/>
                <a:tab pos="3587750" algn="l"/>
                <a:tab pos="4037013" algn="l"/>
                <a:tab pos="4486275" algn="l"/>
                <a:tab pos="4935538" algn="l"/>
                <a:tab pos="5384800" algn="l"/>
                <a:tab pos="5834063" algn="l"/>
                <a:tab pos="6283325" algn="l"/>
                <a:tab pos="6732588" algn="l"/>
                <a:tab pos="7181850" algn="l"/>
                <a:tab pos="7631113" algn="l"/>
                <a:tab pos="8080375" algn="l"/>
                <a:tab pos="8529638" algn="l"/>
                <a:tab pos="8978900" algn="l"/>
                <a:tab pos="8980488" algn="l"/>
                <a:tab pos="9429750" algn="l"/>
                <a:tab pos="9879013" algn="l"/>
                <a:tab pos="10328275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1pPr>
            <a:lvl2pPr>
              <a:tabLst>
                <a:tab pos="0" algn="l"/>
                <a:tab pos="442913" algn="l"/>
                <a:tab pos="892175" algn="l"/>
                <a:tab pos="1341438" algn="l"/>
                <a:tab pos="1790700" algn="l"/>
                <a:tab pos="2239963" algn="l"/>
                <a:tab pos="2689225" algn="l"/>
                <a:tab pos="3138488" algn="l"/>
                <a:tab pos="3587750" algn="l"/>
                <a:tab pos="4037013" algn="l"/>
                <a:tab pos="4486275" algn="l"/>
                <a:tab pos="4935538" algn="l"/>
                <a:tab pos="5384800" algn="l"/>
                <a:tab pos="5834063" algn="l"/>
                <a:tab pos="6283325" algn="l"/>
                <a:tab pos="6732588" algn="l"/>
                <a:tab pos="7181850" algn="l"/>
                <a:tab pos="7631113" algn="l"/>
                <a:tab pos="8080375" algn="l"/>
                <a:tab pos="8529638" algn="l"/>
                <a:tab pos="8978900" algn="l"/>
                <a:tab pos="8980488" algn="l"/>
                <a:tab pos="9429750" algn="l"/>
                <a:tab pos="9879013" algn="l"/>
                <a:tab pos="10328275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2pPr>
            <a:lvl3pPr>
              <a:tabLst>
                <a:tab pos="0" algn="l"/>
                <a:tab pos="442913" algn="l"/>
                <a:tab pos="892175" algn="l"/>
                <a:tab pos="1341438" algn="l"/>
                <a:tab pos="1790700" algn="l"/>
                <a:tab pos="2239963" algn="l"/>
                <a:tab pos="2689225" algn="l"/>
                <a:tab pos="3138488" algn="l"/>
                <a:tab pos="3587750" algn="l"/>
                <a:tab pos="4037013" algn="l"/>
                <a:tab pos="4486275" algn="l"/>
                <a:tab pos="4935538" algn="l"/>
                <a:tab pos="5384800" algn="l"/>
                <a:tab pos="5834063" algn="l"/>
                <a:tab pos="6283325" algn="l"/>
                <a:tab pos="6732588" algn="l"/>
                <a:tab pos="7181850" algn="l"/>
                <a:tab pos="7631113" algn="l"/>
                <a:tab pos="8080375" algn="l"/>
                <a:tab pos="8529638" algn="l"/>
                <a:tab pos="8978900" algn="l"/>
                <a:tab pos="8980488" algn="l"/>
                <a:tab pos="9429750" algn="l"/>
                <a:tab pos="9879013" algn="l"/>
                <a:tab pos="10328275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3pPr>
            <a:lvl4pPr>
              <a:tabLst>
                <a:tab pos="0" algn="l"/>
                <a:tab pos="442913" algn="l"/>
                <a:tab pos="892175" algn="l"/>
                <a:tab pos="1341438" algn="l"/>
                <a:tab pos="1790700" algn="l"/>
                <a:tab pos="2239963" algn="l"/>
                <a:tab pos="2689225" algn="l"/>
                <a:tab pos="3138488" algn="l"/>
                <a:tab pos="3587750" algn="l"/>
                <a:tab pos="4037013" algn="l"/>
                <a:tab pos="4486275" algn="l"/>
                <a:tab pos="4935538" algn="l"/>
                <a:tab pos="5384800" algn="l"/>
                <a:tab pos="5834063" algn="l"/>
                <a:tab pos="6283325" algn="l"/>
                <a:tab pos="6732588" algn="l"/>
                <a:tab pos="7181850" algn="l"/>
                <a:tab pos="7631113" algn="l"/>
                <a:tab pos="8080375" algn="l"/>
                <a:tab pos="8529638" algn="l"/>
                <a:tab pos="8978900" algn="l"/>
                <a:tab pos="8980488" algn="l"/>
                <a:tab pos="9429750" algn="l"/>
                <a:tab pos="9879013" algn="l"/>
                <a:tab pos="10328275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4pPr>
            <a:lvl5pPr>
              <a:tabLst>
                <a:tab pos="0" algn="l"/>
                <a:tab pos="442913" algn="l"/>
                <a:tab pos="892175" algn="l"/>
                <a:tab pos="1341438" algn="l"/>
                <a:tab pos="1790700" algn="l"/>
                <a:tab pos="2239963" algn="l"/>
                <a:tab pos="2689225" algn="l"/>
                <a:tab pos="3138488" algn="l"/>
                <a:tab pos="3587750" algn="l"/>
                <a:tab pos="4037013" algn="l"/>
                <a:tab pos="4486275" algn="l"/>
                <a:tab pos="4935538" algn="l"/>
                <a:tab pos="5384800" algn="l"/>
                <a:tab pos="5834063" algn="l"/>
                <a:tab pos="6283325" algn="l"/>
                <a:tab pos="6732588" algn="l"/>
                <a:tab pos="7181850" algn="l"/>
                <a:tab pos="7631113" algn="l"/>
                <a:tab pos="8080375" algn="l"/>
                <a:tab pos="8529638" algn="l"/>
                <a:tab pos="8978900" algn="l"/>
                <a:tab pos="8980488" algn="l"/>
                <a:tab pos="9429750" algn="l"/>
                <a:tab pos="9879013" algn="l"/>
                <a:tab pos="10328275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2913" algn="l"/>
                <a:tab pos="892175" algn="l"/>
                <a:tab pos="1341438" algn="l"/>
                <a:tab pos="1790700" algn="l"/>
                <a:tab pos="2239963" algn="l"/>
                <a:tab pos="2689225" algn="l"/>
                <a:tab pos="3138488" algn="l"/>
                <a:tab pos="3587750" algn="l"/>
                <a:tab pos="4037013" algn="l"/>
                <a:tab pos="4486275" algn="l"/>
                <a:tab pos="4935538" algn="l"/>
                <a:tab pos="5384800" algn="l"/>
                <a:tab pos="5834063" algn="l"/>
                <a:tab pos="6283325" algn="l"/>
                <a:tab pos="6732588" algn="l"/>
                <a:tab pos="7181850" algn="l"/>
                <a:tab pos="7631113" algn="l"/>
                <a:tab pos="8080375" algn="l"/>
                <a:tab pos="8529638" algn="l"/>
                <a:tab pos="8978900" algn="l"/>
                <a:tab pos="8980488" algn="l"/>
                <a:tab pos="9429750" algn="l"/>
                <a:tab pos="9879013" algn="l"/>
                <a:tab pos="10328275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2913" algn="l"/>
                <a:tab pos="892175" algn="l"/>
                <a:tab pos="1341438" algn="l"/>
                <a:tab pos="1790700" algn="l"/>
                <a:tab pos="2239963" algn="l"/>
                <a:tab pos="2689225" algn="l"/>
                <a:tab pos="3138488" algn="l"/>
                <a:tab pos="3587750" algn="l"/>
                <a:tab pos="4037013" algn="l"/>
                <a:tab pos="4486275" algn="l"/>
                <a:tab pos="4935538" algn="l"/>
                <a:tab pos="5384800" algn="l"/>
                <a:tab pos="5834063" algn="l"/>
                <a:tab pos="6283325" algn="l"/>
                <a:tab pos="6732588" algn="l"/>
                <a:tab pos="7181850" algn="l"/>
                <a:tab pos="7631113" algn="l"/>
                <a:tab pos="8080375" algn="l"/>
                <a:tab pos="8529638" algn="l"/>
                <a:tab pos="8978900" algn="l"/>
                <a:tab pos="8980488" algn="l"/>
                <a:tab pos="9429750" algn="l"/>
                <a:tab pos="9879013" algn="l"/>
                <a:tab pos="10328275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2913" algn="l"/>
                <a:tab pos="892175" algn="l"/>
                <a:tab pos="1341438" algn="l"/>
                <a:tab pos="1790700" algn="l"/>
                <a:tab pos="2239963" algn="l"/>
                <a:tab pos="2689225" algn="l"/>
                <a:tab pos="3138488" algn="l"/>
                <a:tab pos="3587750" algn="l"/>
                <a:tab pos="4037013" algn="l"/>
                <a:tab pos="4486275" algn="l"/>
                <a:tab pos="4935538" algn="l"/>
                <a:tab pos="5384800" algn="l"/>
                <a:tab pos="5834063" algn="l"/>
                <a:tab pos="6283325" algn="l"/>
                <a:tab pos="6732588" algn="l"/>
                <a:tab pos="7181850" algn="l"/>
                <a:tab pos="7631113" algn="l"/>
                <a:tab pos="8080375" algn="l"/>
                <a:tab pos="8529638" algn="l"/>
                <a:tab pos="8978900" algn="l"/>
                <a:tab pos="8980488" algn="l"/>
                <a:tab pos="9429750" algn="l"/>
                <a:tab pos="9879013" algn="l"/>
                <a:tab pos="10328275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2913" algn="l"/>
                <a:tab pos="892175" algn="l"/>
                <a:tab pos="1341438" algn="l"/>
                <a:tab pos="1790700" algn="l"/>
                <a:tab pos="2239963" algn="l"/>
                <a:tab pos="2689225" algn="l"/>
                <a:tab pos="3138488" algn="l"/>
                <a:tab pos="3587750" algn="l"/>
                <a:tab pos="4037013" algn="l"/>
                <a:tab pos="4486275" algn="l"/>
                <a:tab pos="4935538" algn="l"/>
                <a:tab pos="5384800" algn="l"/>
                <a:tab pos="5834063" algn="l"/>
                <a:tab pos="6283325" algn="l"/>
                <a:tab pos="6732588" algn="l"/>
                <a:tab pos="7181850" algn="l"/>
                <a:tab pos="7631113" algn="l"/>
                <a:tab pos="8080375" algn="l"/>
                <a:tab pos="8529638" algn="l"/>
                <a:tab pos="8978900" algn="l"/>
                <a:tab pos="8980488" algn="l"/>
                <a:tab pos="9429750" algn="l"/>
                <a:tab pos="9879013" algn="l"/>
                <a:tab pos="10328275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9pPr>
          </a:lstStyle>
          <a:p>
            <a:pPr>
              <a:spcBef>
                <a:spcPts val="1250"/>
              </a:spcBef>
            </a:pPr>
            <a:r>
              <a:rPr lang="ru-RU" altLang="ru-RU" dirty="0">
                <a:solidFill>
                  <a:srgbClr val="000000"/>
                </a:solidFill>
              </a:rPr>
              <a:t>Направление передачи</a:t>
            </a:r>
          </a:p>
        </p:txBody>
      </p:sp>
      <p:graphicFrame>
        <p:nvGraphicFramePr>
          <p:cNvPr id="10" name="Group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5723279"/>
              </p:ext>
            </p:extLst>
          </p:nvPr>
        </p:nvGraphicFramePr>
        <p:xfrm>
          <a:off x="1765533" y="2972091"/>
          <a:ext cx="8386762" cy="277004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9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7004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ea typeface="Microsoft YaHei" charset="-122"/>
                        </a:rPr>
                        <a:t>Синхро</a:t>
                      </a:r>
                      <a:endParaRPr kumimoji="0" lang="ru-RU" altLang="ru-R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6" charset="0"/>
                        <a:ea typeface="Microsoft YaHei" charset="-122"/>
                      </a:endParaRPr>
                    </a:p>
                  </a:txBody>
                  <a:tcPr marL="0" marR="0" marT="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ea typeface="Microsoft YaHei" charset="-122"/>
                        </a:rPr>
                        <a:t>Флаг</a:t>
                      </a:r>
                    </a:p>
                  </a:txBody>
                  <a:tcPr marL="0" marR="0" marT="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ea typeface="Microsoft YaHei" charset="-122"/>
                        </a:rPr>
                        <a:t>  Кадр данных</a:t>
                      </a:r>
                    </a:p>
                  </a:txBody>
                  <a:tcPr marL="0" marR="0" marT="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2913" algn="l"/>
                          <a:tab pos="892175" algn="l"/>
                          <a:tab pos="1341438" algn="l"/>
                          <a:tab pos="1790700" algn="l"/>
                          <a:tab pos="2239963" algn="l"/>
                          <a:tab pos="2689225" algn="l"/>
                          <a:tab pos="3138488" algn="l"/>
                          <a:tab pos="3587750" algn="l"/>
                          <a:tab pos="4037013" algn="l"/>
                          <a:tab pos="4486275" algn="l"/>
                          <a:tab pos="4935538" algn="l"/>
                          <a:tab pos="5384800" algn="l"/>
                          <a:tab pos="5834063" algn="l"/>
                          <a:tab pos="6283325" algn="l"/>
                          <a:tab pos="6732588" algn="l"/>
                          <a:tab pos="7181850" algn="l"/>
                          <a:tab pos="7631113" algn="l"/>
                          <a:tab pos="8080375" algn="l"/>
                          <a:tab pos="8529638" algn="l"/>
                          <a:tab pos="8978900" algn="l"/>
                          <a:tab pos="8980488" algn="l"/>
                          <a:tab pos="9429750" algn="l"/>
                          <a:tab pos="9879013" algn="l"/>
                          <a:tab pos="10328275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ea typeface="Microsoft YaHei" charset="-122"/>
                        </a:rPr>
                        <a:t>Флаг</a:t>
                      </a:r>
                    </a:p>
                  </a:txBody>
                  <a:tcPr marL="0" marR="0" marT="0" marB="0" anchor="ctr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7476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Использование поля “Длина кадра</a:t>
            </a:r>
            <a:r>
              <a:rPr lang="ru-RU" dirty="0" smtClean="0"/>
              <a:t>”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Один стартовый </a:t>
            </a:r>
            <a:r>
              <a:rPr lang="ru-RU" dirty="0" smtClean="0"/>
              <a:t>флаг и поле длины (</a:t>
            </a:r>
            <a:r>
              <a:rPr lang="en-US" dirty="0"/>
              <a:t>Ethernet</a:t>
            </a:r>
            <a:r>
              <a:rPr lang="en-US" dirty="0" smtClean="0"/>
              <a:t>)</a:t>
            </a:r>
            <a:r>
              <a:rPr lang="ru-RU" dirty="0" smtClean="0"/>
              <a:t>:</a:t>
            </a:r>
            <a:endParaRPr lang="en-US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7</a:t>
            </a:fld>
            <a:endParaRPr lang="ru-RU" dirty="0"/>
          </a:p>
        </p:txBody>
      </p:sp>
      <p:grpSp>
        <p:nvGrpSpPr>
          <p:cNvPr id="10" name="Group 3"/>
          <p:cNvGrpSpPr>
            <a:grpSpLocks/>
          </p:cNvGrpSpPr>
          <p:nvPr/>
        </p:nvGrpSpPr>
        <p:grpSpPr bwMode="auto">
          <a:xfrm>
            <a:off x="1921757" y="1933373"/>
            <a:ext cx="8281987" cy="1108075"/>
            <a:chOff x="217" y="748"/>
            <a:chExt cx="5217" cy="698"/>
          </a:xfrm>
        </p:grpSpPr>
        <p:sp>
          <p:nvSpPr>
            <p:cNvPr id="11" name="Text Box 4"/>
            <p:cNvSpPr txBox="1">
              <a:spLocks noChangeArrowheads="1"/>
            </p:cNvSpPr>
            <p:nvPr/>
          </p:nvSpPr>
          <p:spPr bwMode="auto">
            <a:xfrm>
              <a:off x="217" y="748"/>
              <a:ext cx="5217" cy="324"/>
            </a:xfrm>
            <a:prstGeom prst="rect">
              <a:avLst/>
            </a:prstGeom>
            <a:solidFill>
              <a:srgbClr val="FFFF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0"/>
            <a:lstStyle>
              <a:lvl1pPr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1pPr>
              <a:lvl2pPr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2pPr>
              <a:lvl3pPr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3pPr>
              <a:lvl4pPr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4pPr>
              <a:lvl5pPr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5pPr>
              <a:lvl6pPr marL="25146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6pPr>
              <a:lvl7pPr marL="29718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7pPr>
              <a:lvl8pPr marL="34290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8pPr>
              <a:lvl9pPr marL="38862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9pPr>
            </a:lstStyle>
            <a:p>
              <a:pPr eaLnBrk="0" hangingPunct="0">
                <a:buClrTx/>
                <a:buFontTx/>
                <a:buNone/>
              </a:pPr>
              <a:r>
                <a:rPr lang="en-US" altLang="ru-RU" sz="2800" b="1" dirty="0">
                  <a:solidFill>
                    <a:srgbClr val="000000"/>
                  </a:solidFill>
                  <a:latin typeface="Times New Roman" pitchFamily="16" charset="0"/>
                </a:rPr>
                <a:t> </a:t>
              </a:r>
              <a:r>
                <a:rPr lang="en-US" altLang="ru-RU" sz="2600" b="1" dirty="0">
                  <a:solidFill>
                    <a:srgbClr val="000000"/>
                  </a:solidFill>
                  <a:latin typeface="Times New Roman" pitchFamily="16" charset="0"/>
                </a:rPr>
                <a:t>1010101010...10 </a:t>
              </a:r>
              <a:r>
                <a:rPr lang="ru-RU" altLang="ru-RU" sz="2600" b="1" dirty="0">
                  <a:solidFill>
                    <a:srgbClr val="000000"/>
                  </a:solidFill>
                  <a:latin typeface="Times New Roman" pitchFamily="16" charset="0"/>
                </a:rPr>
                <a:t>   </a:t>
              </a:r>
              <a:r>
                <a:rPr lang="en-US" altLang="ru-RU" sz="2600" b="1" dirty="0">
                  <a:solidFill>
                    <a:srgbClr val="000000"/>
                  </a:solidFill>
                  <a:latin typeface="Times New Roman" pitchFamily="16" charset="0"/>
                </a:rPr>
                <a:t> 10101011 </a:t>
              </a:r>
              <a:r>
                <a:rPr lang="ru-RU" altLang="ru-RU" sz="2600" b="1" dirty="0">
                  <a:solidFill>
                    <a:srgbClr val="000000"/>
                  </a:solidFill>
                  <a:latin typeface="Times New Roman" pitchFamily="16" charset="0"/>
                </a:rPr>
                <a:t>  </a:t>
              </a:r>
              <a:r>
                <a:rPr lang="en-US" altLang="ru-RU" sz="2600" b="1" dirty="0">
                  <a:solidFill>
                    <a:srgbClr val="000000"/>
                  </a:solidFill>
                  <a:latin typeface="Times New Roman" pitchFamily="16" charset="0"/>
                </a:rPr>
                <a:t>Address</a:t>
              </a:r>
              <a:r>
                <a:rPr lang="ru-RU" altLang="ru-RU" sz="2600" b="1" dirty="0">
                  <a:solidFill>
                    <a:srgbClr val="000000"/>
                  </a:solidFill>
                  <a:latin typeface="Times New Roman" pitchFamily="16" charset="0"/>
                </a:rPr>
                <a:t> </a:t>
              </a:r>
              <a:r>
                <a:rPr lang="en-US" altLang="ru-RU" sz="2600" b="1" dirty="0">
                  <a:solidFill>
                    <a:srgbClr val="000000"/>
                  </a:solidFill>
                  <a:latin typeface="Times New Roman" pitchFamily="16" charset="0"/>
                </a:rPr>
                <a:t> </a:t>
              </a:r>
              <a:r>
                <a:rPr lang="en-US" altLang="ru-RU" sz="2600" b="1" dirty="0">
                  <a:solidFill>
                    <a:srgbClr val="276D3F"/>
                  </a:solidFill>
                  <a:latin typeface="Times New Roman" pitchFamily="16" charset="0"/>
                </a:rPr>
                <a:t>Length</a:t>
              </a:r>
              <a:r>
                <a:rPr lang="en-US" altLang="ru-RU" sz="2600" b="1" dirty="0">
                  <a:solidFill>
                    <a:srgbClr val="000000"/>
                  </a:solidFill>
                  <a:latin typeface="Times New Roman" pitchFamily="16" charset="0"/>
                </a:rPr>
                <a:t>  </a:t>
              </a:r>
              <a:r>
                <a:rPr lang="en-US" altLang="ru-RU" sz="2600" b="1" dirty="0" err="1">
                  <a:solidFill>
                    <a:srgbClr val="000000"/>
                  </a:solidFill>
                  <a:latin typeface="Times New Roman" pitchFamily="16" charset="0"/>
                </a:rPr>
                <a:t>Данные</a:t>
              </a:r>
              <a:endParaRPr lang="en-US" altLang="ru-RU" sz="2600" b="1" dirty="0">
                <a:solidFill>
                  <a:srgbClr val="000000"/>
                </a:solidFill>
                <a:latin typeface="Times New Roman" pitchFamily="16" charset="0"/>
              </a:endParaRPr>
            </a:p>
          </p:txBody>
        </p:sp>
        <p:sp>
          <p:nvSpPr>
            <p:cNvPr id="12" name="Line 5"/>
            <p:cNvSpPr>
              <a:spLocks noChangeShapeType="1"/>
            </p:cNvSpPr>
            <p:nvPr/>
          </p:nvSpPr>
          <p:spPr bwMode="auto">
            <a:xfrm>
              <a:off x="1901" y="748"/>
              <a:ext cx="0" cy="324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3" name="Line 6"/>
            <p:cNvSpPr>
              <a:spLocks noChangeShapeType="1"/>
            </p:cNvSpPr>
            <p:nvPr/>
          </p:nvSpPr>
          <p:spPr bwMode="auto">
            <a:xfrm>
              <a:off x="2860" y="748"/>
              <a:ext cx="0" cy="324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4" name="Line 7"/>
            <p:cNvSpPr>
              <a:spLocks noChangeShapeType="1"/>
            </p:cNvSpPr>
            <p:nvPr/>
          </p:nvSpPr>
          <p:spPr bwMode="auto">
            <a:xfrm>
              <a:off x="3744" y="748"/>
              <a:ext cx="0" cy="324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5" name="Line 8"/>
            <p:cNvSpPr>
              <a:spLocks noChangeShapeType="1"/>
            </p:cNvSpPr>
            <p:nvPr/>
          </p:nvSpPr>
          <p:spPr bwMode="auto">
            <a:xfrm>
              <a:off x="4481" y="748"/>
              <a:ext cx="0" cy="324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6" name="Text Box 9"/>
            <p:cNvSpPr txBox="1">
              <a:spLocks noChangeArrowheads="1"/>
            </p:cNvSpPr>
            <p:nvPr/>
          </p:nvSpPr>
          <p:spPr bwMode="auto">
            <a:xfrm>
              <a:off x="2962" y="1123"/>
              <a:ext cx="1459" cy="3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lvl1pPr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1pPr>
              <a:lvl2pPr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2pPr>
              <a:lvl3pPr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3pPr>
              <a:lvl4pPr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4pPr>
              <a:lvl5pPr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5pPr>
              <a:lvl6pPr marL="25146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6pPr>
              <a:lvl7pPr marL="29718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7pPr>
              <a:lvl8pPr marL="34290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8pPr>
              <a:lvl9pPr marL="38862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9pPr>
            </a:lstStyle>
            <a:p>
              <a:pPr eaLnBrk="0" hangingPunct="0">
                <a:buClrTx/>
                <a:buFontTx/>
                <a:buNone/>
              </a:pPr>
              <a:r>
                <a:rPr lang="ru-RU" altLang="ru-RU" sz="2000" dirty="0">
                  <a:solidFill>
                    <a:srgbClr val="000000"/>
                  </a:solidFill>
                  <a:latin typeface="Times New Roman" pitchFamily="16" charset="0"/>
                </a:rPr>
                <a:t>Заголовок кадра</a:t>
              </a:r>
            </a:p>
          </p:txBody>
        </p:sp>
        <p:sp>
          <p:nvSpPr>
            <p:cNvPr id="17" name="Text Box 10"/>
            <p:cNvSpPr txBox="1">
              <a:spLocks noChangeArrowheads="1"/>
            </p:cNvSpPr>
            <p:nvPr/>
          </p:nvSpPr>
          <p:spPr bwMode="auto">
            <a:xfrm>
              <a:off x="217" y="1123"/>
              <a:ext cx="2778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lvl1pPr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1pPr>
              <a:lvl2pPr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2pPr>
              <a:lvl3pPr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3pPr>
              <a:lvl4pPr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4pPr>
              <a:lvl5pPr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5pPr>
              <a:lvl6pPr marL="25146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6pPr>
              <a:lvl7pPr marL="29718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7pPr>
              <a:lvl8pPr marL="34290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8pPr>
              <a:lvl9pPr marL="38862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9pPr>
            </a:lstStyle>
            <a:p>
              <a:pPr eaLnBrk="0" hangingPunct="0">
                <a:buClrTx/>
                <a:buFontTx/>
                <a:buNone/>
              </a:pPr>
              <a:r>
                <a:rPr lang="ru-RU" altLang="ru-RU" sz="1000" dirty="0">
                  <a:solidFill>
                    <a:srgbClr val="000000"/>
                  </a:solidFill>
                  <a:latin typeface="Times New Roman" pitchFamily="16" charset="0"/>
                </a:rPr>
                <a:t>  </a:t>
              </a:r>
              <a:r>
                <a:rPr lang="en-US" altLang="ru-RU" sz="1000" dirty="0">
                  <a:solidFill>
                    <a:srgbClr val="000000"/>
                  </a:solidFill>
                  <a:latin typeface="Times New Roman" pitchFamily="16" charset="0"/>
                </a:rPr>
                <a:t>   </a:t>
              </a:r>
              <a:r>
                <a:rPr lang="en-US" altLang="ru-RU" sz="2000" dirty="0">
                  <a:solidFill>
                    <a:srgbClr val="000000"/>
                  </a:solidFill>
                  <a:latin typeface="Times New Roman" pitchFamily="16" charset="0"/>
                </a:rPr>
                <a:t> </a:t>
              </a:r>
              <a:r>
                <a:rPr lang="ru-RU" altLang="ru-RU" sz="2000" dirty="0">
                  <a:solidFill>
                    <a:srgbClr val="000000"/>
                  </a:solidFill>
                  <a:latin typeface="Times New Roman" pitchFamily="16" charset="0"/>
                </a:rPr>
                <a:t>Преамбула        </a:t>
              </a:r>
              <a:r>
                <a:rPr lang="en-US" altLang="ru-RU" sz="2000" dirty="0">
                  <a:solidFill>
                    <a:srgbClr val="000000"/>
                  </a:solidFill>
                  <a:latin typeface="Times New Roman" pitchFamily="16" charset="0"/>
                </a:rPr>
                <a:t>        </a:t>
              </a:r>
              <a:r>
                <a:rPr lang="ru-RU" altLang="ru-RU" sz="2000" dirty="0">
                  <a:solidFill>
                    <a:srgbClr val="000000"/>
                  </a:solidFill>
                  <a:latin typeface="Times New Roman" pitchFamily="16" charset="0"/>
                </a:rPr>
                <a:t>   Начало </a:t>
              </a:r>
              <a:r>
                <a:rPr lang="ru-RU" altLang="ru-RU" sz="2000" dirty="0">
                  <a:solidFill>
                    <a:srgbClr val="000000"/>
                  </a:solidFill>
                  <a:latin typeface="Times New Roman" pitchFamily="16" charset="0"/>
                </a:rPr>
                <a:t>кадра</a:t>
              </a:r>
              <a:endParaRPr lang="en-US" altLang="ru-RU" sz="2000" dirty="0">
                <a:solidFill>
                  <a:srgbClr val="000000"/>
                </a:solidFill>
                <a:latin typeface="Times New Roman" pitchFamily="16" charset="0"/>
              </a:endParaRPr>
            </a:p>
            <a:p>
              <a:pPr eaLnBrk="0" hangingPunct="0">
                <a:buClrTx/>
                <a:buFontTx/>
                <a:buNone/>
              </a:pPr>
              <a:r>
                <a:rPr lang="en-US" altLang="ru-RU" sz="2000" dirty="0">
                  <a:solidFill>
                    <a:srgbClr val="000000"/>
                  </a:solidFill>
                  <a:latin typeface="Times New Roman" pitchFamily="16" charset="0"/>
                </a:rPr>
                <a:t> </a:t>
              </a:r>
              <a:r>
                <a:rPr lang="en-US" altLang="ru-RU" sz="2000" dirty="0">
                  <a:solidFill>
                    <a:srgbClr val="000000"/>
                  </a:solidFill>
                  <a:latin typeface="Times New Roman" pitchFamily="16" charset="0"/>
                </a:rPr>
                <a:t>                                                  </a:t>
              </a:r>
              <a:r>
                <a:rPr lang="en-US" altLang="ru-RU" sz="2000" dirty="0" err="1">
                  <a:solidFill>
                    <a:srgbClr val="000000"/>
                  </a:solidFill>
                  <a:latin typeface="Times New Roman" pitchFamily="16" charset="0"/>
                </a:rPr>
                <a:t>SoF</a:t>
              </a:r>
              <a:endParaRPr lang="ru-RU" altLang="ru-RU" sz="2000" dirty="0">
                <a:solidFill>
                  <a:srgbClr val="000000"/>
                </a:solidFill>
                <a:latin typeface="Times New Roman" pitchFamily="16" charset="0"/>
              </a:endParaRPr>
            </a:p>
            <a:p>
              <a:pPr eaLnBrk="0" hangingPunct="0">
                <a:buClrTx/>
                <a:buFontTx/>
                <a:buNone/>
              </a:pPr>
              <a:endParaRPr lang="en-US" altLang="ru-RU" sz="600" dirty="0">
                <a:solidFill>
                  <a:srgbClr val="000000"/>
                </a:solidFill>
                <a:latin typeface="Times New Roman" pitchFamily="1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3933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Использование запрещенных сигналов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Специальные символы Манчестерского  (или другого) кода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8</a:t>
            </a:fld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6660" y="2058511"/>
            <a:ext cx="8247355" cy="103091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6660" y="3756137"/>
            <a:ext cx="8105313" cy="1408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375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Обнаружение ошибок (искажения данных)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Принцип – передача избыточной информации (</a:t>
            </a:r>
            <a:r>
              <a:rPr lang="en-US" dirty="0" smtClean="0"/>
              <a:t>FCS</a:t>
            </a:r>
            <a:r>
              <a:rPr lang="ru-RU" dirty="0" smtClean="0"/>
              <a:t>)</a:t>
            </a:r>
          </a:p>
          <a:p>
            <a:r>
              <a:rPr lang="en-US" b="1" dirty="0" smtClean="0">
                <a:solidFill>
                  <a:srgbClr val="276D3F"/>
                </a:solidFill>
              </a:rPr>
              <a:t>CRC</a:t>
            </a:r>
            <a:r>
              <a:rPr lang="en-US" dirty="0" smtClean="0"/>
              <a:t> – Cyclic Redundancy Check – </a:t>
            </a:r>
            <a:r>
              <a:rPr lang="ru-RU" dirty="0" smtClean="0"/>
              <a:t>циклический избыточный код – остаток от деления кадра на «образующий многочлен» </a:t>
            </a:r>
            <a:r>
              <a:rPr lang="en-US" dirty="0" smtClean="0"/>
              <a:t>G(x)</a:t>
            </a:r>
            <a:endParaRPr lang="ru-RU" dirty="0" smtClean="0"/>
          </a:p>
          <a:p>
            <a:r>
              <a:rPr lang="ru-RU" dirty="0" smtClean="0"/>
              <a:t>Степень многочлена </a:t>
            </a:r>
            <a:r>
              <a:rPr lang="en-US" dirty="0" smtClean="0"/>
              <a:t>G(x)</a:t>
            </a:r>
            <a:r>
              <a:rPr lang="ru-RU" dirty="0" smtClean="0"/>
              <a:t> </a:t>
            </a:r>
            <a:r>
              <a:rPr lang="en-US" dirty="0" smtClean="0"/>
              <a:t>&lt; </a:t>
            </a:r>
            <a:r>
              <a:rPr lang="ru-RU" dirty="0" smtClean="0"/>
              <a:t>длины кадра</a:t>
            </a:r>
          </a:p>
          <a:p>
            <a:r>
              <a:rPr lang="ru-RU" dirty="0" smtClean="0"/>
              <a:t>Пример: </a:t>
            </a:r>
            <a:r>
              <a:rPr lang="en-US" dirty="0" smtClean="0"/>
              <a:t>G(x)=x</a:t>
            </a:r>
            <a:r>
              <a:rPr lang="en-US" baseline="30000" dirty="0" smtClean="0"/>
              <a:t>4</a:t>
            </a:r>
            <a:r>
              <a:rPr lang="en-US" dirty="0" smtClean="0"/>
              <a:t>+x+1=10011</a:t>
            </a:r>
            <a:endParaRPr lang="ru-RU" dirty="0" smtClean="0"/>
          </a:p>
          <a:p>
            <a:pPr lvl="1"/>
            <a:r>
              <a:rPr lang="ru-RU" dirty="0" smtClean="0"/>
              <a:t>Источник – вычисляет </a:t>
            </a:r>
            <a:r>
              <a:rPr lang="en-US" dirty="0" smtClean="0"/>
              <a:t>CRC </a:t>
            </a:r>
            <a:r>
              <a:rPr lang="ru-RU" dirty="0" smtClean="0"/>
              <a:t>и дополняет кадр</a:t>
            </a:r>
          </a:p>
          <a:p>
            <a:pPr lvl="1"/>
            <a:r>
              <a:rPr lang="ru-RU" dirty="0" smtClean="0"/>
              <a:t>Приемник – делит принятый кадр на </a:t>
            </a:r>
            <a:r>
              <a:rPr lang="en-US" dirty="0" smtClean="0"/>
              <a:t>G(x)</a:t>
            </a:r>
          </a:p>
          <a:p>
            <a:pPr lvl="1"/>
            <a:r>
              <a:rPr lang="ru-RU" dirty="0" smtClean="0"/>
              <a:t>Если остаток от деления </a:t>
            </a:r>
            <a:r>
              <a:rPr lang="ru-RU" dirty="0" smtClean="0">
                <a:latin typeface="Calibri"/>
                <a:cs typeface="Calibri"/>
              </a:rPr>
              <a:t>≠ 0 </a:t>
            </a:r>
            <a:r>
              <a:rPr lang="ru-RU" dirty="0" smtClean="0">
                <a:latin typeface="Times New Roman"/>
                <a:cs typeface="Times New Roman"/>
              </a:rPr>
              <a:t>→</a:t>
            </a:r>
            <a:r>
              <a:rPr lang="ru-RU" dirty="0" smtClean="0">
                <a:latin typeface="Calibri"/>
                <a:cs typeface="Calibri"/>
              </a:rPr>
              <a:t> ошибка</a:t>
            </a:r>
          </a:p>
          <a:p>
            <a:pPr marL="228600" lvl="1">
              <a:lnSpc>
                <a:spcPct val="100000"/>
              </a:lnSpc>
              <a:spcBef>
                <a:spcPts val="1000"/>
              </a:spcBef>
            </a:pPr>
            <a:r>
              <a:rPr lang="ru-RU" altLang="ru-RU" sz="2800" dirty="0"/>
              <a:t>Большинство протоколов </a:t>
            </a:r>
            <a:r>
              <a:rPr lang="en-US" altLang="ru-RU" sz="2800" dirty="0"/>
              <a:t>DLL </a:t>
            </a:r>
            <a:r>
              <a:rPr lang="ru-RU" altLang="ru-RU" sz="2800" dirty="0"/>
              <a:t>выполняет только обнаружение ошибок (без коррекции и управления потоком)</a:t>
            </a:r>
          </a:p>
          <a:p>
            <a:pPr marL="457200" lvl="1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7758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Maximum Transmission Unit (MTU)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Поле данных в кадре может иметь переменную длину.</a:t>
            </a:r>
          </a:p>
          <a:p>
            <a:r>
              <a:rPr lang="ru-RU" dirty="0"/>
              <a:t>Обычно протоколы DLL указывают  MTU  (</a:t>
            </a:r>
            <a:r>
              <a:rPr lang="ru-RU" dirty="0" err="1"/>
              <a:t>Ethernet</a:t>
            </a:r>
            <a:r>
              <a:rPr lang="ru-RU" dirty="0"/>
              <a:t> -1500 байт)</a:t>
            </a:r>
          </a:p>
          <a:p>
            <a:r>
              <a:rPr lang="ru-RU" dirty="0"/>
              <a:t>Составная сеть </a:t>
            </a:r>
            <a:r>
              <a:rPr lang="ru-RU" dirty="0" smtClean="0">
                <a:latin typeface="Times New Roman"/>
                <a:cs typeface="Times New Roman"/>
              </a:rPr>
              <a:t>→</a:t>
            </a:r>
            <a:r>
              <a:rPr lang="ru-RU" dirty="0" smtClean="0"/>
              <a:t> </a:t>
            </a:r>
            <a:r>
              <a:rPr lang="ru-RU" dirty="0" err="1"/>
              <a:t>Path</a:t>
            </a:r>
            <a:r>
              <a:rPr lang="ru-RU" dirty="0"/>
              <a:t> MTU </a:t>
            </a:r>
            <a:r>
              <a:rPr lang="ru-RU" dirty="0">
                <a:latin typeface="Times New Roman"/>
                <a:cs typeface="Times New Roman"/>
              </a:rPr>
              <a:t>→</a:t>
            </a:r>
            <a:r>
              <a:rPr lang="ru-RU" dirty="0" smtClean="0"/>
              <a:t> </a:t>
            </a:r>
            <a:r>
              <a:rPr lang="ru-RU" dirty="0"/>
              <a:t>Фрагментация пакетов</a:t>
            </a:r>
          </a:p>
          <a:p>
            <a:endParaRPr lang="ru-RU" dirty="0"/>
          </a:p>
          <a:p>
            <a:r>
              <a:rPr lang="ru-RU" dirty="0"/>
              <a:t>Типовые значения </a:t>
            </a:r>
            <a:r>
              <a:rPr lang="ru-RU" dirty="0" smtClean="0"/>
              <a:t>MTU:</a:t>
            </a:r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/>
          </a:p>
          <a:p>
            <a:endParaRPr lang="ru-RU" dirty="0"/>
          </a:p>
          <a:p>
            <a:pPr marL="0" indent="0">
              <a:buNone/>
            </a:pP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10</a:t>
            </a:fld>
            <a:endParaRPr lang="ru-RU" dirty="0"/>
          </a:p>
        </p:txBody>
      </p:sp>
      <p:pic>
        <p:nvPicPr>
          <p:cNvPr id="5" name="Picture 4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9099" y="2745185"/>
            <a:ext cx="6449395" cy="3574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08481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Особенности локальных </a:t>
            </a:r>
            <a:r>
              <a:rPr lang="ru-RU" dirty="0" smtClean="0"/>
              <a:t>сетей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ЛВС - комплекс: кабельная система, активное сетевое оборудование, компьютеры (WS), серверы, ПО. Один администратор.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b="1" dirty="0" smtClean="0">
                <a:solidFill>
                  <a:srgbClr val="276D3F"/>
                </a:solidFill>
              </a:rPr>
              <a:t>Классические </a:t>
            </a:r>
            <a:r>
              <a:rPr lang="ru-RU" b="1" dirty="0">
                <a:solidFill>
                  <a:srgbClr val="276D3F"/>
                </a:solidFill>
              </a:rPr>
              <a:t>LAN  </a:t>
            </a:r>
          </a:p>
          <a:p>
            <a:r>
              <a:rPr lang="ru-RU" dirty="0"/>
              <a:t>Типовая </a:t>
            </a:r>
            <a:r>
              <a:rPr lang="ru-RU" dirty="0" smtClean="0"/>
              <a:t>топология: Шина</a:t>
            </a:r>
            <a:r>
              <a:rPr lang="ru-RU" dirty="0"/>
              <a:t>, кольцо, </a:t>
            </a:r>
            <a:r>
              <a:rPr lang="ru-RU" dirty="0" smtClean="0"/>
              <a:t>звезда</a:t>
            </a:r>
            <a:endParaRPr lang="ru-RU" dirty="0"/>
          </a:p>
          <a:p>
            <a:r>
              <a:rPr lang="ru-RU" dirty="0" smtClean="0"/>
              <a:t>Один </a:t>
            </a:r>
            <a:r>
              <a:rPr lang="ru-RU" dirty="0"/>
              <a:t>маршрут </a:t>
            </a:r>
          </a:p>
          <a:p>
            <a:r>
              <a:rPr lang="ru-RU" dirty="0"/>
              <a:t>Разделяемая среда (</a:t>
            </a:r>
            <a:r>
              <a:rPr lang="ru-RU" dirty="0" err="1"/>
              <a:t>Shared</a:t>
            </a:r>
            <a:r>
              <a:rPr lang="ru-RU" dirty="0"/>
              <a:t> </a:t>
            </a:r>
            <a:r>
              <a:rPr lang="ru-RU" dirty="0" err="1"/>
              <a:t>Media</a:t>
            </a:r>
            <a:r>
              <a:rPr lang="ru-RU" dirty="0"/>
              <a:t>) </a:t>
            </a:r>
          </a:p>
          <a:p>
            <a:r>
              <a:rPr lang="ru-RU" dirty="0"/>
              <a:t>Полудуплексный режим  </a:t>
            </a:r>
          </a:p>
          <a:p>
            <a:pPr marL="0" indent="0">
              <a:buNone/>
            </a:pPr>
            <a:r>
              <a:rPr lang="ru-RU" dirty="0"/>
              <a:t>Достоинства:  Простота и дешевизна. (&lt;100 ЭВМ)</a:t>
            </a:r>
          </a:p>
          <a:p>
            <a:pPr marL="0" indent="0">
              <a:buNone/>
            </a:pPr>
            <a:r>
              <a:rPr lang="ru-RU" dirty="0"/>
              <a:t>Ограничения:  Диаметр,  Надежность</a:t>
            </a:r>
            <a:r>
              <a:rPr lang="ru-RU" dirty="0" smtClean="0"/>
              <a:t>↓, </a:t>
            </a:r>
            <a:r>
              <a:rPr lang="ru-RU" dirty="0"/>
              <a:t>Производительность↓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b="1" dirty="0">
                <a:solidFill>
                  <a:srgbClr val="276D3F"/>
                </a:solidFill>
              </a:rPr>
              <a:t>Тенденции (Современные LAN)</a:t>
            </a:r>
          </a:p>
          <a:p>
            <a:r>
              <a:rPr lang="ru-RU" dirty="0"/>
              <a:t>Индивидуальные ЛС (мосты, коммутаторы)</a:t>
            </a:r>
          </a:p>
          <a:p>
            <a:r>
              <a:rPr lang="ru-RU" dirty="0"/>
              <a:t>Полнодуплексный режим (и полудуплексный)</a:t>
            </a:r>
          </a:p>
          <a:p>
            <a:r>
              <a:rPr lang="ru-RU" dirty="0"/>
              <a:t>Преемственность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6326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Подкомитеты </a:t>
            </a:r>
            <a:r>
              <a:rPr lang="ru-RU" dirty="0" smtClean="0"/>
              <a:t>802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802.1 – Internetworking;</a:t>
            </a:r>
          </a:p>
          <a:p>
            <a:r>
              <a:rPr lang="en-US" dirty="0"/>
              <a:t>802.2 - Logical Link Control  (LLC)  ; </a:t>
            </a:r>
          </a:p>
          <a:p>
            <a:r>
              <a:rPr lang="en-US" dirty="0"/>
              <a:t>802.3 - Ethernet </a:t>
            </a:r>
            <a:r>
              <a:rPr lang="ru-RU" dirty="0"/>
              <a:t>с методом доступа </a:t>
            </a:r>
            <a:r>
              <a:rPr lang="en-US" dirty="0"/>
              <a:t>CSMA/CD;</a:t>
            </a:r>
          </a:p>
          <a:p>
            <a:r>
              <a:rPr lang="en-US" dirty="0"/>
              <a:t>802.4 - Token Bus LAN;</a:t>
            </a:r>
          </a:p>
          <a:p>
            <a:r>
              <a:rPr lang="en-US" dirty="0"/>
              <a:t>802.5 - Token Ring LAN ;</a:t>
            </a:r>
          </a:p>
          <a:p>
            <a:r>
              <a:rPr lang="en-US" dirty="0"/>
              <a:t>802.6 - Metropolitan Area Network, MAN; </a:t>
            </a:r>
          </a:p>
          <a:p>
            <a:r>
              <a:rPr lang="en-US" dirty="0"/>
              <a:t>802.7 - Broadband Technical Advisory Group;</a:t>
            </a:r>
          </a:p>
          <a:p>
            <a:r>
              <a:rPr lang="en-US" dirty="0"/>
              <a:t>802.8 - Fiber Optic Technical Advisory Group;</a:t>
            </a:r>
          </a:p>
          <a:p>
            <a:r>
              <a:rPr lang="en-US" dirty="0"/>
              <a:t>802.9 - Integrated Voice and data Networks ;</a:t>
            </a:r>
          </a:p>
          <a:p>
            <a:r>
              <a:rPr lang="en-US" dirty="0"/>
              <a:t>802.10 - Network Security;</a:t>
            </a:r>
          </a:p>
          <a:p>
            <a:r>
              <a:rPr lang="en-US" dirty="0"/>
              <a:t>802.11 - Wireless Networks;</a:t>
            </a:r>
          </a:p>
          <a:p>
            <a:r>
              <a:rPr lang="en-US" dirty="0"/>
              <a:t>802.12 - Demand Priority Access LAN.</a:t>
            </a:r>
          </a:p>
          <a:p>
            <a:r>
              <a:rPr lang="en-US" dirty="0"/>
              <a:t>802.16 - WiMAX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84270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OSI и протоколы LAN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176832" y="1271451"/>
            <a:ext cx="7858414" cy="5355772"/>
          </a:xfrm>
        </p:spPr>
        <p:txBody>
          <a:bodyPr/>
          <a:lstStyle/>
          <a:p>
            <a:r>
              <a:rPr lang="ru-RU" dirty="0"/>
              <a:t>Протоколы </a:t>
            </a:r>
            <a:r>
              <a:rPr lang="ru-RU" dirty="0" smtClean="0"/>
              <a:t>LAN  -  </a:t>
            </a:r>
            <a:r>
              <a:rPr lang="ru-RU" dirty="0"/>
              <a:t>2 уровня (</a:t>
            </a:r>
            <a:r>
              <a:rPr lang="ru-RU" dirty="0" err="1"/>
              <a:t>Phy</a:t>
            </a:r>
            <a:r>
              <a:rPr lang="ru-RU" dirty="0"/>
              <a:t>, DLL</a:t>
            </a:r>
            <a:r>
              <a:rPr lang="ru-RU" dirty="0" smtClean="0"/>
              <a:t>)</a:t>
            </a:r>
          </a:p>
          <a:p>
            <a:r>
              <a:rPr lang="ru-RU" dirty="0"/>
              <a:t>В  </a:t>
            </a:r>
            <a:r>
              <a:rPr lang="en-US" dirty="0"/>
              <a:t>LAN  DLL  - 2 </a:t>
            </a:r>
            <a:r>
              <a:rPr lang="ru-RU" dirty="0" smtClean="0"/>
              <a:t>подуровня:</a:t>
            </a:r>
            <a:endParaRPr lang="ru-RU" dirty="0"/>
          </a:p>
          <a:p>
            <a:pPr marL="2868613" lvl="1"/>
            <a:r>
              <a:rPr lang="ru-RU" dirty="0"/>
              <a:t>Управления логическим каналом </a:t>
            </a:r>
            <a:r>
              <a:rPr lang="en-US" dirty="0" smtClean="0"/>
              <a:t>Logical </a:t>
            </a:r>
            <a:r>
              <a:rPr lang="en-US" dirty="0"/>
              <a:t>Link Control  (</a:t>
            </a:r>
            <a:r>
              <a:rPr lang="en-US" dirty="0" smtClean="0"/>
              <a:t>LLC)</a:t>
            </a:r>
            <a:endParaRPr lang="ru-RU" dirty="0"/>
          </a:p>
          <a:p>
            <a:pPr marL="2868613" lvl="1"/>
            <a:r>
              <a:rPr lang="ru-RU" dirty="0" smtClean="0"/>
              <a:t>Управления </a:t>
            </a:r>
            <a:r>
              <a:rPr lang="ru-RU" dirty="0"/>
              <a:t>доступом к среде </a:t>
            </a:r>
            <a:r>
              <a:rPr lang="ru-RU" dirty="0" smtClean="0"/>
              <a:t>передачи </a:t>
            </a:r>
            <a:r>
              <a:rPr lang="en-US" dirty="0" smtClean="0"/>
              <a:t>Medium </a:t>
            </a:r>
            <a:r>
              <a:rPr lang="en-US" dirty="0"/>
              <a:t>Access Control (MAC)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13</a:t>
            </a:fld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382" y="2112035"/>
            <a:ext cx="8007659" cy="451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6220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Подуровень </a:t>
            </a:r>
            <a:r>
              <a:rPr lang="en-US" dirty="0" smtClean="0"/>
              <a:t>LLC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LLC1 – без установления соединения и </a:t>
            </a:r>
            <a:r>
              <a:rPr lang="ru-RU" dirty="0" smtClean="0"/>
              <a:t>подтверждений</a:t>
            </a:r>
            <a:endParaRPr lang="ru-RU" dirty="0"/>
          </a:p>
          <a:p>
            <a:r>
              <a:rPr lang="ru-RU" dirty="0"/>
              <a:t>LLC2 – c установлением соединения и </a:t>
            </a:r>
            <a:r>
              <a:rPr lang="ru-RU" dirty="0" smtClean="0"/>
              <a:t>подтверждением</a:t>
            </a:r>
            <a:endParaRPr lang="ru-RU" dirty="0"/>
          </a:p>
          <a:p>
            <a:r>
              <a:rPr lang="ru-RU" dirty="0"/>
              <a:t>LLC3 – без установления </a:t>
            </a:r>
            <a:r>
              <a:rPr lang="ru-RU" dirty="0" smtClean="0"/>
              <a:t>соединения</a:t>
            </a:r>
            <a:r>
              <a:rPr lang="en-US" dirty="0"/>
              <a:t>,</a:t>
            </a:r>
            <a:r>
              <a:rPr lang="ru-RU" dirty="0" smtClean="0"/>
              <a:t> </a:t>
            </a:r>
            <a:r>
              <a:rPr lang="ru-RU" dirty="0"/>
              <a:t>но с </a:t>
            </a:r>
            <a:r>
              <a:rPr lang="ru-RU" dirty="0" smtClean="0"/>
              <a:t>подтверждением</a:t>
            </a:r>
            <a:endParaRPr lang="ru-RU" dirty="0"/>
          </a:p>
          <a:p>
            <a:pPr marL="0" indent="0">
              <a:buNone/>
            </a:pPr>
            <a:r>
              <a:rPr lang="ru-RU" dirty="0" smtClean="0"/>
              <a:t>В </a:t>
            </a:r>
            <a:r>
              <a:rPr lang="ru-RU" dirty="0"/>
              <a:t>стеке TCP/IP  обычно  </a:t>
            </a:r>
            <a:r>
              <a:rPr lang="ru-RU" dirty="0" smtClean="0"/>
              <a:t>LLC1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Hewlett-Packard </a:t>
            </a:r>
            <a:r>
              <a:rPr lang="ru-RU" dirty="0" smtClean="0"/>
              <a:t>и </a:t>
            </a:r>
            <a:r>
              <a:rPr lang="en-US" dirty="0" smtClean="0"/>
              <a:t>IBM </a:t>
            </a:r>
            <a:r>
              <a:rPr lang="ru-RU" dirty="0" smtClean="0"/>
              <a:t>используют </a:t>
            </a:r>
            <a:r>
              <a:rPr lang="en-US" dirty="0" smtClean="0"/>
              <a:t>LLC2</a:t>
            </a:r>
          </a:p>
          <a:p>
            <a:pPr marL="0" indent="0">
              <a:buNone/>
            </a:pPr>
            <a:r>
              <a:rPr lang="en-US" dirty="0" smtClean="0"/>
              <a:t>LLC3 – </a:t>
            </a:r>
            <a:r>
              <a:rPr lang="ru-RU" dirty="0" smtClean="0"/>
              <a:t>промышленные сети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9214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anchor="ctr" anchorCtr="1">
            <a:normAutofit/>
          </a:bodyPr>
          <a:lstStyle/>
          <a:p>
            <a:r>
              <a:rPr lang="ru-RU" dirty="0"/>
              <a:t>Подуровень управления доступом к среде </a:t>
            </a:r>
            <a:br>
              <a:rPr lang="ru-RU" dirty="0"/>
            </a:br>
            <a:r>
              <a:rPr lang="ru-RU" dirty="0" err="1"/>
              <a:t>Medium</a:t>
            </a:r>
            <a:r>
              <a:rPr lang="ru-RU" dirty="0"/>
              <a:t> </a:t>
            </a:r>
            <a:r>
              <a:rPr lang="ru-RU" dirty="0" err="1"/>
              <a:t>Access</a:t>
            </a:r>
            <a:r>
              <a:rPr lang="ru-RU" dirty="0"/>
              <a:t> </a:t>
            </a:r>
            <a:r>
              <a:rPr lang="ru-RU" dirty="0" err="1"/>
              <a:t>Control</a:t>
            </a:r>
            <a:r>
              <a:rPr lang="ru-RU" dirty="0"/>
              <a:t> </a:t>
            </a:r>
            <a:r>
              <a:rPr lang="ru-RU" dirty="0" err="1"/>
              <a:t>Sublayer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Доступ к разделяемой </a:t>
            </a:r>
            <a:r>
              <a:rPr lang="ru-RU" dirty="0" smtClean="0"/>
              <a:t>среде: </a:t>
            </a:r>
            <a:endParaRPr lang="ru-RU" dirty="0"/>
          </a:p>
          <a:p>
            <a:r>
              <a:rPr lang="ru-RU" dirty="0"/>
              <a:t>Случайный </a:t>
            </a:r>
            <a:r>
              <a:rPr lang="ru-RU" dirty="0" smtClean="0"/>
              <a:t>доступ (</a:t>
            </a:r>
            <a:r>
              <a:rPr lang="ru-RU" dirty="0" err="1"/>
              <a:t>Ethernet</a:t>
            </a:r>
            <a:r>
              <a:rPr lang="ru-RU" dirty="0"/>
              <a:t>)</a:t>
            </a:r>
          </a:p>
          <a:p>
            <a:r>
              <a:rPr lang="ru-RU" dirty="0"/>
              <a:t>Детерминированный доступ (</a:t>
            </a:r>
            <a:r>
              <a:rPr lang="ru-RU" dirty="0" err="1"/>
              <a:t>Token</a:t>
            </a:r>
            <a:r>
              <a:rPr lang="ru-RU" dirty="0"/>
              <a:t> </a:t>
            </a:r>
            <a:r>
              <a:rPr lang="ru-RU" dirty="0" err="1"/>
              <a:t>Ring</a:t>
            </a:r>
            <a:r>
              <a:rPr lang="ru-RU" dirty="0"/>
              <a:t>, FDDI)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15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96997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МАС-адрес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Физический адрес сетевого адаптера - 6 байт </a:t>
            </a:r>
          </a:p>
          <a:p>
            <a:r>
              <a:rPr lang="ru-RU" dirty="0"/>
              <a:t>Старшие 3 байта  -  ID производителя </a:t>
            </a:r>
          </a:p>
          <a:p>
            <a:r>
              <a:rPr lang="ru-RU" dirty="0"/>
              <a:t>Адрес</a:t>
            </a:r>
            <a:r>
              <a:rPr lang="ru-RU" dirty="0" smtClean="0"/>
              <a:t>:</a:t>
            </a:r>
          </a:p>
          <a:p>
            <a:pPr lvl="1"/>
            <a:r>
              <a:rPr lang="ru-RU" dirty="0" smtClean="0"/>
              <a:t>индивидуальный </a:t>
            </a:r>
            <a:r>
              <a:rPr lang="ru-RU" dirty="0"/>
              <a:t>(старший бит старшего байта = 0</a:t>
            </a:r>
            <a:r>
              <a:rPr lang="ru-RU" dirty="0" smtClean="0"/>
              <a:t>)</a:t>
            </a:r>
          </a:p>
          <a:p>
            <a:pPr lvl="1"/>
            <a:r>
              <a:rPr lang="ru-RU" dirty="0" smtClean="0"/>
              <a:t>групповой </a:t>
            </a:r>
            <a:r>
              <a:rPr lang="ru-RU" dirty="0"/>
              <a:t>(старший бит старшего байта = 1</a:t>
            </a:r>
            <a:r>
              <a:rPr lang="ru-RU" dirty="0" smtClean="0"/>
              <a:t>)</a:t>
            </a:r>
          </a:p>
          <a:p>
            <a:pPr lvl="1"/>
            <a:r>
              <a:rPr lang="ru-RU" dirty="0" smtClean="0"/>
              <a:t>широковещательный </a:t>
            </a:r>
            <a:r>
              <a:rPr lang="ru-RU" dirty="0"/>
              <a:t>– 0хffffffffffff – все единицы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16</a:t>
            </a:fld>
            <a:endParaRPr lang="ru-RU" dirty="0"/>
          </a:p>
        </p:txBody>
      </p:sp>
      <p:pic>
        <p:nvPicPr>
          <p:cNvPr id="5" name="Picture 3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3269" y="4995447"/>
            <a:ext cx="525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" name="Picture 4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2810" y="3863051"/>
            <a:ext cx="5608981" cy="992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19871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Технология </a:t>
            </a:r>
            <a:r>
              <a:rPr lang="en-US" dirty="0"/>
              <a:t>Ethernet (802.3</a:t>
            </a:r>
            <a:r>
              <a:rPr lang="en-US" dirty="0" smtClean="0"/>
              <a:t>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Ethernet </a:t>
            </a:r>
            <a:r>
              <a:rPr lang="en-US" dirty="0" smtClean="0"/>
              <a:t>DIX</a:t>
            </a:r>
            <a:r>
              <a:rPr lang="ru-RU" dirty="0" smtClean="0"/>
              <a:t> </a:t>
            </a:r>
            <a:r>
              <a:rPr lang="ru-RU" dirty="0" smtClean="0">
                <a:latin typeface="Times New Roman"/>
                <a:cs typeface="Times New Roman"/>
              </a:rPr>
              <a:t>→ </a:t>
            </a:r>
            <a:r>
              <a:rPr lang="en-US" dirty="0" smtClean="0"/>
              <a:t>802.3:</a:t>
            </a:r>
            <a:endParaRPr lang="ru-RU" dirty="0" smtClean="0"/>
          </a:p>
          <a:p>
            <a:pPr lvl="1"/>
            <a:r>
              <a:rPr lang="en-US" dirty="0" smtClean="0"/>
              <a:t>10Base-2</a:t>
            </a:r>
            <a:endParaRPr lang="ru-RU" dirty="0" smtClean="0"/>
          </a:p>
          <a:p>
            <a:pPr lvl="1"/>
            <a:r>
              <a:rPr lang="en-US" dirty="0" smtClean="0"/>
              <a:t>10Base-5</a:t>
            </a:r>
            <a:endParaRPr lang="ru-RU" dirty="0" smtClean="0"/>
          </a:p>
          <a:p>
            <a:pPr lvl="1"/>
            <a:r>
              <a:rPr lang="en-US" dirty="0" smtClean="0"/>
              <a:t>10Base-T</a:t>
            </a:r>
            <a:endParaRPr lang="ru-RU" dirty="0" smtClean="0"/>
          </a:p>
          <a:p>
            <a:pPr lvl="1"/>
            <a:r>
              <a:rPr lang="en-US" dirty="0" smtClean="0"/>
              <a:t>10Base-FL</a:t>
            </a:r>
            <a:endParaRPr lang="ru-RU" dirty="0" smtClean="0"/>
          </a:p>
          <a:p>
            <a:pPr lvl="1"/>
            <a:r>
              <a:rPr lang="en-US" dirty="0" smtClean="0"/>
              <a:t>10Base-FB</a:t>
            </a:r>
            <a:endParaRPr lang="en-US" dirty="0"/>
          </a:p>
          <a:p>
            <a:r>
              <a:rPr lang="en-US" dirty="0"/>
              <a:t>Fast </a:t>
            </a:r>
            <a:r>
              <a:rPr lang="en-US" dirty="0" smtClean="0"/>
              <a:t>Ethernet</a:t>
            </a:r>
            <a:r>
              <a:rPr lang="ru-RU" dirty="0"/>
              <a:t> </a:t>
            </a:r>
            <a:r>
              <a:rPr lang="ru-RU" dirty="0">
                <a:latin typeface="Times New Roman"/>
                <a:cs typeface="Times New Roman"/>
              </a:rPr>
              <a:t>→ </a:t>
            </a:r>
            <a:r>
              <a:rPr lang="en-US" dirty="0" smtClean="0"/>
              <a:t>802.3u</a:t>
            </a:r>
            <a:endParaRPr lang="en-US" dirty="0"/>
          </a:p>
          <a:p>
            <a:r>
              <a:rPr lang="en-US" dirty="0"/>
              <a:t>Gigabit </a:t>
            </a:r>
            <a:r>
              <a:rPr lang="en-US" dirty="0" smtClean="0"/>
              <a:t>Ethernet</a:t>
            </a:r>
            <a:r>
              <a:rPr lang="ru-RU" dirty="0"/>
              <a:t> </a:t>
            </a:r>
            <a:r>
              <a:rPr lang="ru-RU" dirty="0">
                <a:latin typeface="Times New Roman"/>
                <a:cs typeface="Times New Roman"/>
              </a:rPr>
              <a:t>→ </a:t>
            </a:r>
            <a:r>
              <a:rPr lang="en-US" dirty="0" smtClean="0"/>
              <a:t>802.3z</a:t>
            </a:r>
            <a:endParaRPr lang="en-US" dirty="0"/>
          </a:p>
          <a:p>
            <a:r>
              <a:rPr lang="en-US" dirty="0"/>
              <a:t>10Mbit Ethernet – </a:t>
            </a:r>
            <a:r>
              <a:rPr lang="ru-RU" dirty="0"/>
              <a:t>Манчестерский код</a:t>
            </a:r>
          </a:p>
          <a:p>
            <a:r>
              <a:rPr lang="en-US" dirty="0"/>
              <a:t>Ethernet – CSMA/CD </a:t>
            </a:r>
            <a:endParaRPr lang="ru-RU" dirty="0" smtClean="0"/>
          </a:p>
          <a:p>
            <a:r>
              <a:rPr lang="en-US" altLang="ru-RU" dirty="0">
                <a:solidFill>
                  <a:srgbClr val="000000"/>
                </a:solidFill>
              </a:rPr>
              <a:t>Frame formats. </a:t>
            </a:r>
            <a:r>
              <a:rPr lang="en-US" altLang="ru-RU" dirty="0">
                <a:solidFill>
                  <a:srgbClr val="276D3F"/>
                </a:solidFill>
              </a:rPr>
              <a:t>(a)</a:t>
            </a:r>
            <a:r>
              <a:rPr lang="en-US" altLang="ru-RU" dirty="0">
                <a:solidFill>
                  <a:srgbClr val="000000"/>
                </a:solidFill>
              </a:rPr>
              <a:t> DIX Ethernet,  </a:t>
            </a:r>
            <a:r>
              <a:rPr lang="en-US" altLang="ru-RU" dirty="0">
                <a:solidFill>
                  <a:srgbClr val="276D3F"/>
                </a:solidFill>
              </a:rPr>
              <a:t>(b)</a:t>
            </a:r>
            <a:r>
              <a:rPr lang="en-US" altLang="ru-RU" dirty="0">
                <a:solidFill>
                  <a:srgbClr val="000000"/>
                </a:solidFill>
              </a:rPr>
              <a:t> IEEE 802.3</a:t>
            </a:r>
            <a:r>
              <a:rPr lang="en-US" altLang="ru-RU" sz="3200" dirty="0">
                <a:solidFill>
                  <a:srgbClr val="000000"/>
                </a:solidFill>
              </a:rPr>
              <a:t>.</a:t>
            </a:r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/>
          </a:p>
          <a:p>
            <a:pPr marL="0" indent="0">
              <a:buNone/>
            </a:pPr>
            <a:r>
              <a:rPr lang="ru-RU" dirty="0" smtClean="0"/>
              <a:t> </a:t>
            </a:r>
            <a:endParaRPr lang="en-US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17</a:t>
            </a:fld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226" y="4857575"/>
            <a:ext cx="8692587" cy="196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4585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Форматы кадров </a:t>
            </a:r>
            <a:r>
              <a:rPr lang="en-US" dirty="0" smtClean="0"/>
              <a:t>Ethernet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4915" y="1448517"/>
            <a:ext cx="6262647" cy="5103812"/>
          </a:xfr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18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44238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Алгоритм определения типа кадра </a:t>
            </a:r>
            <a:r>
              <a:rPr lang="ru-RU" dirty="0" err="1" smtClean="0"/>
              <a:t>Ethernet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7226" y="1056158"/>
            <a:ext cx="8289925" cy="4937772"/>
          </a:xfr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19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39442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CSMA/CD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 err="1"/>
              <a:t>Carrier-Sense-Multiple-Access</a:t>
            </a:r>
            <a:r>
              <a:rPr lang="ru-RU" dirty="0"/>
              <a:t> / </a:t>
            </a:r>
            <a:r>
              <a:rPr lang="ru-RU" dirty="0" err="1"/>
              <a:t>Collision</a:t>
            </a:r>
            <a:r>
              <a:rPr lang="ru-RU" dirty="0"/>
              <a:t> </a:t>
            </a:r>
            <a:r>
              <a:rPr lang="ru-RU" dirty="0" err="1"/>
              <a:t>Detection</a:t>
            </a:r>
            <a:endParaRPr lang="ru-RU" dirty="0"/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(Коллективный доступ к прослушиванию несущей с выявлением коллизий)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dirty="0"/>
              <a:t>Логическая общая шина (коллективный доступ)</a:t>
            </a:r>
          </a:p>
          <a:p>
            <a:pPr marL="514350" indent="-514350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ru-RU" dirty="0" smtClean="0"/>
              <a:t>Прослушивание </a:t>
            </a:r>
            <a:r>
              <a:rPr lang="ru-RU" dirty="0"/>
              <a:t>‘несущей’ (5-10МГц - </a:t>
            </a:r>
            <a:r>
              <a:rPr lang="ru-RU" dirty="0" err="1"/>
              <a:t>Ethernet</a:t>
            </a:r>
            <a:r>
              <a:rPr lang="ru-RU" dirty="0"/>
              <a:t>)</a:t>
            </a:r>
          </a:p>
          <a:p>
            <a:pPr marL="514350" indent="-514350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ru-RU" dirty="0" smtClean="0"/>
              <a:t>“</a:t>
            </a:r>
            <a:r>
              <a:rPr lang="ru-RU" dirty="0"/>
              <a:t>Несущая” присутствует – ожидание</a:t>
            </a:r>
          </a:p>
          <a:p>
            <a:pPr marL="514350" indent="-514350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ru-RU" dirty="0" smtClean="0"/>
              <a:t>“</a:t>
            </a:r>
            <a:r>
              <a:rPr lang="ru-RU" dirty="0"/>
              <a:t>Несущая” отсутствует – разрешена передача </a:t>
            </a:r>
          </a:p>
          <a:p>
            <a:pPr marL="514350" indent="-514350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ru-RU" dirty="0" smtClean="0"/>
              <a:t>Во </a:t>
            </a:r>
            <a:r>
              <a:rPr lang="ru-RU" dirty="0"/>
              <a:t>время передачи передатчик “слушает” сигнал в линии</a:t>
            </a:r>
          </a:p>
          <a:p>
            <a:pPr marL="514350" indent="-514350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ru-RU" dirty="0" smtClean="0"/>
              <a:t>После </a:t>
            </a:r>
            <a:r>
              <a:rPr lang="ru-RU" dirty="0"/>
              <a:t>окончания кадра – 9.6 </a:t>
            </a:r>
            <a:r>
              <a:rPr lang="ru-RU" dirty="0" err="1"/>
              <a:t>мкс</a:t>
            </a:r>
            <a:r>
              <a:rPr lang="ru-RU" dirty="0"/>
              <a:t>  </a:t>
            </a:r>
            <a:r>
              <a:rPr lang="ru-RU" dirty="0" err="1"/>
              <a:t>Inter</a:t>
            </a:r>
            <a:r>
              <a:rPr lang="ru-RU" dirty="0"/>
              <a:t> </a:t>
            </a:r>
            <a:r>
              <a:rPr lang="ru-RU" dirty="0" err="1"/>
              <a:t>Packet</a:t>
            </a:r>
            <a:r>
              <a:rPr lang="ru-RU" dirty="0"/>
              <a:t> </a:t>
            </a:r>
            <a:r>
              <a:rPr lang="ru-RU" dirty="0" err="1"/>
              <a:t>Gap</a:t>
            </a:r>
            <a:r>
              <a:rPr lang="ru-RU" dirty="0"/>
              <a:t> (Для 10 Мбит/c)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Возможна коллизия – одновременная передача 2х узлов. Каждый передатчик “слышит”, что сигнал в линии отличается от передаваемого  им </a:t>
            </a:r>
            <a:r>
              <a:rPr lang="ru-RU" dirty="0" smtClean="0"/>
              <a:t>сигнала</a:t>
            </a:r>
            <a:endParaRPr lang="ru-RU" dirty="0"/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Коллизия – останов передачи – </a:t>
            </a:r>
            <a:r>
              <a:rPr lang="ru-RU" dirty="0" err="1"/>
              <a:t>jam</a:t>
            </a:r>
            <a:r>
              <a:rPr lang="ru-RU" dirty="0"/>
              <a:t>-последовательность 32бит – пауза=L*(интервал отсрочки </a:t>
            </a:r>
            <a:r>
              <a:rPr lang="ru-RU" dirty="0" smtClean="0"/>
              <a:t>– 512</a:t>
            </a:r>
            <a:r>
              <a:rPr lang="en-US" dirty="0" smtClean="0"/>
              <a:t> </a:t>
            </a:r>
            <a:r>
              <a:rPr lang="ru-RU" dirty="0" smtClean="0"/>
              <a:t>бит</a:t>
            </a:r>
            <a:r>
              <a:rPr lang="ru-RU" dirty="0"/>
              <a:t>), L= сл. число (0-2N)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После паузы – повторный захват среды и передача кадра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20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49285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CSMA/CD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7226" y="1837715"/>
            <a:ext cx="8289925" cy="3374659"/>
          </a:xfr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21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80425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Detection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Для выявления коллизии время передачи кадра </a:t>
            </a:r>
            <a:r>
              <a:rPr lang="ru-RU" dirty="0" err="1"/>
              <a:t>Tmin</a:t>
            </a:r>
            <a:r>
              <a:rPr lang="ru-RU" dirty="0"/>
              <a:t>  должно быть не меньше RTT </a:t>
            </a:r>
          </a:p>
          <a:p>
            <a:r>
              <a:rPr lang="ru-RU" dirty="0" err="1"/>
              <a:t>Tmin</a:t>
            </a:r>
            <a:r>
              <a:rPr lang="ru-RU" dirty="0"/>
              <a:t> ≥ PDV (</a:t>
            </a:r>
            <a:r>
              <a:rPr lang="ru-RU" dirty="0" err="1"/>
              <a:t>Path</a:t>
            </a:r>
            <a:r>
              <a:rPr lang="ru-RU" dirty="0"/>
              <a:t> </a:t>
            </a:r>
            <a:r>
              <a:rPr lang="ru-RU" dirty="0" err="1"/>
              <a:t>Delay</a:t>
            </a:r>
            <a:r>
              <a:rPr lang="ru-RU" dirty="0"/>
              <a:t> </a:t>
            </a:r>
            <a:r>
              <a:rPr lang="ru-RU" dirty="0" err="1"/>
              <a:t>Value</a:t>
            </a:r>
            <a:r>
              <a:rPr lang="ru-RU" dirty="0"/>
              <a:t>) т.е. RTT</a:t>
            </a:r>
          </a:p>
          <a:p>
            <a:endParaRPr lang="ru-RU" dirty="0"/>
          </a:p>
          <a:p>
            <a:r>
              <a:rPr lang="ru-RU" dirty="0" err="1"/>
              <a:t>Tmin</a:t>
            </a:r>
            <a:r>
              <a:rPr lang="ru-RU" dirty="0"/>
              <a:t> = f(длина кадра, скорость передачи)</a:t>
            </a:r>
          </a:p>
          <a:p>
            <a:r>
              <a:rPr lang="ru-RU" dirty="0"/>
              <a:t>PDV= f(длина сегмента, скорость распространения)</a:t>
            </a:r>
          </a:p>
          <a:p>
            <a:endParaRPr lang="ru-RU" dirty="0"/>
          </a:p>
          <a:p>
            <a:r>
              <a:rPr lang="ru-RU" dirty="0" err="1"/>
              <a:t>Ethernet</a:t>
            </a:r>
            <a:r>
              <a:rPr lang="ru-RU" dirty="0"/>
              <a:t>: длина кадра – 46B+18B+8 =72B</a:t>
            </a:r>
          </a:p>
          <a:p>
            <a:r>
              <a:rPr lang="ru-RU" dirty="0" err="1"/>
              <a:t>Coax</a:t>
            </a:r>
            <a:r>
              <a:rPr lang="ru-RU" dirty="0"/>
              <a:t> – коллизионный домен - 2500м</a:t>
            </a:r>
          </a:p>
          <a:p>
            <a:r>
              <a:rPr lang="ru-RU" dirty="0" err="1"/>
              <a:t>Fast</a:t>
            </a:r>
            <a:r>
              <a:rPr lang="ru-RU" dirty="0"/>
              <a:t> </a:t>
            </a:r>
            <a:r>
              <a:rPr lang="ru-RU" dirty="0" err="1"/>
              <a:t>Ethernet</a:t>
            </a:r>
            <a:r>
              <a:rPr lang="ru-RU" dirty="0"/>
              <a:t> – 210м</a:t>
            </a:r>
          </a:p>
          <a:p>
            <a:r>
              <a:rPr lang="ru-RU" dirty="0" err="1"/>
              <a:t>Gigabit</a:t>
            </a:r>
            <a:r>
              <a:rPr lang="ru-RU" dirty="0"/>
              <a:t> </a:t>
            </a:r>
            <a:r>
              <a:rPr lang="ru-RU" dirty="0" err="1"/>
              <a:t>Ethernet</a:t>
            </a:r>
            <a:r>
              <a:rPr lang="ru-RU" dirty="0"/>
              <a:t> – 25м ?  - увеличение мин. длины</a:t>
            </a:r>
          </a:p>
          <a:p>
            <a:endParaRPr lang="ru-RU" dirty="0"/>
          </a:p>
          <a:p>
            <a:r>
              <a:rPr lang="ru-RU" dirty="0"/>
              <a:t>Домен коллизий – часть сети, все узлы которой конкурируют за доступ к среде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22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509869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Производительность </a:t>
            </a:r>
            <a:r>
              <a:rPr lang="en-US" dirty="0" smtClean="0"/>
              <a:t>Ethernet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В чем измерять? </a:t>
            </a:r>
            <a:r>
              <a:rPr lang="en-US" dirty="0" smtClean="0"/>
              <a:t>(</a:t>
            </a:r>
            <a:r>
              <a:rPr lang="ru-RU" dirty="0" smtClean="0"/>
              <a:t>Кадры/сек ? Бит/сек </a:t>
            </a:r>
            <a:r>
              <a:rPr lang="ru-RU" dirty="0"/>
              <a:t>? </a:t>
            </a:r>
            <a:r>
              <a:rPr lang="ru-RU" dirty="0" smtClean="0"/>
              <a:t>Какие </a:t>
            </a:r>
            <a:r>
              <a:rPr lang="ru-RU" dirty="0"/>
              <a:t>биты учитывать</a:t>
            </a:r>
            <a:r>
              <a:rPr lang="ru-RU" dirty="0" smtClean="0"/>
              <a:t>?</a:t>
            </a:r>
            <a:r>
              <a:rPr lang="en-US" dirty="0"/>
              <a:t>)</a:t>
            </a:r>
            <a:endParaRPr lang="ru-RU" dirty="0"/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Кадры минимальной длины</a:t>
            </a:r>
          </a:p>
          <a:p>
            <a:r>
              <a:rPr lang="ru-RU" dirty="0" err="1"/>
              <a:t>Lмин</a:t>
            </a:r>
            <a:r>
              <a:rPr lang="ru-RU" dirty="0"/>
              <a:t> = 72B = 576 бит      </a:t>
            </a:r>
            <a:r>
              <a:rPr lang="ru-RU" dirty="0" err="1"/>
              <a:t>tмин</a:t>
            </a:r>
            <a:r>
              <a:rPr lang="ru-RU" dirty="0"/>
              <a:t> = 57,6 </a:t>
            </a:r>
            <a:r>
              <a:rPr lang="ru-RU" dirty="0" err="1"/>
              <a:t>мкс</a:t>
            </a:r>
            <a:r>
              <a:rPr lang="ru-RU" dirty="0"/>
              <a:t>      (для 10 </a:t>
            </a:r>
            <a:r>
              <a:rPr lang="ru-RU" dirty="0" err="1"/>
              <a:t>мбит</a:t>
            </a:r>
            <a:r>
              <a:rPr lang="ru-RU" dirty="0"/>
              <a:t>/c)</a:t>
            </a:r>
          </a:p>
          <a:p>
            <a:r>
              <a:rPr lang="ru-RU" dirty="0"/>
              <a:t>IPG = 9,6 </a:t>
            </a:r>
            <a:r>
              <a:rPr lang="ru-RU" dirty="0" err="1"/>
              <a:t>мкс</a:t>
            </a:r>
            <a:r>
              <a:rPr lang="ru-RU" dirty="0"/>
              <a:t> </a:t>
            </a:r>
          </a:p>
          <a:p>
            <a:r>
              <a:rPr lang="ru-RU" dirty="0"/>
              <a:t>Тмин = 67,2 </a:t>
            </a:r>
            <a:r>
              <a:rPr lang="ru-RU" dirty="0" err="1"/>
              <a:t>мкс</a:t>
            </a:r>
            <a:r>
              <a:rPr lang="ru-RU" dirty="0"/>
              <a:t>    		N мин = 14880 кадр/сек</a:t>
            </a:r>
          </a:p>
          <a:p>
            <a:r>
              <a:rPr lang="ru-RU" dirty="0"/>
              <a:t>С мин = 14880 x 46 x 8 = </a:t>
            </a:r>
            <a:r>
              <a:rPr lang="ru-RU" b="1" dirty="0">
                <a:solidFill>
                  <a:srgbClr val="276D3F"/>
                </a:solidFill>
              </a:rPr>
              <a:t>5,48 Мбит/c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Кадры  максимальной длины</a:t>
            </a:r>
          </a:p>
          <a:p>
            <a:r>
              <a:rPr lang="ru-RU" dirty="0" err="1"/>
              <a:t>Lмакс</a:t>
            </a:r>
            <a:r>
              <a:rPr lang="ru-RU" dirty="0"/>
              <a:t> = 1526 х 8 = 12208 бит   </a:t>
            </a:r>
            <a:r>
              <a:rPr lang="ru-RU" dirty="0" err="1"/>
              <a:t>tмакс</a:t>
            </a:r>
            <a:r>
              <a:rPr lang="ru-RU" dirty="0"/>
              <a:t> = 1220,8 </a:t>
            </a:r>
            <a:r>
              <a:rPr lang="ru-RU" dirty="0" err="1"/>
              <a:t>мкс</a:t>
            </a:r>
            <a:r>
              <a:rPr lang="ru-RU" dirty="0"/>
              <a:t> </a:t>
            </a:r>
          </a:p>
          <a:p>
            <a:r>
              <a:rPr lang="ru-RU" dirty="0" err="1"/>
              <a:t>Tмакс</a:t>
            </a:r>
            <a:r>
              <a:rPr lang="ru-RU" dirty="0"/>
              <a:t> = 1,23 </a:t>
            </a:r>
            <a:r>
              <a:rPr lang="ru-RU" dirty="0" err="1"/>
              <a:t>мс</a:t>
            </a:r>
            <a:r>
              <a:rPr lang="ru-RU" dirty="0"/>
              <a:t>  		N макс = 813 кадр/сек  </a:t>
            </a:r>
          </a:p>
          <a:p>
            <a:r>
              <a:rPr lang="ru-RU" dirty="0"/>
              <a:t>C макс = 813 x 1500 x 8 = </a:t>
            </a:r>
            <a:r>
              <a:rPr lang="ru-RU" b="1" dirty="0">
                <a:solidFill>
                  <a:srgbClr val="276D3F"/>
                </a:solidFill>
              </a:rPr>
              <a:t>9,76 Мбит/c</a:t>
            </a:r>
          </a:p>
          <a:p>
            <a:endParaRPr lang="ru-RU" dirty="0"/>
          </a:p>
          <a:p>
            <a:r>
              <a:rPr lang="ru-RU" dirty="0" smtClean="0"/>
              <a:t>Данные приведены </a:t>
            </a:r>
            <a:r>
              <a:rPr lang="ru-RU" b="1" dirty="0" smtClean="0">
                <a:solidFill>
                  <a:srgbClr val="276D3F"/>
                </a:solidFill>
              </a:rPr>
              <a:t>при</a:t>
            </a:r>
            <a:r>
              <a:rPr lang="en-US" b="1" dirty="0" smtClean="0">
                <a:solidFill>
                  <a:srgbClr val="276D3F"/>
                </a:solidFill>
              </a:rPr>
              <a:t> </a:t>
            </a:r>
            <a:r>
              <a:rPr lang="ru-RU" b="1" dirty="0" smtClean="0">
                <a:solidFill>
                  <a:srgbClr val="276D3F"/>
                </a:solidFill>
              </a:rPr>
              <a:t>отсутствии </a:t>
            </a:r>
            <a:r>
              <a:rPr lang="ru-RU" b="1" dirty="0">
                <a:solidFill>
                  <a:srgbClr val="276D3F"/>
                </a:solidFill>
              </a:rPr>
              <a:t>коллизий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23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05021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Fast Ethernet (100 </a:t>
            </a:r>
            <a:r>
              <a:rPr lang="ru-RU" dirty="0"/>
              <a:t>Мб/</a:t>
            </a:r>
            <a:r>
              <a:rPr lang="en-US" dirty="0"/>
              <a:t>c </a:t>
            </a:r>
            <a:r>
              <a:rPr lang="en-US" dirty="0" smtClean="0"/>
              <a:t>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Все отличия от </a:t>
            </a:r>
            <a:r>
              <a:rPr lang="en-US" dirty="0"/>
              <a:t>Ethernet - </a:t>
            </a:r>
            <a:r>
              <a:rPr lang="ru-RU" dirty="0"/>
              <a:t>на физическом уровне</a:t>
            </a:r>
          </a:p>
          <a:p>
            <a:r>
              <a:rPr lang="en-US" dirty="0"/>
              <a:t>MAC </a:t>
            </a:r>
            <a:r>
              <a:rPr lang="ru-RU" dirty="0"/>
              <a:t>и </a:t>
            </a:r>
            <a:r>
              <a:rPr lang="en-US" dirty="0"/>
              <a:t>LLC – </a:t>
            </a:r>
            <a:r>
              <a:rPr lang="ru-RU" dirty="0"/>
              <a:t>те же стандарты 802.3 и 802.2</a:t>
            </a:r>
          </a:p>
          <a:p>
            <a:r>
              <a:rPr lang="ru-RU" dirty="0"/>
              <a:t>3 типа кабелей  (3 спецификации)</a:t>
            </a:r>
          </a:p>
          <a:p>
            <a:pPr lvl="1"/>
            <a:r>
              <a:rPr lang="ru-RU" dirty="0"/>
              <a:t>100</a:t>
            </a:r>
            <a:r>
              <a:rPr lang="en-US" dirty="0"/>
              <a:t>Base-TX – 2 </a:t>
            </a:r>
            <a:r>
              <a:rPr lang="ru-RU" dirty="0"/>
              <a:t>пары </a:t>
            </a:r>
            <a:r>
              <a:rPr lang="en-US" dirty="0"/>
              <a:t>UTPcat5 </a:t>
            </a:r>
            <a:r>
              <a:rPr lang="ru-RU" dirty="0"/>
              <a:t>или </a:t>
            </a:r>
            <a:r>
              <a:rPr lang="en-US" dirty="0"/>
              <a:t>STP</a:t>
            </a:r>
            <a:r>
              <a:rPr lang="ru-RU" dirty="0"/>
              <a:t>т</a:t>
            </a:r>
            <a:r>
              <a:rPr lang="en-US" dirty="0"/>
              <a:t>ype1 </a:t>
            </a:r>
          </a:p>
          <a:p>
            <a:pPr lvl="1"/>
            <a:r>
              <a:rPr lang="en-US" dirty="0"/>
              <a:t>100Base-T4 – 4 </a:t>
            </a:r>
            <a:r>
              <a:rPr lang="ru-RU" dirty="0"/>
              <a:t>пары </a:t>
            </a:r>
            <a:r>
              <a:rPr lang="en-US" dirty="0"/>
              <a:t>UTPcat3, 4 </a:t>
            </a:r>
            <a:r>
              <a:rPr lang="ru-RU" dirty="0"/>
              <a:t>или 5 </a:t>
            </a:r>
          </a:p>
          <a:p>
            <a:pPr lvl="1"/>
            <a:r>
              <a:rPr lang="ru-RU" dirty="0"/>
              <a:t>100</a:t>
            </a:r>
            <a:r>
              <a:rPr lang="en-US" dirty="0"/>
              <a:t>Base-FX - 2 </a:t>
            </a:r>
            <a:r>
              <a:rPr lang="ru-RU" dirty="0"/>
              <a:t>волокна ВОК  </a:t>
            </a:r>
            <a:r>
              <a:rPr lang="en-US" dirty="0"/>
              <a:t>MM</a:t>
            </a:r>
          </a:p>
          <a:p>
            <a:r>
              <a:rPr lang="ru-RU" dirty="0"/>
              <a:t>Формат кадра тот же</a:t>
            </a:r>
          </a:p>
          <a:p>
            <a:r>
              <a:rPr lang="en-US" dirty="0"/>
              <a:t>IPG=0,96 </a:t>
            </a:r>
            <a:r>
              <a:rPr lang="ru-RU" dirty="0" err="1"/>
              <a:t>мкс</a:t>
            </a:r>
            <a:r>
              <a:rPr lang="ru-RU" dirty="0"/>
              <a:t>  Бит-интервал – 10 </a:t>
            </a:r>
            <a:r>
              <a:rPr lang="ru-RU" dirty="0" err="1"/>
              <a:t>нс</a:t>
            </a:r>
            <a:endParaRPr lang="ru-RU" dirty="0"/>
          </a:p>
          <a:p>
            <a:r>
              <a:rPr lang="ru-RU" dirty="0"/>
              <a:t>Признак свободной среды – спецсимвол </a:t>
            </a:r>
            <a:r>
              <a:rPr lang="en-US" dirty="0"/>
              <a:t>Idle</a:t>
            </a:r>
          </a:p>
          <a:p>
            <a:r>
              <a:rPr lang="ru-RU" dirty="0"/>
              <a:t>Диаметр сети ~ 200 м, </a:t>
            </a:r>
            <a:r>
              <a:rPr lang="en-US" dirty="0"/>
              <a:t>Full-duplex – </a:t>
            </a:r>
            <a:r>
              <a:rPr lang="ru-RU" dirty="0"/>
              <a:t>нет ограничений</a:t>
            </a:r>
          </a:p>
          <a:p>
            <a:r>
              <a:rPr lang="ru-RU" dirty="0"/>
              <a:t>Все карты – 1000/100/10 </a:t>
            </a:r>
            <a:r>
              <a:rPr lang="ru-RU" dirty="0" smtClean="0"/>
              <a:t>Мбит/</a:t>
            </a:r>
            <a:r>
              <a:rPr lang="en-US" dirty="0"/>
              <a:t>c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24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259097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Автосогласование</a:t>
            </a:r>
            <a:r>
              <a:rPr lang="ru-RU" dirty="0"/>
              <a:t> (</a:t>
            </a:r>
            <a:r>
              <a:rPr lang="en-US" dirty="0"/>
              <a:t>Auto-negotiation)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Все карты – </a:t>
            </a:r>
            <a:r>
              <a:rPr lang="ru-RU" dirty="0" smtClean="0"/>
              <a:t>100/10 </a:t>
            </a:r>
            <a:r>
              <a:rPr lang="ru-RU" dirty="0"/>
              <a:t>Мбит/</a:t>
            </a:r>
            <a:r>
              <a:rPr lang="en-US" dirty="0"/>
              <a:t>c:  5 </a:t>
            </a:r>
            <a:r>
              <a:rPr lang="ru-RU" dirty="0"/>
              <a:t>режимов работы</a:t>
            </a:r>
          </a:p>
          <a:p>
            <a:endParaRPr lang="ru-RU" dirty="0"/>
          </a:p>
          <a:p>
            <a:r>
              <a:rPr lang="ru-RU" dirty="0"/>
              <a:t>по приоритету:</a:t>
            </a:r>
          </a:p>
          <a:p>
            <a:pPr lvl="1"/>
            <a:r>
              <a:rPr lang="ru-RU" dirty="0"/>
              <a:t>10</a:t>
            </a:r>
            <a:r>
              <a:rPr lang="en-US" dirty="0"/>
              <a:t>Base-T – 2 </a:t>
            </a:r>
            <a:r>
              <a:rPr lang="ru-RU" dirty="0"/>
              <a:t>пары </a:t>
            </a:r>
            <a:r>
              <a:rPr lang="en-US" dirty="0"/>
              <a:t>UTPcat3 </a:t>
            </a:r>
          </a:p>
          <a:p>
            <a:pPr lvl="1"/>
            <a:r>
              <a:rPr lang="en-US" dirty="0"/>
              <a:t>10Base-T – 2 </a:t>
            </a:r>
            <a:r>
              <a:rPr lang="ru-RU" dirty="0"/>
              <a:t>пары </a:t>
            </a:r>
            <a:r>
              <a:rPr lang="en-US" dirty="0"/>
              <a:t>UTPcat3 full-duplex</a:t>
            </a:r>
          </a:p>
          <a:p>
            <a:pPr lvl="1"/>
            <a:r>
              <a:rPr lang="en-US" dirty="0"/>
              <a:t>100Base-TX – 2 </a:t>
            </a:r>
            <a:r>
              <a:rPr lang="ru-RU" dirty="0"/>
              <a:t>пары </a:t>
            </a:r>
            <a:r>
              <a:rPr lang="en-US" dirty="0"/>
              <a:t>UTPcat5 (</a:t>
            </a:r>
            <a:r>
              <a:rPr lang="ru-RU" dirty="0"/>
              <a:t>или </a:t>
            </a:r>
            <a:r>
              <a:rPr lang="en-US" dirty="0"/>
              <a:t>STP</a:t>
            </a:r>
            <a:r>
              <a:rPr lang="ru-RU" dirty="0"/>
              <a:t>т</a:t>
            </a:r>
            <a:r>
              <a:rPr lang="en-US" dirty="0"/>
              <a:t>ype1)</a:t>
            </a:r>
          </a:p>
          <a:p>
            <a:pPr lvl="1"/>
            <a:r>
              <a:rPr lang="en-US" dirty="0"/>
              <a:t>100Base-T4 – 4 </a:t>
            </a:r>
            <a:r>
              <a:rPr lang="ru-RU" dirty="0"/>
              <a:t>пары </a:t>
            </a:r>
            <a:r>
              <a:rPr lang="en-US" dirty="0"/>
              <a:t>UTPcat3</a:t>
            </a:r>
          </a:p>
          <a:p>
            <a:pPr lvl="1"/>
            <a:r>
              <a:rPr lang="en-US" dirty="0"/>
              <a:t>100Base-TX full-duplex 2 </a:t>
            </a:r>
            <a:r>
              <a:rPr lang="ru-RU" dirty="0"/>
              <a:t>пары </a:t>
            </a:r>
            <a:r>
              <a:rPr lang="en-US" dirty="0"/>
              <a:t>UTPcat5 </a:t>
            </a:r>
          </a:p>
          <a:p>
            <a:endParaRPr lang="en-US" dirty="0"/>
          </a:p>
          <a:p>
            <a:r>
              <a:rPr lang="ru-RU" dirty="0"/>
              <a:t>Устройство А – </a:t>
            </a:r>
            <a:r>
              <a:rPr lang="en-US" dirty="0"/>
              <a:t>Fast Link Pulse (FLP) – </a:t>
            </a:r>
            <a:r>
              <a:rPr lang="ru-RU" dirty="0"/>
              <a:t>код режима</a:t>
            </a:r>
          </a:p>
          <a:p>
            <a:r>
              <a:rPr lang="ru-RU" dirty="0"/>
              <a:t>Устройство В – </a:t>
            </a:r>
            <a:r>
              <a:rPr lang="en-US" dirty="0"/>
              <a:t>FLP (</a:t>
            </a:r>
            <a:r>
              <a:rPr lang="ru-RU" dirty="0"/>
              <a:t>код поддерживаемого режима)</a:t>
            </a:r>
          </a:p>
          <a:p>
            <a:r>
              <a:rPr lang="ru-RU" dirty="0"/>
              <a:t>или импульсы кода М-</a:t>
            </a:r>
            <a:r>
              <a:rPr lang="en-US" dirty="0"/>
              <a:t>II  (</a:t>
            </a:r>
            <a:r>
              <a:rPr lang="ru-RU" dirty="0"/>
              <a:t>каждые 16 </a:t>
            </a:r>
            <a:r>
              <a:rPr lang="ru-RU" dirty="0" err="1"/>
              <a:t>мс</a:t>
            </a:r>
            <a:r>
              <a:rPr lang="ru-RU" dirty="0"/>
              <a:t>)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060750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Автосогласование</a:t>
            </a:r>
            <a:r>
              <a:rPr lang="ru-RU" dirty="0"/>
              <a:t> (</a:t>
            </a:r>
            <a:r>
              <a:rPr lang="en-US" dirty="0" smtClean="0"/>
              <a:t>Auto-negotiation</a:t>
            </a:r>
            <a:r>
              <a:rPr lang="ru-RU" dirty="0" smtClean="0"/>
              <a:t>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b="1" dirty="0">
                <a:solidFill>
                  <a:srgbClr val="276D3F"/>
                </a:solidFill>
              </a:rPr>
              <a:t>В редакции 2018 года список существенно </a:t>
            </a:r>
            <a:r>
              <a:rPr lang="ru-RU" b="1" dirty="0" smtClean="0">
                <a:solidFill>
                  <a:srgbClr val="276D3F"/>
                </a:solidFill>
              </a:rPr>
              <a:t>расширен:</a:t>
            </a:r>
          </a:p>
          <a:p>
            <a:r>
              <a:rPr lang="en-US" dirty="0" smtClean="0"/>
              <a:t>40GBASE-T </a:t>
            </a:r>
            <a:r>
              <a:rPr lang="ru-RU" dirty="0"/>
              <a:t>полный дуплекс</a:t>
            </a:r>
          </a:p>
          <a:p>
            <a:r>
              <a:rPr lang="ru-RU" dirty="0"/>
              <a:t>25</a:t>
            </a:r>
            <a:r>
              <a:rPr lang="en-US" dirty="0"/>
              <a:t>GBASE-T </a:t>
            </a:r>
            <a:r>
              <a:rPr lang="ru-RU" dirty="0"/>
              <a:t>полный дуплекс</a:t>
            </a:r>
          </a:p>
          <a:p>
            <a:r>
              <a:rPr lang="ru-RU" dirty="0"/>
              <a:t>10</a:t>
            </a:r>
            <a:r>
              <a:rPr lang="en-US" dirty="0"/>
              <a:t>GBASE-T </a:t>
            </a:r>
            <a:r>
              <a:rPr lang="ru-RU" dirty="0"/>
              <a:t>полный дуплекс</a:t>
            </a:r>
          </a:p>
          <a:p>
            <a:r>
              <a:rPr lang="ru-RU" dirty="0"/>
              <a:t>5</a:t>
            </a:r>
            <a:r>
              <a:rPr lang="en-US" dirty="0"/>
              <a:t>GBASE-T </a:t>
            </a:r>
            <a:r>
              <a:rPr lang="ru-RU" dirty="0"/>
              <a:t>полный дуплекс</a:t>
            </a:r>
          </a:p>
          <a:p>
            <a:r>
              <a:rPr lang="ru-RU" dirty="0"/>
              <a:t>2.5</a:t>
            </a:r>
            <a:r>
              <a:rPr lang="en-US" dirty="0"/>
              <a:t>GBASE-T </a:t>
            </a:r>
            <a:r>
              <a:rPr lang="ru-RU" dirty="0"/>
              <a:t>полный дуплекс</a:t>
            </a:r>
          </a:p>
          <a:p>
            <a:r>
              <a:rPr lang="ru-RU" dirty="0"/>
              <a:t>1000</a:t>
            </a:r>
            <a:r>
              <a:rPr lang="en-US" dirty="0"/>
              <a:t>BASE-T </a:t>
            </a:r>
            <a:r>
              <a:rPr lang="ru-RU" dirty="0"/>
              <a:t>полный дуплекс</a:t>
            </a:r>
          </a:p>
          <a:p>
            <a:r>
              <a:rPr lang="ru-RU" dirty="0"/>
              <a:t>1000</a:t>
            </a:r>
            <a:r>
              <a:rPr lang="en-US" dirty="0"/>
              <a:t>BASE-T </a:t>
            </a:r>
            <a:r>
              <a:rPr lang="ru-RU" dirty="0"/>
              <a:t>полудуплекс</a:t>
            </a:r>
          </a:p>
          <a:p>
            <a:r>
              <a:rPr lang="ru-RU" dirty="0"/>
              <a:t>100</a:t>
            </a:r>
            <a:r>
              <a:rPr lang="en-US" dirty="0"/>
              <a:t>BASE-T2 </a:t>
            </a:r>
            <a:r>
              <a:rPr lang="ru-RU" dirty="0"/>
              <a:t>полный дуплекс</a:t>
            </a:r>
          </a:p>
          <a:p>
            <a:r>
              <a:rPr lang="ru-RU" dirty="0"/>
              <a:t>100</a:t>
            </a:r>
            <a:r>
              <a:rPr lang="en-US" dirty="0"/>
              <a:t>BASE-TX </a:t>
            </a:r>
            <a:r>
              <a:rPr lang="ru-RU" dirty="0"/>
              <a:t>полный дуплекс</a:t>
            </a:r>
          </a:p>
          <a:p>
            <a:r>
              <a:rPr lang="ru-RU" dirty="0"/>
              <a:t>100</a:t>
            </a:r>
            <a:r>
              <a:rPr lang="en-US" dirty="0"/>
              <a:t>BASE-T2 </a:t>
            </a:r>
            <a:r>
              <a:rPr lang="ru-RU" dirty="0"/>
              <a:t>полудуплекс</a:t>
            </a:r>
          </a:p>
          <a:p>
            <a:r>
              <a:rPr lang="ru-RU" dirty="0"/>
              <a:t>100</a:t>
            </a:r>
            <a:r>
              <a:rPr lang="en-US" dirty="0"/>
              <a:t>BASE-T4 </a:t>
            </a:r>
            <a:r>
              <a:rPr lang="ru-RU" dirty="0"/>
              <a:t>полудуплекс</a:t>
            </a:r>
          </a:p>
          <a:p>
            <a:r>
              <a:rPr lang="ru-RU" dirty="0"/>
              <a:t>100</a:t>
            </a:r>
            <a:r>
              <a:rPr lang="en-US" dirty="0"/>
              <a:t>BASE-TX </a:t>
            </a:r>
            <a:r>
              <a:rPr lang="ru-RU" dirty="0"/>
              <a:t>полудуплекс</a:t>
            </a:r>
          </a:p>
          <a:p>
            <a:r>
              <a:rPr lang="ru-RU" dirty="0"/>
              <a:t>10</a:t>
            </a:r>
            <a:r>
              <a:rPr lang="en-US" dirty="0"/>
              <a:t>BASE-T </a:t>
            </a:r>
            <a:r>
              <a:rPr lang="ru-RU" dirty="0"/>
              <a:t>полный дуплекс</a:t>
            </a:r>
          </a:p>
          <a:p>
            <a:r>
              <a:rPr lang="ru-RU" dirty="0"/>
              <a:t>10</a:t>
            </a:r>
            <a:r>
              <a:rPr lang="en-US" dirty="0"/>
              <a:t>BASE-T </a:t>
            </a:r>
            <a:r>
              <a:rPr lang="ru-RU" dirty="0"/>
              <a:t>полудуплекс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26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375748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Gigabit Ethernet  (802.3z - 1 </a:t>
            </a:r>
            <a:r>
              <a:rPr lang="ru-RU" dirty="0"/>
              <a:t>Гбит/с</a:t>
            </a:r>
            <a:r>
              <a:rPr lang="ru-RU" dirty="0" smtClean="0"/>
              <a:t>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1000BASE-T - IEEE 802.3ab — </a:t>
            </a:r>
            <a:r>
              <a:rPr lang="ru-RU" dirty="0"/>
              <a:t>кабель </a:t>
            </a:r>
            <a:r>
              <a:rPr lang="en-US" dirty="0"/>
              <a:t>UTP </a:t>
            </a:r>
            <a:r>
              <a:rPr lang="ru-RU" dirty="0"/>
              <a:t>кат.5. (250 Мбит/с по одной паре. Код </a:t>
            </a:r>
            <a:r>
              <a:rPr lang="en-US" dirty="0"/>
              <a:t>PAM5)</a:t>
            </a:r>
          </a:p>
          <a:p>
            <a:endParaRPr lang="en-US" dirty="0"/>
          </a:p>
          <a:p>
            <a:r>
              <a:rPr lang="en-US" dirty="0"/>
              <a:t>1000BASE-TX - </a:t>
            </a:r>
            <a:r>
              <a:rPr lang="ru-RU" dirty="0"/>
              <a:t>кабель 6 кат. (редко) </a:t>
            </a:r>
          </a:p>
          <a:p>
            <a:endParaRPr lang="ru-RU" dirty="0"/>
          </a:p>
          <a:p>
            <a:r>
              <a:rPr lang="ru-RU" dirty="0"/>
              <a:t>1000</a:t>
            </a:r>
            <a:r>
              <a:rPr lang="en-US" dirty="0"/>
              <a:t>BASE-SX - </a:t>
            </a:r>
            <a:r>
              <a:rPr lang="ru-RU" dirty="0" err="1"/>
              <a:t>многомодовый</a:t>
            </a:r>
            <a:r>
              <a:rPr lang="ru-RU" dirty="0"/>
              <a:t> ВОК (</a:t>
            </a:r>
            <a:r>
              <a:rPr lang="en-US" dirty="0"/>
              <a:t>L = 550 </a:t>
            </a:r>
            <a:r>
              <a:rPr lang="ru-RU" dirty="0"/>
              <a:t>м)</a:t>
            </a:r>
          </a:p>
          <a:p>
            <a:endParaRPr lang="ru-RU" dirty="0"/>
          </a:p>
          <a:p>
            <a:r>
              <a:rPr lang="ru-RU" dirty="0"/>
              <a:t>1000</a:t>
            </a:r>
            <a:r>
              <a:rPr lang="en-US" dirty="0"/>
              <a:t>BASE-LX – </a:t>
            </a:r>
            <a:r>
              <a:rPr lang="ru-RU" dirty="0" err="1"/>
              <a:t>многомодовый</a:t>
            </a:r>
            <a:r>
              <a:rPr lang="ru-RU" dirty="0"/>
              <a:t> или </a:t>
            </a:r>
            <a:r>
              <a:rPr lang="ru-RU" dirty="0" err="1"/>
              <a:t>одномодовый</a:t>
            </a:r>
            <a:r>
              <a:rPr lang="ru-RU" dirty="0"/>
              <a:t> ВОК (</a:t>
            </a:r>
            <a:r>
              <a:rPr lang="en-US" dirty="0"/>
              <a:t>L = 80 </a:t>
            </a:r>
            <a:r>
              <a:rPr lang="ru-RU" dirty="0"/>
              <a:t>км).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27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799518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Gigabit</a:t>
            </a:r>
            <a:r>
              <a:rPr lang="ru-RU" dirty="0"/>
              <a:t> </a:t>
            </a:r>
            <a:r>
              <a:rPr lang="ru-RU" dirty="0" err="1"/>
              <a:t>Ethernet</a:t>
            </a:r>
            <a:r>
              <a:rPr lang="ru-RU" dirty="0"/>
              <a:t> IEEE 802.3ab. 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Двунаправленная передача по 4 парам UTP </a:t>
            </a:r>
            <a:r>
              <a:rPr lang="ru-RU" dirty="0" smtClean="0"/>
              <a:t>кат.5</a:t>
            </a:r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pPr>
              <a:buClrTx/>
              <a:buFontTx/>
              <a:buNone/>
            </a:pPr>
            <a:r>
              <a:rPr lang="ru-RU" altLang="ru-RU" dirty="0">
                <a:solidFill>
                  <a:srgbClr val="000000"/>
                </a:solidFill>
              </a:rPr>
              <a:t>Вычитание  передаваемого сигнала  из сигнала в линии</a:t>
            </a:r>
          </a:p>
          <a:p>
            <a:pPr>
              <a:buClrTx/>
              <a:buFontTx/>
              <a:buNone/>
            </a:pPr>
            <a:r>
              <a:rPr lang="ru-RU" altLang="ru-RU" dirty="0">
                <a:solidFill>
                  <a:srgbClr val="000000"/>
                </a:solidFill>
              </a:rPr>
              <a:t>Полудуплексный  режим</a:t>
            </a:r>
            <a:r>
              <a:rPr lang="en-US" altLang="ru-RU" dirty="0">
                <a:solidFill>
                  <a:srgbClr val="000000"/>
                </a:solidFill>
              </a:rPr>
              <a:t>: </a:t>
            </a:r>
            <a:r>
              <a:rPr lang="ru-RU" altLang="ru-RU" dirty="0">
                <a:solidFill>
                  <a:srgbClr val="000000"/>
                </a:solidFill>
              </a:rPr>
              <a:t> Встречный поток   -   коллизия</a:t>
            </a:r>
          </a:p>
          <a:p>
            <a:pPr>
              <a:buClrTx/>
              <a:buFontTx/>
              <a:buNone/>
            </a:pPr>
            <a:r>
              <a:rPr lang="ru-RU" altLang="ru-RU" dirty="0">
                <a:solidFill>
                  <a:srgbClr val="000000"/>
                </a:solidFill>
              </a:rPr>
              <a:t>Полнодуплексный режим</a:t>
            </a:r>
            <a:r>
              <a:rPr lang="en-US" altLang="ru-RU" dirty="0">
                <a:solidFill>
                  <a:srgbClr val="000000"/>
                </a:solidFill>
              </a:rPr>
              <a:t>:  </a:t>
            </a:r>
            <a:r>
              <a:rPr lang="ru-RU" altLang="ru-RU" dirty="0">
                <a:solidFill>
                  <a:srgbClr val="000000"/>
                </a:solidFill>
              </a:rPr>
              <a:t>Встречный  поток -  норма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28</a:t>
            </a:fld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6973" y="1481586"/>
            <a:ext cx="5442010" cy="383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3731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DLL : </a:t>
            </a:r>
            <a:r>
              <a:rPr lang="ru-RU" dirty="0" smtClean="0"/>
              <a:t>Выводы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Синхронизация (биты, байты, кадры) </a:t>
            </a:r>
          </a:p>
          <a:p>
            <a:r>
              <a:rPr lang="ru-RU" dirty="0"/>
              <a:t>Управление доступом к среде</a:t>
            </a:r>
          </a:p>
          <a:p>
            <a:r>
              <a:rPr lang="ru-RU" dirty="0"/>
              <a:t>Адресация </a:t>
            </a:r>
            <a:r>
              <a:rPr lang="ru-RU" dirty="0" smtClean="0"/>
              <a:t>(</a:t>
            </a:r>
            <a:r>
              <a:rPr lang="ru-RU" dirty="0"/>
              <a:t>физический МАС-адрес — 6 </a:t>
            </a:r>
            <a:r>
              <a:rPr lang="ru-RU" dirty="0" smtClean="0"/>
              <a:t>б</a:t>
            </a:r>
            <a:r>
              <a:rPr lang="ru-RU" dirty="0"/>
              <a:t>а</a:t>
            </a:r>
            <a:r>
              <a:rPr lang="ru-RU" dirty="0" smtClean="0"/>
              <a:t>йт</a:t>
            </a:r>
            <a:r>
              <a:rPr lang="ru-RU" dirty="0"/>
              <a:t>)</a:t>
            </a:r>
          </a:p>
          <a:p>
            <a:r>
              <a:rPr lang="ru-RU" dirty="0"/>
              <a:t>Обработка ошибок (коррекция, повторная передача)</a:t>
            </a:r>
          </a:p>
          <a:p>
            <a:r>
              <a:rPr lang="ru-RU" dirty="0"/>
              <a:t>MTU</a:t>
            </a:r>
          </a:p>
          <a:p>
            <a:r>
              <a:rPr lang="ru-RU" dirty="0" smtClean="0"/>
              <a:t>Последовательные </a:t>
            </a:r>
            <a:r>
              <a:rPr lang="ru-RU" dirty="0"/>
              <a:t>каналы - HDLC, PPP</a:t>
            </a:r>
          </a:p>
          <a:p>
            <a:r>
              <a:rPr lang="ru-RU" dirty="0" smtClean="0"/>
              <a:t>ЛВС </a:t>
            </a:r>
            <a:r>
              <a:rPr lang="ru-RU" dirty="0"/>
              <a:t>-  стандарты  IEEE 802.х (LLC, MAC). </a:t>
            </a:r>
            <a:r>
              <a:rPr lang="ru-RU" dirty="0" err="1"/>
              <a:t>Ethernet</a:t>
            </a:r>
            <a:r>
              <a:rPr lang="ru-RU" dirty="0"/>
              <a:t> </a:t>
            </a:r>
          </a:p>
          <a:p>
            <a:endParaRPr lang="ru-RU" dirty="0"/>
          </a:p>
          <a:p>
            <a:r>
              <a:rPr lang="ru-RU" dirty="0" err="1"/>
              <a:t>Ethernet</a:t>
            </a:r>
            <a:r>
              <a:rPr lang="ru-RU" dirty="0"/>
              <a:t>: 4 типа кадров</a:t>
            </a:r>
          </a:p>
          <a:p>
            <a:r>
              <a:rPr lang="ru-RU" dirty="0"/>
              <a:t>Коллизия – нежелательное, но штатное явление</a:t>
            </a:r>
          </a:p>
          <a:p>
            <a:r>
              <a:rPr lang="ru-RU" dirty="0"/>
              <a:t>Механизм CSMA/CD</a:t>
            </a:r>
          </a:p>
          <a:p>
            <a:r>
              <a:rPr lang="ru-RU" dirty="0"/>
              <a:t>1000/100/10 Мбит/сек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29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618486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Мосты, коммутаторы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87383" y="1271451"/>
            <a:ext cx="7037007" cy="5355772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Первые </a:t>
            </a:r>
            <a:r>
              <a:rPr lang="ru-RU" dirty="0"/>
              <a:t>сети - сети с общей разделяемой средой</a:t>
            </a:r>
          </a:p>
          <a:p>
            <a:r>
              <a:rPr lang="ru-RU" dirty="0"/>
              <a:t>Достоинства : </a:t>
            </a:r>
          </a:p>
          <a:p>
            <a:pPr lvl="1"/>
            <a:r>
              <a:rPr lang="ru-RU" dirty="0"/>
              <a:t>Простая топология, </a:t>
            </a:r>
          </a:p>
          <a:p>
            <a:pPr lvl="1"/>
            <a:r>
              <a:rPr lang="ru-RU" dirty="0"/>
              <a:t>Простое подключение</a:t>
            </a:r>
          </a:p>
          <a:p>
            <a:pPr lvl="1"/>
            <a:r>
              <a:rPr lang="ru-RU" dirty="0"/>
              <a:t>Нет потерь кадров в </a:t>
            </a:r>
            <a:r>
              <a:rPr lang="ru-RU" dirty="0" smtClean="0"/>
              <a:t>промежуточных </a:t>
            </a:r>
            <a:r>
              <a:rPr lang="ru-RU" dirty="0"/>
              <a:t>БЗУ</a:t>
            </a:r>
          </a:p>
          <a:p>
            <a:endParaRPr lang="ru-RU" dirty="0"/>
          </a:p>
          <a:p>
            <a:r>
              <a:rPr lang="ru-RU" dirty="0"/>
              <a:t>Недостатки:</a:t>
            </a:r>
          </a:p>
          <a:p>
            <a:r>
              <a:rPr lang="ru-RU" dirty="0"/>
              <a:t>Снижение </a:t>
            </a:r>
            <a:r>
              <a:rPr lang="ru-RU" dirty="0" smtClean="0"/>
              <a:t>эффективности </a:t>
            </a:r>
            <a:r>
              <a:rPr lang="ru-RU" dirty="0" smtClean="0"/>
              <a:t>при </a:t>
            </a:r>
            <a:r>
              <a:rPr lang="ru-RU" dirty="0"/>
              <a:t>росте трафика  </a:t>
            </a:r>
            <a:r>
              <a:rPr lang="ru-RU" dirty="0" smtClean="0"/>
              <a:t>                                               (</a:t>
            </a:r>
            <a:r>
              <a:rPr lang="ru-RU" dirty="0"/>
              <a:t>коллизии)</a:t>
            </a:r>
          </a:p>
          <a:p>
            <a:endParaRPr lang="ru-RU" dirty="0"/>
          </a:p>
          <a:p>
            <a:r>
              <a:rPr lang="ru-RU" dirty="0" smtClean="0"/>
              <a:t>Логическая </a:t>
            </a:r>
            <a:r>
              <a:rPr lang="ru-RU" dirty="0"/>
              <a:t>структуризация </a:t>
            </a:r>
            <a:r>
              <a:rPr lang="ru-RU" dirty="0" smtClean="0"/>
              <a:t>сети - разбиение </a:t>
            </a:r>
            <a:r>
              <a:rPr lang="ru-RU" dirty="0"/>
              <a:t>общей разделяемой среды на логические сегменты самостоятельные сегменты с меньшим числом </a:t>
            </a:r>
            <a:r>
              <a:rPr lang="ru-RU" dirty="0" smtClean="0"/>
              <a:t>узлов  </a:t>
            </a:r>
            <a:r>
              <a:rPr lang="ru-RU" dirty="0"/>
              <a:t>(Мосты, коммутаторы)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30</a:t>
            </a:fld>
            <a:endParaRPr lang="ru-RU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9616" y="1882998"/>
            <a:ext cx="4495800" cy="3078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7095566" y="1882999"/>
            <a:ext cx="654050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1pPr>
            <a:lvl2pPr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2pPr>
            <a:lvl3pPr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3pPr>
            <a:lvl4pPr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4pPr>
            <a:lvl5pPr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9pPr>
          </a:lstStyle>
          <a:p>
            <a:pPr>
              <a:spcBef>
                <a:spcPts val="875"/>
              </a:spcBef>
            </a:pPr>
            <a:r>
              <a:rPr lang="ru-RU" altLang="ru-RU" dirty="0">
                <a:solidFill>
                  <a:srgbClr val="000000"/>
                </a:solidFill>
              </a:rPr>
              <a:t>  </a:t>
            </a:r>
            <a:r>
              <a:rPr lang="en-US" altLang="ru-RU" sz="1400" dirty="0">
                <a:solidFill>
                  <a:srgbClr val="000000"/>
                </a:solidFill>
              </a:rPr>
              <a:t>C </a:t>
            </a:r>
            <a:r>
              <a:rPr lang="ru-RU" altLang="ru-RU" sz="1400" dirty="0">
                <a:solidFill>
                  <a:srgbClr val="000000"/>
                </a:solidFill>
              </a:rPr>
              <a:t>             б</a:t>
            </a:r>
            <a:r>
              <a:rPr lang="en-US" altLang="ru-RU" sz="1400" dirty="0">
                <a:solidFill>
                  <a:srgbClr val="000000"/>
                </a:solidFill>
              </a:rPr>
              <a:t>/</a:t>
            </a:r>
            <a:r>
              <a:rPr lang="ru-RU" altLang="ru-RU" sz="1400" dirty="0">
                <a:solidFill>
                  <a:srgbClr val="000000"/>
                </a:solidFill>
              </a:rPr>
              <a:t>сек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0772216" y="4807450"/>
            <a:ext cx="1435100" cy="309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1pPr>
            <a:lvl2pPr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2pPr>
            <a:lvl3pPr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3pPr>
            <a:lvl4pPr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4pPr>
            <a:lvl5pPr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9pPr>
          </a:lstStyle>
          <a:p>
            <a:pPr>
              <a:buClrTx/>
              <a:buFontTx/>
              <a:buNone/>
            </a:pPr>
            <a:r>
              <a:rPr lang="ru-RU" altLang="ru-RU" sz="1400">
                <a:solidFill>
                  <a:srgbClr val="000000"/>
                </a:solidFill>
              </a:rPr>
              <a:t>Загрузка  сети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7422591" y="1729288"/>
            <a:ext cx="1600200" cy="309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1pPr>
            <a:lvl2pPr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2pPr>
            <a:lvl3pPr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3pPr>
            <a:lvl4pPr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4pPr>
            <a:lvl5pPr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9pPr>
          </a:lstStyle>
          <a:p>
            <a:pPr>
              <a:buClrTx/>
              <a:buFontTx/>
              <a:buNone/>
            </a:pPr>
            <a:r>
              <a:rPr lang="ru-RU" altLang="ru-RU" sz="1400" dirty="0">
                <a:solidFill>
                  <a:srgbClr val="000000"/>
                </a:solidFill>
              </a:rPr>
              <a:t>Эффективность</a:t>
            </a:r>
          </a:p>
        </p:txBody>
      </p:sp>
    </p:spTree>
    <p:extLst>
      <p:ext uri="{BB962C8B-B14F-4D97-AF65-F5344CB8AC3E}">
        <p14:creationId xmlns:p14="http://schemas.microsoft.com/office/powerpoint/2010/main" val="28967638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Line 33"/>
          <p:cNvSpPr>
            <a:spLocks noChangeShapeType="1"/>
          </p:cNvSpPr>
          <p:nvPr/>
        </p:nvSpPr>
        <p:spPr bwMode="auto">
          <a:xfrm flipV="1">
            <a:off x="9890125" y="2078979"/>
            <a:ext cx="1588" cy="312737"/>
          </a:xfrm>
          <a:prstGeom prst="line">
            <a:avLst/>
          </a:prstGeom>
          <a:noFill/>
          <a:ln w="381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grpSp>
        <p:nvGrpSpPr>
          <p:cNvPr id="82" name="Group 25"/>
          <p:cNvGrpSpPr>
            <a:grpSpLocks/>
          </p:cNvGrpSpPr>
          <p:nvPr/>
        </p:nvGrpSpPr>
        <p:grpSpPr bwMode="auto">
          <a:xfrm>
            <a:off x="7721600" y="2064692"/>
            <a:ext cx="2414588" cy="649288"/>
            <a:chOff x="3904" y="1295"/>
            <a:chExt cx="1521" cy="409"/>
          </a:xfrm>
        </p:grpSpPr>
        <p:sp>
          <p:nvSpPr>
            <p:cNvPr id="83" name="Line 26"/>
            <p:cNvSpPr>
              <a:spLocks noChangeShapeType="1"/>
            </p:cNvSpPr>
            <p:nvPr/>
          </p:nvSpPr>
          <p:spPr bwMode="auto">
            <a:xfrm>
              <a:off x="3955" y="1304"/>
              <a:ext cx="1470" cy="0"/>
            </a:xfrm>
            <a:prstGeom prst="line">
              <a:avLst/>
            </a:prstGeom>
            <a:noFill/>
            <a:ln w="381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grpSp>
          <p:nvGrpSpPr>
            <p:cNvPr id="84" name="Group 27"/>
            <p:cNvGrpSpPr>
              <a:grpSpLocks/>
            </p:cNvGrpSpPr>
            <p:nvPr/>
          </p:nvGrpSpPr>
          <p:grpSpPr bwMode="auto">
            <a:xfrm>
              <a:off x="3904" y="1295"/>
              <a:ext cx="1521" cy="409"/>
              <a:chOff x="3904" y="1295"/>
              <a:chExt cx="1521" cy="409"/>
            </a:xfrm>
          </p:grpSpPr>
          <p:sp>
            <p:nvSpPr>
              <p:cNvPr id="89" name="Line 32"/>
              <p:cNvSpPr>
                <a:spLocks noChangeShapeType="1"/>
              </p:cNvSpPr>
              <p:nvPr/>
            </p:nvSpPr>
            <p:spPr bwMode="auto">
              <a:xfrm flipV="1">
                <a:off x="4692" y="1310"/>
                <a:ext cx="0" cy="182"/>
              </a:xfrm>
              <a:prstGeom prst="line">
                <a:avLst/>
              </a:prstGeom>
              <a:noFill/>
              <a:ln w="381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5" name="Line 28"/>
              <p:cNvSpPr>
                <a:spLocks noChangeShapeType="1"/>
              </p:cNvSpPr>
              <p:nvPr/>
            </p:nvSpPr>
            <p:spPr bwMode="auto">
              <a:xfrm flipV="1">
                <a:off x="4079" y="1295"/>
                <a:ext cx="0" cy="214"/>
              </a:xfrm>
              <a:prstGeom prst="line">
                <a:avLst/>
              </a:prstGeom>
              <a:noFill/>
              <a:ln w="381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6" name="Rectangle 29"/>
              <p:cNvSpPr>
                <a:spLocks noChangeArrowheads="1"/>
              </p:cNvSpPr>
              <p:nvPr/>
            </p:nvSpPr>
            <p:spPr bwMode="auto">
              <a:xfrm>
                <a:off x="3904" y="1477"/>
                <a:ext cx="339" cy="227"/>
              </a:xfrm>
              <a:prstGeom prst="rect">
                <a:avLst/>
              </a:prstGeom>
              <a:solidFill>
                <a:srgbClr val="BBE0E3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87" name="Rectangle 30"/>
              <p:cNvSpPr>
                <a:spLocks noChangeArrowheads="1"/>
              </p:cNvSpPr>
              <p:nvPr/>
            </p:nvSpPr>
            <p:spPr bwMode="auto">
              <a:xfrm>
                <a:off x="4517" y="1477"/>
                <a:ext cx="339" cy="227"/>
              </a:xfrm>
              <a:prstGeom prst="rect">
                <a:avLst/>
              </a:prstGeom>
              <a:solidFill>
                <a:srgbClr val="BBE0E3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88" name="Rectangle 31"/>
              <p:cNvSpPr>
                <a:spLocks noChangeArrowheads="1"/>
              </p:cNvSpPr>
              <p:nvPr/>
            </p:nvSpPr>
            <p:spPr bwMode="auto">
              <a:xfrm>
                <a:off x="5086" y="1477"/>
                <a:ext cx="339" cy="227"/>
              </a:xfrm>
              <a:prstGeom prst="rect">
                <a:avLst/>
              </a:prstGeom>
              <a:solidFill>
                <a:srgbClr val="BBE0E3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/>
              </a:p>
            </p:txBody>
          </p:sp>
        </p:grpSp>
      </p:grpSp>
      <p:sp>
        <p:nvSpPr>
          <p:cNvPr id="81" name="Line 24"/>
          <p:cNvSpPr>
            <a:spLocks noChangeShapeType="1"/>
          </p:cNvSpPr>
          <p:nvPr/>
        </p:nvSpPr>
        <p:spPr bwMode="auto">
          <a:xfrm flipV="1">
            <a:off x="7064203" y="2077037"/>
            <a:ext cx="1587" cy="312738"/>
          </a:xfrm>
          <a:prstGeom prst="line">
            <a:avLst/>
          </a:prstGeom>
          <a:noFill/>
          <a:ln w="381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Повышение </a:t>
            </a:r>
            <a:r>
              <a:rPr lang="ru-RU" dirty="0" smtClean="0"/>
              <a:t>производительности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Прозрачный (для адаптеров) мост  IEEE 802.1D</a:t>
            </a:r>
          </a:p>
          <a:p>
            <a:r>
              <a:rPr lang="en-US" dirty="0"/>
              <a:t>C</a:t>
            </a:r>
            <a:r>
              <a:rPr lang="en-US" baseline="-25000" dirty="0"/>
              <a:t>∑</a:t>
            </a:r>
            <a:r>
              <a:rPr lang="en-US" dirty="0"/>
              <a:t>  = ∑ </a:t>
            </a:r>
            <a:r>
              <a:rPr lang="en-US" dirty="0" err="1"/>
              <a:t>Cij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C</a:t>
            </a:r>
            <a:r>
              <a:rPr lang="en-US" baseline="-25000" dirty="0"/>
              <a:t>∑</a:t>
            </a:r>
            <a:r>
              <a:rPr lang="en-US" dirty="0"/>
              <a:t> =C</a:t>
            </a:r>
            <a:r>
              <a:rPr lang="en-US" baseline="-25000" dirty="0"/>
              <a:t>S1</a:t>
            </a:r>
            <a:r>
              <a:rPr lang="en-US" dirty="0"/>
              <a:t>+C</a:t>
            </a:r>
            <a:r>
              <a:rPr lang="en-US" baseline="-25000" dirty="0"/>
              <a:t>S1-S2</a:t>
            </a:r>
            <a:r>
              <a:rPr lang="en-US" dirty="0"/>
              <a:t>+C</a:t>
            </a:r>
            <a:r>
              <a:rPr lang="en-US" baseline="-25000" dirty="0"/>
              <a:t>S2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smtClean="0"/>
              <a:t>C</a:t>
            </a:r>
            <a:r>
              <a:rPr lang="en-US" baseline="-25000" dirty="0"/>
              <a:t>s1</a:t>
            </a:r>
            <a:r>
              <a:rPr lang="en-US" dirty="0" smtClean="0"/>
              <a:t> </a:t>
            </a:r>
            <a:r>
              <a:rPr lang="en-US" dirty="0"/>
              <a:t>= C</a:t>
            </a:r>
            <a:r>
              <a:rPr lang="en-US" baseline="-25000" dirty="0"/>
              <a:t>S1-S2</a:t>
            </a:r>
            <a:r>
              <a:rPr lang="en-US" dirty="0"/>
              <a:t> + </a:t>
            </a:r>
            <a:r>
              <a:rPr lang="ru-RU" dirty="0"/>
              <a:t>С</a:t>
            </a:r>
            <a:r>
              <a:rPr lang="en-US" baseline="-25000" dirty="0"/>
              <a:t>S1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31</a:t>
            </a:fld>
            <a:endParaRPr lang="ru-RU" dirty="0"/>
          </a:p>
        </p:txBody>
      </p:sp>
      <p:grpSp>
        <p:nvGrpSpPr>
          <p:cNvPr id="62" name="Group 1"/>
          <p:cNvGrpSpPr>
            <a:grpSpLocks/>
          </p:cNvGrpSpPr>
          <p:nvPr/>
        </p:nvGrpSpPr>
        <p:grpSpPr bwMode="auto">
          <a:xfrm>
            <a:off x="7524750" y="4279901"/>
            <a:ext cx="2497138" cy="650875"/>
            <a:chOff x="3780" y="2696"/>
            <a:chExt cx="1573" cy="410"/>
          </a:xfrm>
        </p:grpSpPr>
        <p:sp>
          <p:nvSpPr>
            <p:cNvPr id="63" name="Line 2"/>
            <p:cNvSpPr>
              <a:spLocks noChangeShapeType="1"/>
            </p:cNvSpPr>
            <p:nvPr/>
          </p:nvSpPr>
          <p:spPr bwMode="auto">
            <a:xfrm>
              <a:off x="3780" y="2706"/>
              <a:ext cx="1573" cy="0"/>
            </a:xfrm>
            <a:prstGeom prst="line">
              <a:avLst/>
            </a:prstGeom>
            <a:noFill/>
            <a:ln w="381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grpSp>
          <p:nvGrpSpPr>
            <p:cNvPr id="64" name="Group 3"/>
            <p:cNvGrpSpPr>
              <a:grpSpLocks/>
            </p:cNvGrpSpPr>
            <p:nvPr/>
          </p:nvGrpSpPr>
          <p:grpSpPr bwMode="auto">
            <a:xfrm>
              <a:off x="3832" y="2696"/>
              <a:ext cx="1521" cy="410"/>
              <a:chOff x="3832" y="2696"/>
              <a:chExt cx="1521" cy="410"/>
            </a:xfrm>
          </p:grpSpPr>
          <p:sp>
            <p:nvSpPr>
              <p:cNvPr id="65" name="Line 4"/>
              <p:cNvSpPr>
                <a:spLocks noChangeShapeType="1"/>
              </p:cNvSpPr>
              <p:nvPr/>
            </p:nvSpPr>
            <p:spPr bwMode="auto">
              <a:xfrm flipV="1">
                <a:off x="4007" y="2695"/>
                <a:ext cx="0" cy="215"/>
              </a:xfrm>
              <a:prstGeom prst="line">
                <a:avLst/>
              </a:prstGeom>
              <a:noFill/>
              <a:ln w="381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6" name="Rectangle 5"/>
              <p:cNvSpPr>
                <a:spLocks noChangeArrowheads="1"/>
              </p:cNvSpPr>
              <p:nvPr/>
            </p:nvSpPr>
            <p:spPr bwMode="auto">
              <a:xfrm>
                <a:off x="3832" y="2877"/>
                <a:ext cx="339" cy="229"/>
              </a:xfrm>
              <a:prstGeom prst="rect">
                <a:avLst/>
              </a:prstGeom>
              <a:solidFill>
                <a:srgbClr val="BBE0E3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67" name="Rectangle 6"/>
              <p:cNvSpPr>
                <a:spLocks noChangeArrowheads="1"/>
              </p:cNvSpPr>
              <p:nvPr/>
            </p:nvSpPr>
            <p:spPr bwMode="auto">
              <a:xfrm>
                <a:off x="4444" y="2877"/>
                <a:ext cx="339" cy="229"/>
              </a:xfrm>
              <a:prstGeom prst="rect">
                <a:avLst/>
              </a:prstGeom>
              <a:solidFill>
                <a:srgbClr val="BBE0E3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68" name="Rectangle 7"/>
              <p:cNvSpPr>
                <a:spLocks noChangeArrowheads="1"/>
              </p:cNvSpPr>
              <p:nvPr/>
            </p:nvSpPr>
            <p:spPr bwMode="auto">
              <a:xfrm>
                <a:off x="5014" y="2877"/>
                <a:ext cx="339" cy="229"/>
              </a:xfrm>
              <a:prstGeom prst="rect">
                <a:avLst/>
              </a:prstGeom>
              <a:solidFill>
                <a:srgbClr val="BBE0E3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69" name="Line 8"/>
              <p:cNvSpPr>
                <a:spLocks noChangeShapeType="1"/>
              </p:cNvSpPr>
              <p:nvPr/>
            </p:nvSpPr>
            <p:spPr bwMode="auto">
              <a:xfrm flipV="1">
                <a:off x="4620" y="2695"/>
                <a:ext cx="0" cy="180"/>
              </a:xfrm>
              <a:prstGeom prst="line">
                <a:avLst/>
              </a:prstGeom>
              <a:noFill/>
              <a:ln w="381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</p:grpSp>
      </p:grpSp>
      <p:sp>
        <p:nvSpPr>
          <p:cNvPr id="70" name="Text Box 12"/>
          <p:cNvSpPr txBox="1">
            <a:spLocks noChangeArrowheads="1"/>
          </p:cNvSpPr>
          <p:nvPr/>
        </p:nvSpPr>
        <p:spPr bwMode="auto">
          <a:xfrm>
            <a:off x="6573838" y="4019550"/>
            <a:ext cx="952500" cy="520700"/>
          </a:xfrm>
          <a:prstGeom prst="rect">
            <a:avLst/>
          </a:prstGeom>
          <a:noFill/>
          <a:ln w="381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1pPr>
            <a:lvl2pPr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2pPr>
            <a:lvl3pPr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3pPr>
            <a:lvl4pPr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4pPr>
            <a:lvl5pPr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9pPr>
          </a:lstStyle>
          <a:p>
            <a:pPr>
              <a:buClrTx/>
              <a:buFontTx/>
              <a:buNone/>
            </a:pPr>
            <a:r>
              <a:rPr lang="ru-RU" altLang="ru-RU" sz="2800" b="1" dirty="0">
                <a:solidFill>
                  <a:srgbClr val="000000"/>
                </a:solidFill>
              </a:rPr>
              <a:t> </a:t>
            </a:r>
            <a:r>
              <a:rPr lang="ru-RU" altLang="ru-RU" sz="2000" b="1" dirty="0">
                <a:solidFill>
                  <a:srgbClr val="000000"/>
                </a:solidFill>
              </a:rPr>
              <a:t>Мост</a:t>
            </a:r>
          </a:p>
        </p:txBody>
      </p:sp>
      <p:sp>
        <p:nvSpPr>
          <p:cNvPr id="71" name="Text Box 13"/>
          <p:cNvSpPr txBox="1">
            <a:spLocks noChangeArrowheads="1"/>
          </p:cNvSpPr>
          <p:nvPr/>
        </p:nvSpPr>
        <p:spPr bwMode="auto">
          <a:xfrm>
            <a:off x="5026025" y="3863976"/>
            <a:ext cx="609600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1pPr>
            <a:lvl2pPr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2pPr>
            <a:lvl3pPr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3pPr>
            <a:lvl4pPr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4pPr>
            <a:lvl5pPr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9pPr>
          </a:lstStyle>
          <a:p>
            <a:pPr>
              <a:spcBef>
                <a:spcPts val="1250"/>
              </a:spcBef>
            </a:pPr>
            <a:r>
              <a:rPr lang="en-US" altLang="ru-RU" sz="2000" b="1" dirty="0">
                <a:solidFill>
                  <a:srgbClr val="000000"/>
                </a:solidFill>
              </a:rPr>
              <a:t>S1</a:t>
            </a:r>
          </a:p>
        </p:txBody>
      </p:sp>
      <p:sp>
        <p:nvSpPr>
          <p:cNvPr id="72" name="Text Box 14"/>
          <p:cNvSpPr txBox="1">
            <a:spLocks noChangeArrowheads="1"/>
          </p:cNvSpPr>
          <p:nvPr/>
        </p:nvSpPr>
        <p:spPr bwMode="auto">
          <a:xfrm>
            <a:off x="8539163" y="3863976"/>
            <a:ext cx="638175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1pPr>
            <a:lvl2pPr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2pPr>
            <a:lvl3pPr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3pPr>
            <a:lvl4pPr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4pPr>
            <a:lvl5pPr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9pPr>
          </a:lstStyle>
          <a:p>
            <a:pPr>
              <a:spcBef>
                <a:spcPts val="1250"/>
              </a:spcBef>
            </a:pPr>
            <a:r>
              <a:rPr lang="en-US" altLang="ru-RU" sz="2000" b="1" dirty="0">
                <a:solidFill>
                  <a:srgbClr val="000000"/>
                </a:solidFill>
              </a:rPr>
              <a:t>S2</a:t>
            </a:r>
          </a:p>
        </p:txBody>
      </p:sp>
      <p:grpSp>
        <p:nvGrpSpPr>
          <p:cNvPr id="73" name="Group 16"/>
          <p:cNvGrpSpPr>
            <a:grpSpLocks/>
          </p:cNvGrpSpPr>
          <p:nvPr/>
        </p:nvGrpSpPr>
        <p:grpSpPr bwMode="auto">
          <a:xfrm>
            <a:off x="4908551" y="2076453"/>
            <a:ext cx="2886075" cy="633413"/>
            <a:chOff x="2132" y="1308"/>
            <a:chExt cx="1818" cy="399"/>
          </a:xfrm>
        </p:grpSpPr>
        <p:sp>
          <p:nvSpPr>
            <p:cNvPr id="74" name="Line 17"/>
            <p:cNvSpPr>
              <a:spLocks noChangeShapeType="1"/>
            </p:cNvSpPr>
            <p:nvPr/>
          </p:nvSpPr>
          <p:spPr bwMode="auto">
            <a:xfrm>
              <a:off x="2183" y="1308"/>
              <a:ext cx="1767" cy="0"/>
            </a:xfrm>
            <a:prstGeom prst="line">
              <a:avLst/>
            </a:prstGeom>
            <a:noFill/>
            <a:ln w="381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grpSp>
          <p:nvGrpSpPr>
            <p:cNvPr id="75" name="Group 18"/>
            <p:cNvGrpSpPr>
              <a:grpSpLocks/>
            </p:cNvGrpSpPr>
            <p:nvPr/>
          </p:nvGrpSpPr>
          <p:grpSpPr bwMode="auto">
            <a:xfrm>
              <a:off x="2132" y="1309"/>
              <a:ext cx="1520" cy="398"/>
              <a:chOff x="2132" y="1309"/>
              <a:chExt cx="1520" cy="398"/>
            </a:xfrm>
          </p:grpSpPr>
          <p:sp>
            <p:nvSpPr>
              <p:cNvPr id="76" name="Line 19"/>
              <p:cNvSpPr>
                <a:spLocks noChangeShapeType="1"/>
              </p:cNvSpPr>
              <p:nvPr/>
            </p:nvSpPr>
            <p:spPr bwMode="auto">
              <a:xfrm flipV="1">
                <a:off x="2307" y="1309"/>
                <a:ext cx="0" cy="214"/>
              </a:xfrm>
              <a:prstGeom prst="line">
                <a:avLst/>
              </a:prstGeom>
              <a:noFill/>
              <a:ln w="381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80" name="Line 23"/>
              <p:cNvSpPr>
                <a:spLocks noChangeShapeType="1"/>
              </p:cNvSpPr>
              <p:nvPr/>
            </p:nvSpPr>
            <p:spPr bwMode="auto">
              <a:xfrm flipV="1">
                <a:off x="2919" y="1309"/>
                <a:ext cx="0" cy="180"/>
              </a:xfrm>
              <a:prstGeom prst="line">
                <a:avLst/>
              </a:prstGeom>
              <a:noFill/>
              <a:ln w="381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7" name="Rectangle 20"/>
              <p:cNvSpPr>
                <a:spLocks noChangeArrowheads="1"/>
              </p:cNvSpPr>
              <p:nvPr/>
            </p:nvSpPr>
            <p:spPr bwMode="auto">
              <a:xfrm>
                <a:off x="2132" y="1479"/>
                <a:ext cx="339" cy="228"/>
              </a:xfrm>
              <a:prstGeom prst="rect">
                <a:avLst/>
              </a:prstGeom>
              <a:solidFill>
                <a:srgbClr val="BBE0E3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78" name="Rectangle 21"/>
              <p:cNvSpPr>
                <a:spLocks noChangeArrowheads="1"/>
              </p:cNvSpPr>
              <p:nvPr/>
            </p:nvSpPr>
            <p:spPr bwMode="auto">
              <a:xfrm>
                <a:off x="2744" y="1479"/>
                <a:ext cx="339" cy="228"/>
              </a:xfrm>
              <a:prstGeom prst="rect">
                <a:avLst/>
              </a:prstGeom>
              <a:solidFill>
                <a:srgbClr val="BBE0E3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79" name="Rectangle 22"/>
              <p:cNvSpPr>
                <a:spLocks noChangeArrowheads="1"/>
              </p:cNvSpPr>
              <p:nvPr/>
            </p:nvSpPr>
            <p:spPr bwMode="auto">
              <a:xfrm>
                <a:off x="3313" y="1479"/>
                <a:ext cx="339" cy="228"/>
              </a:xfrm>
              <a:prstGeom prst="rect">
                <a:avLst/>
              </a:prstGeom>
              <a:solidFill>
                <a:srgbClr val="BBE0E3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/>
              </a:p>
            </p:txBody>
          </p:sp>
        </p:grpSp>
      </p:grpSp>
      <p:sp>
        <p:nvSpPr>
          <p:cNvPr id="91" name="Text Box 34"/>
          <p:cNvSpPr txBox="1">
            <a:spLocks noChangeArrowheads="1"/>
          </p:cNvSpPr>
          <p:nvPr/>
        </p:nvSpPr>
        <p:spPr bwMode="auto">
          <a:xfrm>
            <a:off x="5026026" y="2346325"/>
            <a:ext cx="512762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1pPr>
            <a:lvl2pPr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2pPr>
            <a:lvl3pPr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3pPr>
            <a:lvl4pPr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4pPr>
            <a:lvl5pPr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9pPr>
          </a:lstStyle>
          <a:p>
            <a:pPr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</a:rPr>
              <a:t>A             B             C           D             E            F</a:t>
            </a:r>
          </a:p>
        </p:txBody>
      </p:sp>
      <p:sp>
        <p:nvSpPr>
          <p:cNvPr id="92" name="Line 35"/>
          <p:cNvSpPr>
            <a:spLocks noChangeShapeType="1"/>
          </p:cNvSpPr>
          <p:nvPr/>
        </p:nvSpPr>
        <p:spPr bwMode="auto">
          <a:xfrm flipV="1">
            <a:off x="9739314" y="4262439"/>
            <a:ext cx="1587" cy="314325"/>
          </a:xfrm>
          <a:prstGeom prst="line">
            <a:avLst/>
          </a:prstGeom>
          <a:noFill/>
          <a:ln w="381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93" name="Line 36"/>
          <p:cNvSpPr>
            <a:spLocks noChangeShapeType="1"/>
          </p:cNvSpPr>
          <p:nvPr/>
        </p:nvSpPr>
        <p:spPr bwMode="auto">
          <a:xfrm flipV="1">
            <a:off x="6143625" y="4295776"/>
            <a:ext cx="1588" cy="339725"/>
          </a:xfrm>
          <a:prstGeom prst="line">
            <a:avLst/>
          </a:prstGeom>
          <a:noFill/>
          <a:ln w="381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grpSp>
        <p:nvGrpSpPr>
          <p:cNvPr id="94" name="Group 37"/>
          <p:cNvGrpSpPr>
            <a:grpSpLocks/>
          </p:cNvGrpSpPr>
          <p:nvPr/>
        </p:nvGrpSpPr>
        <p:grpSpPr bwMode="auto">
          <a:xfrm>
            <a:off x="4038600" y="4284664"/>
            <a:ext cx="2514600" cy="674687"/>
            <a:chOff x="1584" y="2699"/>
            <a:chExt cx="1584" cy="425"/>
          </a:xfrm>
        </p:grpSpPr>
        <p:sp>
          <p:nvSpPr>
            <p:cNvPr id="95" name="Line 38"/>
            <p:cNvSpPr>
              <a:spLocks noChangeShapeType="1"/>
            </p:cNvSpPr>
            <p:nvPr/>
          </p:nvSpPr>
          <p:spPr bwMode="auto">
            <a:xfrm flipV="1">
              <a:off x="1680" y="2712"/>
              <a:ext cx="1488" cy="14"/>
            </a:xfrm>
            <a:prstGeom prst="line">
              <a:avLst/>
            </a:prstGeom>
            <a:noFill/>
            <a:ln w="381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grpSp>
          <p:nvGrpSpPr>
            <p:cNvPr id="96" name="Group 39"/>
            <p:cNvGrpSpPr>
              <a:grpSpLocks/>
            </p:cNvGrpSpPr>
            <p:nvPr/>
          </p:nvGrpSpPr>
          <p:grpSpPr bwMode="auto">
            <a:xfrm>
              <a:off x="1584" y="2699"/>
              <a:ext cx="1482" cy="425"/>
              <a:chOff x="1584" y="2699"/>
              <a:chExt cx="1482" cy="425"/>
            </a:xfrm>
          </p:grpSpPr>
          <p:sp>
            <p:nvSpPr>
              <p:cNvPr id="97" name="Line 40"/>
              <p:cNvSpPr>
                <a:spLocks noChangeShapeType="1"/>
              </p:cNvSpPr>
              <p:nvPr/>
            </p:nvSpPr>
            <p:spPr bwMode="auto">
              <a:xfrm flipV="1">
                <a:off x="1775" y="2715"/>
                <a:ext cx="0" cy="193"/>
              </a:xfrm>
              <a:prstGeom prst="line">
                <a:avLst/>
              </a:prstGeom>
              <a:noFill/>
              <a:ln w="381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98" name="Rectangle 41"/>
              <p:cNvSpPr>
                <a:spLocks noChangeArrowheads="1"/>
              </p:cNvSpPr>
              <p:nvPr/>
            </p:nvSpPr>
            <p:spPr bwMode="auto">
              <a:xfrm>
                <a:off x="1584" y="2895"/>
                <a:ext cx="339" cy="228"/>
              </a:xfrm>
              <a:prstGeom prst="rect">
                <a:avLst/>
              </a:prstGeom>
              <a:solidFill>
                <a:srgbClr val="BBE0E3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99" name="Rectangle 42"/>
              <p:cNvSpPr>
                <a:spLocks noChangeArrowheads="1"/>
              </p:cNvSpPr>
              <p:nvPr/>
            </p:nvSpPr>
            <p:spPr bwMode="auto">
              <a:xfrm>
                <a:off x="2155" y="2875"/>
                <a:ext cx="339" cy="228"/>
              </a:xfrm>
              <a:prstGeom prst="rect">
                <a:avLst/>
              </a:prstGeom>
              <a:solidFill>
                <a:srgbClr val="BBE0E3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100" name="Rectangle 43"/>
              <p:cNvSpPr>
                <a:spLocks noChangeArrowheads="1"/>
              </p:cNvSpPr>
              <p:nvPr/>
            </p:nvSpPr>
            <p:spPr bwMode="auto">
              <a:xfrm>
                <a:off x="2727" y="2880"/>
                <a:ext cx="339" cy="228"/>
              </a:xfrm>
              <a:prstGeom prst="rect">
                <a:avLst/>
              </a:prstGeom>
              <a:solidFill>
                <a:srgbClr val="BBE0E3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101" name="Line 44"/>
              <p:cNvSpPr>
                <a:spLocks noChangeShapeType="1"/>
              </p:cNvSpPr>
              <p:nvPr/>
            </p:nvSpPr>
            <p:spPr bwMode="auto">
              <a:xfrm flipV="1">
                <a:off x="2331" y="2698"/>
                <a:ext cx="0" cy="180"/>
              </a:xfrm>
              <a:prstGeom prst="line">
                <a:avLst/>
              </a:prstGeom>
              <a:noFill/>
              <a:ln w="38160" cap="sq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</p:grpSp>
      </p:grpSp>
      <p:sp>
        <p:nvSpPr>
          <p:cNvPr id="102" name="Text Box 45"/>
          <p:cNvSpPr txBox="1">
            <a:spLocks noChangeArrowheads="1"/>
          </p:cNvSpPr>
          <p:nvPr/>
        </p:nvSpPr>
        <p:spPr bwMode="auto">
          <a:xfrm>
            <a:off x="4038600" y="4614863"/>
            <a:ext cx="78486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1pPr>
            <a:lvl2pPr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2pPr>
            <a:lvl3pPr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3pPr>
            <a:lvl4pPr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4pPr>
            <a:lvl5pPr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38150" algn="l"/>
                <a:tab pos="887413" algn="l"/>
                <a:tab pos="1336675" algn="l"/>
                <a:tab pos="1785938" algn="l"/>
                <a:tab pos="2235200" algn="l"/>
                <a:tab pos="2684463" algn="l"/>
                <a:tab pos="3133725" algn="l"/>
                <a:tab pos="3582988" algn="l"/>
                <a:tab pos="4032250" algn="l"/>
                <a:tab pos="4481513" algn="l"/>
                <a:tab pos="4930775" algn="l"/>
                <a:tab pos="5380038" algn="l"/>
                <a:tab pos="5829300" algn="l"/>
                <a:tab pos="6278563" algn="l"/>
                <a:tab pos="6727825" algn="l"/>
                <a:tab pos="7177088" algn="l"/>
                <a:tab pos="7626350" algn="l"/>
                <a:tab pos="8075613" algn="l"/>
                <a:tab pos="8524875" algn="l"/>
                <a:tab pos="8974138" algn="l"/>
                <a:tab pos="8975725" algn="l"/>
                <a:tab pos="9424988" algn="l"/>
                <a:tab pos="9874250" algn="l"/>
                <a:tab pos="10323513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  <a:defRPr>
                <a:solidFill>
                  <a:srgbClr val="FFFFFF"/>
                </a:solidFill>
                <a:latin typeface="Arial" charset="0"/>
                <a:ea typeface="Microsoft YaHei" charset="-122"/>
              </a:defRPr>
            </a:lvl9pPr>
          </a:lstStyle>
          <a:p>
            <a:pPr>
              <a:buClrTx/>
              <a:buFontTx/>
              <a:buNone/>
            </a:pPr>
            <a:r>
              <a:rPr lang="en-US" altLang="ru-RU">
                <a:solidFill>
                  <a:srgbClr val="000000"/>
                </a:solidFill>
              </a:rPr>
              <a:t>  </a:t>
            </a:r>
            <a:r>
              <a:rPr lang="ru-RU" altLang="ru-RU">
                <a:solidFill>
                  <a:srgbClr val="000000"/>
                </a:solidFill>
              </a:rPr>
              <a:t>А            В            С       </a:t>
            </a:r>
            <a:r>
              <a:rPr lang="en-US" altLang="ru-RU">
                <a:solidFill>
                  <a:srgbClr val="000000"/>
                </a:solidFill>
              </a:rPr>
              <a:t>  </a:t>
            </a:r>
            <a:r>
              <a:rPr lang="ru-RU" altLang="ru-RU">
                <a:solidFill>
                  <a:srgbClr val="000000"/>
                </a:solidFill>
              </a:rPr>
              <a:t>               </a:t>
            </a:r>
            <a:r>
              <a:rPr lang="en-US" altLang="ru-RU">
                <a:solidFill>
                  <a:srgbClr val="000000"/>
                </a:solidFill>
              </a:rPr>
              <a:t>D             E            F</a:t>
            </a:r>
          </a:p>
        </p:txBody>
      </p:sp>
    </p:spTree>
    <p:extLst>
      <p:ext uri="{BB962C8B-B14F-4D97-AF65-F5344CB8AC3E}">
        <p14:creationId xmlns:p14="http://schemas.microsoft.com/office/powerpoint/2010/main" val="39562448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Объединение разных технологий</a:t>
            </a:r>
            <a:br>
              <a:rPr lang="ru-RU" dirty="0"/>
            </a:br>
            <a:r>
              <a:rPr lang="ru-RU" dirty="0" err="1"/>
              <a:t>Bridges</a:t>
            </a:r>
            <a:r>
              <a:rPr lang="ru-RU" dirty="0"/>
              <a:t> </a:t>
            </a:r>
            <a:r>
              <a:rPr lang="ru-RU" dirty="0" err="1"/>
              <a:t>from</a:t>
            </a:r>
            <a:r>
              <a:rPr lang="ru-RU" dirty="0"/>
              <a:t> 802.x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smtClean="0"/>
              <a:t>802.y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r>
              <a:rPr lang="ru-RU" dirty="0" smtClean="0"/>
              <a:t>N портов</a:t>
            </a:r>
            <a:r>
              <a:rPr lang="en-US" dirty="0" smtClean="0"/>
              <a:t> </a:t>
            </a:r>
            <a:r>
              <a:rPr lang="en-US" dirty="0" smtClean="0">
                <a:latin typeface="Times New Roman"/>
                <a:cs typeface="Times New Roman"/>
              </a:rPr>
              <a:t>→</a:t>
            </a:r>
            <a:r>
              <a:rPr lang="ru-RU" dirty="0" smtClean="0"/>
              <a:t> N </a:t>
            </a:r>
            <a:r>
              <a:rPr lang="ru-RU" dirty="0"/>
              <a:t>подуровней МАС и N уровней  </a:t>
            </a:r>
            <a:r>
              <a:rPr lang="ru-RU" dirty="0" err="1"/>
              <a:t>Phy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32</a:t>
            </a:fld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0264" y="1271451"/>
            <a:ext cx="8265111" cy="449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2512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Принцип работы моста (коммутатора)</a:t>
            </a:r>
            <a:br>
              <a:rPr lang="ru-RU" dirty="0"/>
            </a:br>
            <a:r>
              <a:rPr lang="ru-RU" dirty="0"/>
              <a:t>Алгоритм прозрачного </a:t>
            </a:r>
            <a:r>
              <a:rPr lang="ru-RU" dirty="0" smtClean="0"/>
              <a:t>моста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Коммутация по  МАС-таблице</a:t>
            </a:r>
          </a:p>
          <a:p>
            <a:r>
              <a:rPr lang="ru-RU" dirty="0"/>
              <a:t>Автоматическое (постоянное) заполнение таблицы коммутации </a:t>
            </a:r>
          </a:p>
          <a:p>
            <a:pPr lvl="1"/>
            <a:r>
              <a:rPr lang="ru-RU" dirty="0"/>
              <a:t>Кадры   FF-FF-FF-FF-FF-FF </a:t>
            </a:r>
            <a:r>
              <a:rPr lang="ru-RU" dirty="0" smtClean="0"/>
              <a:t>передаются </a:t>
            </a:r>
            <a:r>
              <a:rPr lang="ru-RU" dirty="0"/>
              <a:t>на все  порты</a:t>
            </a:r>
          </a:p>
          <a:p>
            <a:pPr lvl="1"/>
            <a:r>
              <a:rPr lang="ru-RU" dirty="0"/>
              <a:t>Кадр  никогда не передается на порт, от которого этот кадр получен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33</a:t>
            </a:fld>
            <a:endParaRPr lang="ru-RU" dirty="0"/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5412582" y="4076031"/>
            <a:ext cx="5027613" cy="1108075"/>
            <a:chOff x="862" y="1201"/>
            <a:chExt cx="3167" cy="698"/>
          </a:xfrm>
        </p:grpSpPr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862" y="1584"/>
              <a:ext cx="435" cy="314"/>
            </a:xfrm>
            <a:prstGeom prst="rect">
              <a:avLst/>
            </a:prstGeom>
            <a:solidFill>
              <a:srgbClr val="FFFFFF"/>
            </a:solidFill>
            <a:ln w="2844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lvl1pPr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1pPr>
              <a:lvl2pPr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2pPr>
              <a:lvl3pPr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3pPr>
              <a:lvl4pPr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4pPr>
              <a:lvl5pPr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5pPr>
              <a:lvl6pPr marL="25146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6pPr>
              <a:lvl7pPr marL="29718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7pPr>
              <a:lvl8pPr marL="34290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8pPr>
              <a:lvl9pPr marL="38862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ru-RU" altLang="ru-RU" sz="1200">
                  <a:solidFill>
                    <a:srgbClr val="000000"/>
                  </a:solidFill>
                </a:rPr>
                <a:t>А</a:t>
              </a:r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1575" y="1584"/>
              <a:ext cx="435" cy="314"/>
            </a:xfrm>
            <a:prstGeom prst="rect">
              <a:avLst/>
            </a:prstGeom>
            <a:solidFill>
              <a:srgbClr val="FFFFFF"/>
            </a:solidFill>
            <a:ln w="2844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lvl1pPr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1pPr>
              <a:lvl2pPr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2pPr>
              <a:lvl3pPr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3pPr>
              <a:lvl4pPr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4pPr>
              <a:lvl5pPr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5pPr>
              <a:lvl6pPr marL="25146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6pPr>
              <a:lvl7pPr marL="29718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7pPr>
              <a:lvl8pPr marL="34290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8pPr>
              <a:lvl9pPr marL="38862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ru-RU" altLang="ru-RU" sz="1200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2879" y="1616"/>
              <a:ext cx="435" cy="283"/>
            </a:xfrm>
            <a:prstGeom prst="rect">
              <a:avLst/>
            </a:prstGeom>
            <a:solidFill>
              <a:srgbClr val="FFFFFF"/>
            </a:solidFill>
            <a:ln w="2844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lvl1pPr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1pPr>
              <a:lvl2pPr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2pPr>
              <a:lvl3pPr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3pPr>
              <a:lvl4pPr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4pPr>
              <a:lvl5pPr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5pPr>
              <a:lvl6pPr marL="25146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6pPr>
              <a:lvl7pPr marL="29718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7pPr>
              <a:lvl8pPr marL="34290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8pPr>
              <a:lvl9pPr marL="38862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ru-RU" altLang="ru-RU" sz="1200">
                  <a:solidFill>
                    <a:srgbClr val="000000"/>
                  </a:solidFill>
                </a:rPr>
                <a:t>C</a:t>
              </a:r>
            </a:p>
          </p:txBody>
        </p:sp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3594" y="1616"/>
              <a:ext cx="435" cy="283"/>
            </a:xfrm>
            <a:prstGeom prst="rect">
              <a:avLst/>
            </a:prstGeom>
            <a:solidFill>
              <a:srgbClr val="FFFFFF"/>
            </a:solidFill>
            <a:ln w="2844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lvl1pPr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1pPr>
              <a:lvl2pPr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2pPr>
              <a:lvl3pPr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3pPr>
              <a:lvl4pPr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4pPr>
              <a:lvl5pPr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5pPr>
              <a:lvl6pPr marL="25146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6pPr>
              <a:lvl7pPr marL="29718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7pPr>
              <a:lvl8pPr marL="34290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8pPr>
              <a:lvl9pPr marL="38862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ru-RU" altLang="ru-RU" sz="1200">
                  <a:solidFill>
                    <a:srgbClr val="000000"/>
                  </a:solidFill>
                </a:rPr>
                <a:t>D</a:t>
              </a:r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auto">
            <a:xfrm>
              <a:off x="1094" y="1339"/>
              <a:ext cx="0" cy="265"/>
            </a:xfrm>
            <a:prstGeom prst="line">
              <a:avLst/>
            </a:prstGeom>
            <a:noFill/>
            <a:ln w="381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1808" y="1339"/>
              <a:ext cx="0" cy="265"/>
            </a:xfrm>
            <a:prstGeom prst="line">
              <a:avLst/>
            </a:prstGeom>
            <a:noFill/>
            <a:ln w="381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>
              <a:off x="3058" y="1339"/>
              <a:ext cx="0" cy="265"/>
            </a:xfrm>
            <a:prstGeom prst="line">
              <a:avLst/>
            </a:prstGeom>
            <a:noFill/>
            <a:ln w="381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3" name="Line 11"/>
            <p:cNvSpPr>
              <a:spLocks noChangeShapeType="1"/>
            </p:cNvSpPr>
            <p:nvPr/>
          </p:nvSpPr>
          <p:spPr bwMode="auto">
            <a:xfrm>
              <a:off x="3772" y="1339"/>
              <a:ext cx="0" cy="265"/>
            </a:xfrm>
            <a:prstGeom prst="line">
              <a:avLst/>
            </a:prstGeom>
            <a:noFill/>
            <a:ln w="381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4" name="Text Box 12"/>
            <p:cNvSpPr txBox="1">
              <a:spLocks noChangeArrowheads="1"/>
            </p:cNvSpPr>
            <p:nvPr/>
          </p:nvSpPr>
          <p:spPr bwMode="auto">
            <a:xfrm>
              <a:off x="2076" y="1201"/>
              <a:ext cx="614" cy="373"/>
            </a:xfrm>
            <a:prstGeom prst="rect">
              <a:avLst/>
            </a:prstGeom>
            <a:solidFill>
              <a:srgbClr val="FFFFFF"/>
            </a:solidFill>
            <a:ln w="2844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46800" rIns="0" bIns="46800"/>
            <a:lstStyle>
              <a:lvl1pPr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1pPr>
              <a:lvl2pPr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2pPr>
              <a:lvl3pPr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3pPr>
              <a:lvl4pPr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4pPr>
              <a:lvl5pPr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5pPr>
              <a:lvl6pPr marL="25146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6pPr>
              <a:lvl7pPr marL="29718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7pPr>
              <a:lvl8pPr marL="34290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8pPr>
              <a:lvl9pPr marL="38862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38150" algn="l"/>
                  <a:tab pos="887413" algn="l"/>
                  <a:tab pos="1336675" algn="l"/>
                  <a:tab pos="1785938" algn="l"/>
                  <a:tab pos="2235200" algn="l"/>
                  <a:tab pos="2684463" algn="l"/>
                  <a:tab pos="3133725" algn="l"/>
                  <a:tab pos="3582988" algn="l"/>
                  <a:tab pos="4032250" algn="l"/>
                  <a:tab pos="4481513" algn="l"/>
                  <a:tab pos="4930775" algn="l"/>
                  <a:tab pos="5380038" algn="l"/>
                  <a:tab pos="5829300" algn="l"/>
                  <a:tab pos="6278563" algn="l"/>
                  <a:tab pos="6727825" algn="l"/>
                  <a:tab pos="7177088" algn="l"/>
                  <a:tab pos="7626350" algn="l"/>
                  <a:tab pos="8075613" algn="l"/>
                  <a:tab pos="8524875" algn="l"/>
                  <a:tab pos="8974138" algn="l"/>
                  <a:tab pos="8975725" algn="l"/>
                  <a:tab pos="9424988" algn="l"/>
                  <a:tab pos="9874250" algn="l"/>
                  <a:tab pos="10323513" algn="l"/>
                  <a:tab pos="10772775" algn="l"/>
                  <a:tab pos="10774363" algn="l"/>
                  <a:tab pos="10775950" algn="l"/>
                  <a:tab pos="10777538" algn="l"/>
                  <a:tab pos="10779125" algn="l"/>
                  <a:tab pos="10780713" algn="l"/>
                </a:tabLst>
                <a:defRPr>
                  <a:solidFill>
                    <a:srgbClr val="FFFFFF"/>
                  </a:solidFill>
                  <a:latin typeface="Arial" charset="0"/>
                  <a:ea typeface="Microsoft YaHei" charset="-122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ru-RU" altLang="ru-RU" dirty="0">
                  <a:solidFill>
                    <a:srgbClr val="000000"/>
                  </a:solidFill>
                </a:rPr>
                <a:t>Мост</a:t>
              </a:r>
            </a:p>
            <a:p>
              <a:pPr>
                <a:buClrTx/>
                <a:buFontTx/>
                <a:buNone/>
              </a:pPr>
              <a:r>
                <a:rPr lang="ru-RU" altLang="ru-RU" dirty="0">
                  <a:solidFill>
                    <a:srgbClr val="000000"/>
                  </a:solidFill>
                </a:rPr>
                <a:t> 1          2</a:t>
              </a:r>
            </a:p>
          </p:txBody>
        </p:sp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1094" y="1339"/>
              <a:ext cx="971" cy="0"/>
            </a:xfrm>
            <a:prstGeom prst="line">
              <a:avLst/>
            </a:prstGeom>
            <a:noFill/>
            <a:ln w="381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>
              <a:off x="2701" y="1339"/>
              <a:ext cx="1150" cy="0"/>
            </a:xfrm>
            <a:prstGeom prst="line">
              <a:avLst/>
            </a:prstGeom>
            <a:noFill/>
            <a:ln w="3816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graphicFrame>
        <p:nvGraphicFramePr>
          <p:cNvPr id="17" name="Group 18"/>
          <p:cNvGraphicFramePr>
            <a:graphicFrameLocks noGrp="1"/>
          </p:cNvGraphicFramePr>
          <p:nvPr>
            <p:extLst/>
          </p:nvPr>
        </p:nvGraphicFramePr>
        <p:xfrm>
          <a:off x="1927024" y="4753100"/>
          <a:ext cx="3124941" cy="1172439"/>
        </p:xfrm>
        <a:graphic>
          <a:graphicData uri="http://schemas.openxmlformats.org/drawingml/2006/table">
            <a:tbl>
              <a:tblPr/>
              <a:tblGrid>
                <a:gridCol w="15323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2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101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6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МАС</a:t>
                      </a:r>
                    </a:p>
                  </a:txBody>
                  <a:tcPr marL="0" marR="0" marT="0" marB="0" anchor="b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6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ПОРТ</a:t>
                      </a:r>
                    </a:p>
                  </a:txBody>
                  <a:tcPr marL="0" marR="0" marT="0" marB="0" anchor="b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897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6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A</a:t>
                      </a:r>
                    </a:p>
                  </a:txBody>
                  <a:tcPr marL="0" marR="0" marT="0" marB="0" anchor="b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6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1</a:t>
                      </a:r>
                    </a:p>
                  </a:txBody>
                  <a:tcPr marL="0" marR="0" marT="0" marB="0" anchor="b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897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6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C</a:t>
                      </a:r>
                    </a:p>
                  </a:txBody>
                  <a:tcPr marL="0" marR="0" marT="0" marB="0" anchor="b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6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2</a:t>
                      </a:r>
                    </a:p>
                  </a:txBody>
                  <a:tcPr marL="0" marR="0" marT="0" marB="0" anchor="b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544"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6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B</a:t>
                      </a:r>
                    </a:p>
                  </a:txBody>
                  <a:tcPr marL="0" marR="0" marT="0" marB="0" anchor="b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8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 sz="2800"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1pPr>
                      <a:lvl2pPr eaLnBrk="0" hangingPunct="0">
                        <a:spcBef>
                          <a:spcPts val="7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 sz="2400"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2pPr>
                      <a:lvl3pPr eaLnBrk="0" hangingPunct="0">
                        <a:spcBef>
                          <a:spcPts val="6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3pPr>
                      <a:lvl4pPr eaLnBrk="0" hangingPunct="0">
                        <a:spcBef>
                          <a:spcPts val="5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4pPr>
                      <a:lvl5pPr eaLnBrk="0" hangingPunct="0">
                        <a:spcBef>
                          <a:spcPts val="500"/>
                        </a:spcBef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Microsoft YaHei" charset="-122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6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39738" algn="l"/>
                          <a:tab pos="889000" algn="l"/>
                          <a:tab pos="1338263" algn="l"/>
                          <a:tab pos="1787525" algn="l"/>
                          <a:tab pos="2236788" algn="l"/>
                          <a:tab pos="2686050" algn="l"/>
                          <a:tab pos="3135313" algn="l"/>
                          <a:tab pos="3584575" algn="l"/>
                          <a:tab pos="4033838" algn="l"/>
                          <a:tab pos="4483100" algn="l"/>
                          <a:tab pos="4932363" algn="l"/>
                          <a:tab pos="5381625" algn="l"/>
                          <a:tab pos="5830888" algn="l"/>
                          <a:tab pos="6280150" algn="l"/>
                          <a:tab pos="6729413" algn="l"/>
                          <a:tab pos="7178675" algn="l"/>
                          <a:tab pos="7627938" algn="l"/>
                          <a:tab pos="8077200" algn="l"/>
                          <a:tab pos="8526463" algn="l"/>
                          <a:tab pos="8975725" algn="l"/>
                          <a:tab pos="9424988" algn="l"/>
                          <a:tab pos="9874250" algn="l"/>
                          <a:tab pos="10323513" algn="l"/>
                          <a:tab pos="10772775" algn="l"/>
                          <a:tab pos="10774363" algn="l"/>
                          <a:tab pos="10775950" algn="l"/>
                          <a:tab pos="10777538" algn="l"/>
                          <a:tab pos="10779125" algn="l"/>
                          <a:tab pos="10780713" algn="l"/>
                        </a:tabLst>
                      </a:pPr>
                      <a:r>
                        <a:rPr kumimoji="0" lang="ru-RU" alt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1</a:t>
                      </a:r>
                    </a:p>
                  </a:txBody>
                  <a:tcPr marL="0" marR="0" marT="0" marB="0" anchor="b" horzOverflow="overflow">
                    <a:lnL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12460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Структура из 4 ЛВС и 2 </a:t>
            </a:r>
            <a:r>
              <a:rPr lang="ru-RU" dirty="0" smtClean="0"/>
              <a:t>мостов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Snet</a:t>
            </a:r>
            <a:r>
              <a:rPr lang="ru-RU" dirty="0"/>
              <a:t> = </a:t>
            </a:r>
            <a:r>
              <a:rPr lang="ru-RU" dirty="0" err="1"/>
              <a:t>Dnet</a:t>
            </a:r>
            <a:r>
              <a:rPr lang="ru-RU" dirty="0"/>
              <a:t> </a:t>
            </a:r>
            <a:r>
              <a:rPr lang="en-US" dirty="0" smtClean="0"/>
              <a:t>–</a:t>
            </a:r>
            <a:r>
              <a:rPr lang="ru-RU" dirty="0" smtClean="0"/>
              <a:t> </a:t>
            </a:r>
            <a:r>
              <a:rPr lang="ru-RU" dirty="0"/>
              <a:t>кадр игнорируется</a:t>
            </a:r>
          </a:p>
          <a:p>
            <a:r>
              <a:rPr lang="ru-RU" dirty="0" err="1" smtClean="0"/>
              <a:t>Snet</a:t>
            </a:r>
            <a:r>
              <a:rPr lang="ru-RU" dirty="0" smtClean="0"/>
              <a:t> </a:t>
            </a:r>
            <a:r>
              <a:rPr lang="ru-RU" dirty="0"/>
              <a:t>≠ </a:t>
            </a:r>
            <a:r>
              <a:rPr lang="ru-RU" dirty="0" err="1" smtClean="0"/>
              <a:t>Dnet</a:t>
            </a:r>
            <a:r>
              <a:rPr lang="ru-RU" dirty="0" smtClean="0"/>
              <a:t> </a:t>
            </a:r>
            <a:r>
              <a:rPr lang="en-US" dirty="0" smtClean="0"/>
              <a:t>– </a:t>
            </a:r>
            <a:r>
              <a:rPr lang="ru-RU" dirty="0" smtClean="0"/>
              <a:t>кадр </a:t>
            </a:r>
            <a:r>
              <a:rPr lang="ru-RU" dirty="0"/>
              <a:t>передается</a:t>
            </a:r>
          </a:p>
          <a:p>
            <a:r>
              <a:rPr lang="ru-RU" dirty="0" err="1" smtClean="0"/>
              <a:t>Dnet</a:t>
            </a:r>
            <a:r>
              <a:rPr lang="ru-RU" dirty="0" smtClean="0"/>
              <a:t> </a:t>
            </a:r>
            <a:r>
              <a:rPr lang="ru-RU" dirty="0"/>
              <a:t>= </a:t>
            </a:r>
            <a:r>
              <a:rPr lang="ru-RU" dirty="0" smtClean="0"/>
              <a:t>?</a:t>
            </a:r>
            <a:r>
              <a:rPr lang="en-US" dirty="0" smtClean="0"/>
              <a:t> – </a:t>
            </a:r>
            <a:r>
              <a:rPr lang="ru-RU" dirty="0" smtClean="0"/>
              <a:t>кадр </a:t>
            </a:r>
            <a:r>
              <a:rPr lang="ru-RU" dirty="0"/>
              <a:t>передается на все порты кроме S</a:t>
            </a:r>
          </a:p>
          <a:p>
            <a:r>
              <a:rPr lang="ru-RU" dirty="0" smtClean="0"/>
              <a:t>В </a:t>
            </a:r>
            <a:r>
              <a:rPr lang="ru-RU" dirty="0"/>
              <a:t>таблице  </a:t>
            </a:r>
            <a:r>
              <a:rPr lang="ru-RU" dirty="0" err="1"/>
              <a:t>м.б</a:t>
            </a:r>
            <a:r>
              <a:rPr lang="ru-RU" dirty="0"/>
              <a:t>.  статические и динамические </a:t>
            </a:r>
            <a:r>
              <a:rPr lang="ru-RU" dirty="0" smtClean="0"/>
              <a:t>записи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34</a:t>
            </a:fld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567" y="3496845"/>
            <a:ext cx="9144000" cy="313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0659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Влияние </a:t>
            </a:r>
            <a:r>
              <a:rPr lang="ru-RU" dirty="0" smtClean="0"/>
              <a:t>«петель» </a:t>
            </a:r>
            <a:r>
              <a:rPr lang="ru-RU" dirty="0"/>
              <a:t>на работу </a:t>
            </a:r>
            <a:r>
              <a:rPr lang="ru-RU" dirty="0" smtClean="0"/>
              <a:t>моста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Два параллельных прозрачных </a:t>
            </a:r>
            <a:r>
              <a:rPr lang="ru-RU" dirty="0" smtClean="0"/>
              <a:t>моста: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35</a:t>
            </a:fld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751" y="2089853"/>
            <a:ext cx="8114190" cy="4277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7240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Spanning</a:t>
            </a:r>
            <a:r>
              <a:rPr lang="ru-RU" dirty="0"/>
              <a:t> </a:t>
            </a:r>
            <a:r>
              <a:rPr lang="ru-RU" dirty="0" err="1"/>
              <a:t>Tree</a:t>
            </a:r>
            <a:r>
              <a:rPr lang="ru-RU" dirty="0"/>
              <a:t> </a:t>
            </a:r>
            <a:r>
              <a:rPr lang="ru-RU" dirty="0" err="1" smtClean="0"/>
              <a:t>Bridges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Алгоритм  покрывающего дерева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Покрывающее дерево</a:t>
            </a:r>
            <a:r>
              <a:rPr lang="en-US" dirty="0" smtClean="0"/>
              <a:t> LAN</a:t>
            </a:r>
            <a:endParaRPr lang="ru-RU" dirty="0" smtClean="0"/>
          </a:p>
          <a:p>
            <a:r>
              <a:rPr lang="ru-RU" dirty="0" smtClean="0"/>
              <a:t>Цифрами </a:t>
            </a:r>
            <a:r>
              <a:rPr lang="ru-RU" dirty="0"/>
              <a:t>обозначены подсети, буквами – </a:t>
            </a:r>
            <a:r>
              <a:rPr lang="ru-RU" dirty="0" smtClean="0"/>
              <a:t>коммутаторы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36</a:t>
            </a:fld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2199613"/>
            <a:ext cx="9144000" cy="4269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3360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Проблемы создания мостов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Различный формат кадров </a:t>
            </a:r>
          </a:p>
          <a:p>
            <a:pPr lvl="1"/>
            <a:r>
              <a:rPr lang="ru-RU" dirty="0" smtClean="0"/>
              <a:t>Переформатирование </a:t>
            </a:r>
            <a:r>
              <a:rPr lang="ru-RU" dirty="0"/>
              <a:t>– задержка</a:t>
            </a:r>
          </a:p>
          <a:p>
            <a:pPr lvl="1"/>
            <a:r>
              <a:rPr lang="ru-RU" dirty="0" smtClean="0"/>
              <a:t>CRC</a:t>
            </a:r>
            <a:r>
              <a:rPr lang="ru-RU" dirty="0"/>
              <a:t>, </a:t>
            </a:r>
          </a:p>
          <a:p>
            <a:pPr lvl="1"/>
            <a:r>
              <a:rPr lang="ru-RU" dirty="0" err="1" smtClean="0"/>
              <a:t>Priority</a:t>
            </a:r>
            <a:r>
              <a:rPr lang="ru-RU" dirty="0" smtClean="0"/>
              <a:t> </a:t>
            </a:r>
            <a:r>
              <a:rPr lang="ru-RU" dirty="0" err="1"/>
              <a:t>bit</a:t>
            </a:r>
            <a:r>
              <a:rPr lang="ru-RU" dirty="0"/>
              <a:t> и др.</a:t>
            </a:r>
          </a:p>
          <a:p>
            <a:r>
              <a:rPr lang="ru-RU" dirty="0"/>
              <a:t>Различная скорость передачи </a:t>
            </a:r>
          </a:p>
          <a:p>
            <a:pPr lvl="1"/>
            <a:r>
              <a:rPr lang="ru-RU" dirty="0" smtClean="0"/>
              <a:t>Буферизация </a:t>
            </a:r>
            <a:r>
              <a:rPr lang="ru-RU" dirty="0"/>
              <a:t>– возможно переполнение</a:t>
            </a:r>
          </a:p>
          <a:p>
            <a:r>
              <a:rPr lang="ru-RU" dirty="0"/>
              <a:t>Различные MTU (решения нет)</a:t>
            </a:r>
          </a:p>
          <a:p>
            <a:r>
              <a:rPr lang="ru-RU" dirty="0"/>
              <a:t>Защита информации </a:t>
            </a:r>
          </a:p>
          <a:p>
            <a:pPr lvl="1"/>
            <a:r>
              <a:rPr lang="ru-RU" dirty="0" smtClean="0"/>
              <a:t>802.11</a:t>
            </a:r>
            <a:r>
              <a:rPr lang="ru-RU" dirty="0"/>
              <a:t>, 802.16 – шифрование, </a:t>
            </a:r>
            <a:r>
              <a:rPr lang="ru-RU" dirty="0" err="1"/>
              <a:t>Ethernet</a:t>
            </a:r>
            <a:r>
              <a:rPr lang="ru-RU" dirty="0"/>
              <a:t> -?</a:t>
            </a:r>
          </a:p>
          <a:p>
            <a:r>
              <a:rPr lang="ru-RU" dirty="0" err="1"/>
              <a:t>QoS</a:t>
            </a:r>
            <a:r>
              <a:rPr lang="ru-RU" dirty="0"/>
              <a:t>  </a:t>
            </a:r>
          </a:p>
          <a:p>
            <a:pPr lvl="1"/>
            <a:r>
              <a:rPr lang="ru-RU" dirty="0"/>
              <a:t>802.16 – CBR,  </a:t>
            </a:r>
            <a:r>
              <a:rPr lang="ru-RU" dirty="0" err="1"/>
              <a:t>Ethernet</a:t>
            </a:r>
            <a:r>
              <a:rPr lang="ru-RU" dirty="0"/>
              <a:t> - ?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37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82500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LAN  </a:t>
            </a:r>
            <a:r>
              <a:rPr lang="ru-RU" dirty="0"/>
              <a:t>на коммутаторах</a:t>
            </a:r>
            <a:br>
              <a:rPr lang="ru-RU" dirty="0"/>
            </a:b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7226" y="1546624"/>
            <a:ext cx="8289925" cy="475636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/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38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49403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Виртуальные сети на одном </a:t>
            </a:r>
            <a:r>
              <a:rPr lang="ru-RU" dirty="0" smtClean="0"/>
              <a:t>коммутаторе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39</a:t>
            </a:fld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6125" y="848371"/>
            <a:ext cx="5421764" cy="5466705"/>
          </a:xfrm>
        </p:spPr>
      </p:pic>
    </p:spTree>
    <p:extLst>
      <p:ext uri="{BB962C8B-B14F-4D97-AF65-F5344CB8AC3E}">
        <p14:creationId xmlns:p14="http://schemas.microsoft.com/office/powerpoint/2010/main" val="14752508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VLAN на нескольких коммутаторах с группировкой </a:t>
            </a:r>
            <a:r>
              <a:rPr lang="ru-RU" dirty="0" smtClean="0"/>
              <a:t>портов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40</a:t>
            </a:fld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7226" y="2346739"/>
            <a:ext cx="8289925" cy="2356611"/>
          </a:xfrm>
        </p:spPr>
      </p:pic>
    </p:spTree>
    <p:extLst>
      <p:ext uri="{BB962C8B-B14F-4D97-AF65-F5344CB8AC3E}">
        <p14:creationId xmlns:p14="http://schemas.microsoft.com/office/powerpoint/2010/main" val="21297038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IEEE 802.1Q Tagged Frame for </a:t>
            </a:r>
            <a:r>
              <a:rPr lang="en-US" dirty="0" smtClean="0"/>
              <a:t>Ethernet</a:t>
            </a:r>
            <a:endParaRPr lang="ru-RU" dirty="0"/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9225" y="1416540"/>
            <a:ext cx="6328877" cy="2688739"/>
          </a:xfr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41</a:t>
            </a:fld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1751" y="4433893"/>
            <a:ext cx="7153275" cy="1706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6318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Стандарт </a:t>
            </a:r>
            <a:r>
              <a:rPr lang="en-US" dirty="0"/>
              <a:t>IEEE 802.1Q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Transition from legacy Ethernet to VLAN-aware Ethernet</a:t>
            </a:r>
            <a:endParaRPr lang="ru-RU" sz="24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42</a:t>
            </a:fld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025" y="1836868"/>
            <a:ext cx="8743950" cy="385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1150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 smtClean="0"/>
              <a:t>Беспроводные сети. Стандарт </a:t>
            </a:r>
            <a:r>
              <a:rPr lang="en-US" altLang="ru-RU" dirty="0" smtClean="0"/>
              <a:t>802.11</a:t>
            </a:r>
            <a:r>
              <a:rPr lang="ru-RU" altLang="ru-RU" dirty="0" smtClean="0"/>
              <a:t> </a:t>
            </a:r>
            <a:r>
              <a:rPr lang="en-US" altLang="ru-RU" dirty="0" smtClean="0"/>
              <a:t>-</a:t>
            </a:r>
            <a:r>
              <a:rPr lang="ru-RU" altLang="ru-RU" dirty="0" smtClean="0"/>
              <a:t> </a:t>
            </a:r>
            <a:r>
              <a:rPr lang="en-US" altLang="ru-RU" dirty="0" smtClean="0"/>
              <a:t>1997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ru-RU" dirty="0"/>
              <a:t>Базовый беспроводной протокол</a:t>
            </a:r>
          </a:p>
          <a:p>
            <a:r>
              <a:rPr lang="ru-RU" altLang="ru-RU" dirty="0"/>
              <a:t>Безопасность обеспечивается </a:t>
            </a:r>
            <a:r>
              <a:rPr lang="en-US" altLang="ru-RU" dirty="0"/>
              <a:t>WEP</a:t>
            </a:r>
          </a:p>
          <a:p>
            <a:r>
              <a:rPr lang="ru-RU" altLang="ru-RU" dirty="0"/>
              <a:t>Пропускная способность 1 или 2 Мб/с  </a:t>
            </a:r>
            <a:r>
              <a:rPr lang="ru-RU" altLang="ru-RU" dirty="0" err="1"/>
              <a:t>с</a:t>
            </a:r>
            <a:r>
              <a:rPr lang="ru-RU" altLang="ru-RU" dirty="0"/>
              <a:t> использованием </a:t>
            </a:r>
            <a:r>
              <a:rPr lang="en-US" altLang="ru-RU" dirty="0"/>
              <a:t>CSMA/CA</a:t>
            </a:r>
          </a:p>
          <a:p>
            <a:r>
              <a:rPr lang="ru-RU" altLang="ru-RU" dirty="0"/>
              <a:t>Использует</a:t>
            </a:r>
            <a:r>
              <a:rPr lang="en-US" altLang="ru-RU" dirty="0"/>
              <a:t> DSSS</a:t>
            </a:r>
          </a:p>
          <a:p>
            <a:r>
              <a:rPr lang="ru-RU" altLang="ru-RU" dirty="0"/>
              <a:t>В настоящее время не используется</a:t>
            </a:r>
            <a:endParaRPr lang="en-US" alt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43</a:t>
            </a:fld>
            <a:endParaRPr lang="ru-RU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981200" y="1905000"/>
            <a:ext cx="8229600" cy="4114800"/>
          </a:xfrm>
          <a:prstGeom prst="rect">
            <a:avLst/>
          </a:prstGeom>
          <a:effectLst>
            <a:outerShdw blurRad="50800" dist="50800" dir="5400000" algn="ctr" rotWithShape="0">
              <a:srgbClr val="EBEBEB"/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ru-RU" dirty="0"/>
          </a:p>
        </p:txBody>
      </p:sp>
    </p:spTree>
    <p:extLst>
      <p:ext uri="{BB962C8B-B14F-4D97-AF65-F5344CB8AC3E}">
        <p14:creationId xmlns:p14="http://schemas.microsoft.com/office/powerpoint/2010/main" val="25508840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Метод прямой последовательности для расширения спектра</a:t>
            </a:r>
            <a:r>
              <a:rPr lang="en-US" dirty="0"/>
              <a:t> (DSSS)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По стандарту 802.11 полоса пропускания 22 МГц делится на 11 подканалов</a:t>
            </a:r>
          </a:p>
          <a:p>
            <a:r>
              <a:rPr lang="ru-RU" sz="2400" dirty="0"/>
              <a:t>Каждый передаваемый бит информации превращается в 11 бит (чиповую последовательность), которые передаются одновременно и параллельно</a:t>
            </a:r>
          </a:p>
          <a:p>
            <a:r>
              <a:rPr lang="ru-RU" sz="2400" dirty="0"/>
              <a:t>В приёмнике полученный сигнал умножается на ту же чиповую последовательность, то есть вычисляется автокорреляционная функция сигнала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44</a:t>
            </a:fld>
            <a:endParaRPr lang="ru-RU" dirty="0"/>
          </a:p>
        </p:txBody>
      </p:sp>
      <p:pic>
        <p:nvPicPr>
          <p:cNvPr id="1026" name="Picture 2" descr=" 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2568" y="3851099"/>
            <a:ext cx="7072132" cy="2479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43607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Стандарты  беспроводных сетей - IEEE 802.11a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Технология позволяет добиться скорости передачи данных до 54 Мбит/с</a:t>
            </a:r>
          </a:p>
          <a:p>
            <a:r>
              <a:rPr lang="ru-RU" sz="2400" dirty="0"/>
              <a:t>Работает в диапазоне частот 5 ГГц</a:t>
            </a:r>
          </a:p>
          <a:p>
            <a:r>
              <a:rPr lang="ru-RU" sz="2400" dirty="0"/>
              <a:t>Используется метод мультиплексирования с ортогональным делением частот (OFDM)</a:t>
            </a:r>
          </a:p>
          <a:p>
            <a:r>
              <a:rPr lang="ru-RU" sz="2400" dirty="0"/>
              <a:t>Защита данных при помощи шифрования WEP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45</a:t>
            </a:fld>
            <a:endParaRPr lang="ru-RU" dirty="0"/>
          </a:p>
        </p:txBody>
      </p:sp>
      <p:sp>
        <p:nvSpPr>
          <p:cNvPr id="5" name="AutoShape 2" descr="http://rfmw.em.keysight.com/wireless/helpfiles/89600b/webhelp/subsystems/wlan-ofdm/Content/resources/image/ofdm%20freq-time%20representation.png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052" name="Picture 4" descr="http://rfmw.em.keysight.com/wireless/helpfiles/89600b/webhelp/subsystems/wlan-ofdm/Content/resources/image/ofdm%20freq-time%20representation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9133" y="3276164"/>
            <a:ext cx="7037078" cy="3142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36502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Стандарты  беспроводных сетей - IEEE 802.11b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Работает в диапазоне частот 2,4-2,4835 ГГц (11 каналов с шагом 5 МГц шириной 22МГц</a:t>
            </a:r>
          </a:p>
          <a:p>
            <a:r>
              <a:rPr lang="ru-RU" dirty="0"/>
              <a:t>Используется метод прямой последовательности с разнесением сигнала по широкому диапазону (DSSS)</a:t>
            </a:r>
          </a:p>
          <a:p>
            <a:r>
              <a:rPr lang="ru-RU" dirty="0"/>
              <a:t>Поддерживает скорость передачи 1, 2, 5.5, 11 Мбит/с, автоматический или фиксированный выбор скорости</a:t>
            </a:r>
          </a:p>
          <a:p>
            <a:r>
              <a:rPr lang="ru-RU" dirty="0"/>
              <a:t>Защита данных при помощи шифрования WEP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46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405259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Стандарты  беспроводных сетей - IEEE 802.11g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Принят 12 июня 2003 года,  совместим с предыдущим стандартом IEEE 802.11b</a:t>
            </a:r>
          </a:p>
          <a:p>
            <a:r>
              <a:rPr lang="ru-RU" dirty="0"/>
              <a:t>Работает в диапазоне частот 2,4 –2,462ГГц</a:t>
            </a:r>
            <a:r>
              <a:rPr lang="en-US" dirty="0"/>
              <a:t>, 11 </a:t>
            </a:r>
            <a:r>
              <a:rPr lang="ru-RU" dirty="0"/>
              <a:t>каналов по 20 МГц каждый</a:t>
            </a:r>
          </a:p>
          <a:p>
            <a:r>
              <a:rPr lang="ru-RU" dirty="0"/>
              <a:t>Используется два метода: прямой последовательности с разнесением сигнала по широкому диапазону (DSSS) и мультиплексирования с ортогональным делением частот (OFDM)</a:t>
            </a:r>
          </a:p>
          <a:p>
            <a:r>
              <a:rPr lang="ru-RU" dirty="0"/>
              <a:t>Скорости передачи 54, 48, 36, 24, 18, …1 Мбит/с, автоматический или фиксированный выбор скорости, при использовании двух каналов до 108 Мбит/с</a:t>
            </a:r>
          </a:p>
          <a:p>
            <a:r>
              <a:rPr lang="ru-RU" dirty="0"/>
              <a:t>Защита данных при помощи шифрования WEP,</a:t>
            </a:r>
            <a:r>
              <a:rPr lang="en-US" dirty="0"/>
              <a:t> WPA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47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45469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Стандарты  беспроводных сетей - IEEE 802.11</a:t>
            </a:r>
            <a:r>
              <a:rPr lang="en-US" dirty="0"/>
              <a:t>n</a:t>
            </a:r>
            <a:r>
              <a:rPr lang="ru-RU" dirty="0"/>
              <a:t>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Принят 11 сентября 2009,  совместим с предыдущими стандартами IEEE 802.11а</a:t>
            </a:r>
            <a:r>
              <a:rPr lang="en-US" dirty="0"/>
              <a:t>/b/g</a:t>
            </a:r>
            <a:endParaRPr lang="ru-RU" dirty="0"/>
          </a:p>
          <a:p>
            <a:r>
              <a:rPr lang="ru-RU" dirty="0"/>
              <a:t>Работает в диапазоне частот 2,4 и 5 ГГц, каналы по 20 и 40 МГц</a:t>
            </a:r>
          </a:p>
          <a:p>
            <a:r>
              <a:rPr lang="ru-RU" dirty="0"/>
              <a:t>Используется </a:t>
            </a:r>
            <a:r>
              <a:rPr lang="en-US" dirty="0"/>
              <a:t>MIMO (Multiple-Input Multiple-Output)</a:t>
            </a:r>
            <a:r>
              <a:rPr lang="ru-RU" dirty="0"/>
              <a:t> с поддержкой 4 потоков</a:t>
            </a:r>
          </a:p>
          <a:p>
            <a:r>
              <a:rPr lang="ru-RU" dirty="0"/>
              <a:t>Скорости передачи до 600 Мбит/с по 4 антеннам (150 Мб/с на антенну)</a:t>
            </a:r>
          </a:p>
          <a:p>
            <a:r>
              <a:rPr lang="ru-RU" dirty="0"/>
              <a:t>Защита данных при помощи шифрования WEP, WPA</a:t>
            </a:r>
            <a:r>
              <a:rPr lang="en-US" dirty="0"/>
              <a:t>, WPA-2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48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702212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MIMO</a:t>
            </a:r>
            <a:r>
              <a:rPr lang="ru-RU" dirty="0"/>
              <a:t> с 4 потоками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Передача и прием данных осуществляются несколькими антеннами одновременно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49</a:t>
            </a:fld>
            <a:endParaRPr lang="ru-RU" dirty="0"/>
          </a:p>
        </p:txBody>
      </p:sp>
      <p:pic>
        <p:nvPicPr>
          <p:cNvPr id="4098" name="Picture 2" descr="http://www.ee.nthu.edu.tw/~yhhuang/Commun6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1682" y="2323859"/>
            <a:ext cx="7200900" cy="3752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33296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Стандарты  беспроводных сетей - IEEE 802.11</a:t>
            </a:r>
            <a:r>
              <a:rPr lang="en-US" dirty="0"/>
              <a:t>ac</a:t>
            </a:r>
            <a:r>
              <a:rPr lang="ru-RU" dirty="0"/>
              <a:t>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Принят в январе 2014,  совместим с предыдущим стандартом IEEE 802.11</a:t>
            </a:r>
            <a:r>
              <a:rPr lang="en-US" dirty="0"/>
              <a:t>n</a:t>
            </a:r>
            <a:endParaRPr lang="ru-RU" dirty="0"/>
          </a:p>
          <a:p>
            <a:r>
              <a:rPr lang="ru-RU" dirty="0"/>
              <a:t>Работает в диапазоне частот 5 ГГц, каналы по 40, 80 и 160 МГц</a:t>
            </a:r>
          </a:p>
          <a:p>
            <a:r>
              <a:rPr lang="ru-RU" dirty="0"/>
              <a:t>Используется </a:t>
            </a:r>
            <a:r>
              <a:rPr lang="en-US" dirty="0"/>
              <a:t>MU-MIMO (Multi User-MIMO)</a:t>
            </a:r>
            <a:r>
              <a:rPr lang="ru-RU" dirty="0"/>
              <a:t> с поддержкой 8 потоков</a:t>
            </a:r>
          </a:p>
          <a:p>
            <a:r>
              <a:rPr lang="ru-RU" dirty="0"/>
              <a:t>Скорости передачи до 6.77 Гбит/с при </a:t>
            </a:r>
            <a:r>
              <a:rPr lang="en-US" dirty="0"/>
              <a:t>                      </a:t>
            </a:r>
            <a:r>
              <a:rPr lang="ru-RU" dirty="0"/>
              <a:t>8x MU-MIMO-антеннах</a:t>
            </a:r>
          </a:p>
          <a:p>
            <a:r>
              <a:rPr lang="ru-RU" dirty="0"/>
              <a:t>Использование 256-</a:t>
            </a:r>
            <a:r>
              <a:rPr lang="en-US" dirty="0"/>
              <a:t>QAM</a:t>
            </a:r>
            <a:endParaRPr lang="ru-RU" dirty="0"/>
          </a:p>
          <a:p>
            <a:r>
              <a:rPr lang="ru-RU" dirty="0"/>
              <a:t>Защита данных при помощи шифрования WEP, WPA</a:t>
            </a:r>
            <a:r>
              <a:rPr lang="en-US" dirty="0"/>
              <a:t>, WPA-2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50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93306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Квадратурная фазовая манипуляция (</a:t>
            </a:r>
            <a:r>
              <a:rPr lang="en-US" dirty="0"/>
              <a:t>Quadrature Phase Shift Key, QPSK) - IEEE 802.11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85B8-078E-46E9-8900-DD1294968094}" type="slidenum">
              <a:rPr lang="ru-RU" smtClean="0"/>
              <a:pPr/>
              <a:t>51</a:t>
            </a:fld>
            <a:endParaRPr lang="ru-RU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780" y="1271451"/>
            <a:ext cx="5211111" cy="54049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 descr="https://upload.wikimedia.org/wikipedia/commons/thumb/8/8f/QPSK_Gray_Coded.svg/200px-QPSK_Gray_Coded.sv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6849" y="1447229"/>
            <a:ext cx="2533825" cy="2635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1013" y="4655847"/>
            <a:ext cx="2567762" cy="131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631447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Рост пропускной способности канала в зависимости от модуляции сигнала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52</a:t>
            </a:fld>
            <a:endParaRPr lang="ru-RU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3489" y="1414413"/>
            <a:ext cx="8337954" cy="5164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6158128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Служебный заголовок </a:t>
            </a:r>
            <a:r>
              <a:rPr lang="en-US" dirty="0"/>
              <a:t>802.11g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02960" y="5014025"/>
            <a:ext cx="8289563" cy="159621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Заголовок состоит из 3-х частей:</a:t>
            </a:r>
          </a:p>
          <a:p>
            <a:r>
              <a:rPr lang="ru-RU" dirty="0"/>
              <a:t>Преамбулы</a:t>
            </a:r>
          </a:p>
          <a:p>
            <a:r>
              <a:rPr lang="ru-RU" dirty="0"/>
              <a:t>Физического заголовка</a:t>
            </a:r>
          </a:p>
          <a:p>
            <a:r>
              <a:rPr lang="ru-RU" dirty="0"/>
              <a:t>Данные модуляции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53</a:t>
            </a:fld>
            <a:endParaRPr lang="ru-RU" dirty="0"/>
          </a:p>
        </p:txBody>
      </p:sp>
      <p:pic>
        <p:nvPicPr>
          <p:cNvPr id="9220" name="Picture 4" descr="http://www.ni.com/cms/images/devzone/tut/image5804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7559" y="1279132"/>
            <a:ext cx="8365763" cy="3620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481042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Поддержка агрегации данных в 802.11</a:t>
            </a:r>
            <a:r>
              <a:rPr lang="en-US" dirty="0"/>
              <a:t>ac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54</a:t>
            </a:fld>
            <a:endParaRPr lang="ru-RU" dirty="0"/>
          </a:p>
        </p:txBody>
      </p:sp>
      <p:pic>
        <p:nvPicPr>
          <p:cNvPr id="8194" name="Picture 2" descr="http://orm-chimera-prod.s3.amazonaws.com/1234000001739/images/easg_0302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369" y="1531536"/>
            <a:ext cx="7389532" cy="3119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930401" y="4935135"/>
            <a:ext cx="82861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В одном передаваемом кадре может содержаться несколько кадров</a:t>
            </a:r>
            <a:r>
              <a:rPr lang="en-US" sz="2400" dirty="0"/>
              <a:t> </a:t>
            </a:r>
            <a:r>
              <a:rPr lang="ru-RU" sz="2400" dirty="0"/>
              <a:t>канального уровня (от 8 КБ до 1 МБ)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Максимальный размер передачи определяется временем (чуть меньше 5,5 миллисекунд – 4,5 МБ)</a:t>
            </a:r>
          </a:p>
        </p:txBody>
      </p:sp>
    </p:spTree>
    <p:extLst>
      <p:ext uri="{BB962C8B-B14F-4D97-AF65-F5344CB8AC3E}">
        <p14:creationId xmlns:p14="http://schemas.microsoft.com/office/powerpoint/2010/main" val="280860755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 </a:t>
            </a:r>
            <a:r>
              <a:rPr lang="ru-RU" dirty="0"/>
              <a:t>заголовки пакетов </a:t>
            </a:r>
            <a:r>
              <a:rPr lang="en-US" dirty="0"/>
              <a:t>802.11n </a:t>
            </a:r>
            <a:r>
              <a:rPr lang="ru-RU" dirty="0"/>
              <a:t>и </a:t>
            </a:r>
            <a:r>
              <a:rPr lang="en-US" dirty="0"/>
              <a:t>ac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55</a:t>
            </a:fld>
            <a:endParaRPr lang="ru-RU" dirty="0"/>
          </a:p>
        </p:txBody>
      </p:sp>
      <p:pic>
        <p:nvPicPr>
          <p:cNvPr id="7172" name="Picture 4" descr="http://cdn.images.postach.io/w600_cebd07a8e60cdf2cd216b9d3cc93605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3474" y="1262900"/>
            <a:ext cx="7146926" cy="2668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http://cdn.images.postach.io/w600_8be6a5957a81c8e11a6e91dcefe6a89b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3474" y="3892025"/>
            <a:ext cx="7146926" cy="296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Прямая соединительная линия 5"/>
          <p:cNvCxnSpPr/>
          <p:nvPr/>
        </p:nvCxnSpPr>
        <p:spPr>
          <a:xfrm>
            <a:off x="2403474" y="3453437"/>
            <a:ext cx="726122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804743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Технологии </a:t>
            </a:r>
            <a:r>
              <a:rPr lang="en-US" dirty="0"/>
              <a:t>802.11n </a:t>
            </a:r>
            <a:r>
              <a:rPr lang="ru-RU" dirty="0"/>
              <a:t>и </a:t>
            </a:r>
            <a:r>
              <a:rPr lang="en-US" dirty="0"/>
              <a:t>ac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Блочное подтверждение (</a:t>
            </a:r>
            <a:r>
              <a:rPr lang="en-US" dirty="0"/>
              <a:t>Block acknowledgement</a:t>
            </a:r>
            <a:r>
              <a:rPr lang="ru-RU" dirty="0"/>
              <a:t>) по стандарту 802.11е</a:t>
            </a:r>
          </a:p>
          <a:p>
            <a:r>
              <a:rPr lang="ru-RU" dirty="0"/>
              <a:t>Контроль качества связи</a:t>
            </a:r>
          </a:p>
          <a:p>
            <a:r>
              <a:rPr lang="ru-RU" dirty="0"/>
              <a:t>Обратная совместимость</a:t>
            </a:r>
          </a:p>
          <a:p>
            <a:r>
              <a:rPr lang="ru-RU" dirty="0"/>
              <a:t>Существует отдельный формат управляющих пакетов при настойке соединения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56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042825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Соотношение длины заголовка и данных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3EB-C589-314F-BBE8-5A42F2EA3755}" type="slidenum">
              <a:rPr lang="ru-RU" smtClean="0"/>
              <a:pPr/>
              <a:t>57</a:t>
            </a:fld>
            <a:endParaRPr lang="ru-RU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6123" y="1406186"/>
            <a:ext cx="8289925" cy="492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982976" y="4614246"/>
            <a:ext cx="41167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Увеличение размера пакетов улучшает соотношения полезных данных к «накладным расходам»</a:t>
            </a:r>
          </a:p>
        </p:txBody>
      </p:sp>
    </p:spTree>
    <p:extLst>
      <p:ext uri="{BB962C8B-B14F-4D97-AF65-F5344CB8AC3E}">
        <p14:creationId xmlns:p14="http://schemas.microsoft.com/office/powerpoint/2010/main" val="900453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low Edge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1317</TotalTime>
  <Words>3129</Words>
  <Application>Microsoft Office PowerPoint</Application>
  <PresentationFormat>Widescreen</PresentationFormat>
  <Paragraphs>559</Paragraphs>
  <Slides>57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4" baseType="lpstr">
      <vt:lpstr>Microsoft YaHei</vt:lpstr>
      <vt:lpstr>Arial</vt:lpstr>
      <vt:lpstr>Calibri</vt:lpstr>
      <vt:lpstr>Calibri Light</vt:lpstr>
      <vt:lpstr>PT Sans</vt:lpstr>
      <vt:lpstr>Times New Roman</vt:lpstr>
      <vt:lpstr>Office Theme</vt:lpstr>
      <vt:lpstr>Сети ЭВМ и телекоммуникации компьютерных сетей</vt:lpstr>
      <vt:lpstr>Канал (звено передачи данных)</vt:lpstr>
      <vt:lpstr>Функции канального уровня</vt:lpstr>
      <vt:lpstr>Области действия и функции DLL</vt:lpstr>
      <vt:lpstr>Инкапсуляция пакетов в кадры</vt:lpstr>
      <vt:lpstr>Бит-ориентированные протоколы</vt:lpstr>
      <vt:lpstr>Использование поля “Длина кадра”</vt:lpstr>
      <vt:lpstr>Использование запрещенных сигналов</vt:lpstr>
      <vt:lpstr>Обнаружение ошибок (искажения данных)</vt:lpstr>
      <vt:lpstr>Maximum Transmission Unit (MTU) </vt:lpstr>
      <vt:lpstr>Особенности локальных сетей</vt:lpstr>
      <vt:lpstr>Подкомитеты 802</vt:lpstr>
      <vt:lpstr>Модель OSI и протоколы LAN</vt:lpstr>
      <vt:lpstr>Подуровень LLC</vt:lpstr>
      <vt:lpstr>Подуровень управления доступом к среде  Medium Access Control Sublayer</vt:lpstr>
      <vt:lpstr>МАС-адрес</vt:lpstr>
      <vt:lpstr>Технология Ethernet (802.3)</vt:lpstr>
      <vt:lpstr>Форматы кадров Ethernet</vt:lpstr>
      <vt:lpstr>Алгоритм определения типа кадра Ethernet</vt:lpstr>
      <vt:lpstr>CSMA/CD</vt:lpstr>
      <vt:lpstr>CSMA/CD</vt:lpstr>
      <vt:lpstr>Collision Detection</vt:lpstr>
      <vt:lpstr>Производительность Ethernet</vt:lpstr>
      <vt:lpstr>Fast Ethernet (100 Мб/c )</vt:lpstr>
      <vt:lpstr>Автосогласование (Auto-negotiation) </vt:lpstr>
      <vt:lpstr>Автосогласование (Auto-negotiation)</vt:lpstr>
      <vt:lpstr>Gigabit Ethernet  (802.3z - 1 Гбит/с)</vt:lpstr>
      <vt:lpstr>Gigabit Ethernet IEEE 802.3ab.  </vt:lpstr>
      <vt:lpstr>DLL : Выводы</vt:lpstr>
      <vt:lpstr>Мосты, коммутаторы</vt:lpstr>
      <vt:lpstr>Повышение производительности</vt:lpstr>
      <vt:lpstr>Объединение разных технологий Bridges from 802.x to 802.y</vt:lpstr>
      <vt:lpstr>Принцип работы моста (коммутатора) Алгоритм прозрачного моста</vt:lpstr>
      <vt:lpstr>Структура из 4 ЛВС и 2 мостов</vt:lpstr>
      <vt:lpstr>Влияние «петель» на работу моста</vt:lpstr>
      <vt:lpstr>Spanning Tree Bridges Алгоритм  покрывающего дерева</vt:lpstr>
      <vt:lpstr>Проблемы создания мостов</vt:lpstr>
      <vt:lpstr>LAN  на коммутаторах </vt:lpstr>
      <vt:lpstr>Виртуальные сети на одном коммутаторе</vt:lpstr>
      <vt:lpstr>VLAN на нескольких коммутаторах с группировкой портов</vt:lpstr>
      <vt:lpstr>IEEE 802.1Q Tagged Frame for Ethernet</vt:lpstr>
      <vt:lpstr>Стандарт IEEE 802.1Q </vt:lpstr>
      <vt:lpstr>Беспроводные сети. Стандарт 802.11 - 1997</vt:lpstr>
      <vt:lpstr>Метод прямой последовательности для расширения спектра (DSSS)</vt:lpstr>
      <vt:lpstr>Стандарты  беспроводных сетей - IEEE 802.11a</vt:lpstr>
      <vt:lpstr>Стандарты  беспроводных сетей - IEEE 802.11b</vt:lpstr>
      <vt:lpstr>Стандарты  беспроводных сетей - IEEE 802.11g </vt:lpstr>
      <vt:lpstr>Стандарты  беспроводных сетей - IEEE 802.11n </vt:lpstr>
      <vt:lpstr>MIMO с 4 потоками</vt:lpstr>
      <vt:lpstr>Стандарты  беспроводных сетей - IEEE 802.11ac </vt:lpstr>
      <vt:lpstr>Квадратурная фазовая манипуляция (Quadrature Phase Shift Key, QPSK) - IEEE 802.11</vt:lpstr>
      <vt:lpstr>Рост пропускной способности канала в зависимости от модуляции сигнала</vt:lpstr>
      <vt:lpstr>Служебный заголовок 802.11g</vt:lpstr>
      <vt:lpstr>Поддержка агрегации данных в 802.11ac</vt:lpstr>
      <vt:lpstr>MAC заголовки пакетов 802.11n и ac</vt:lpstr>
      <vt:lpstr>Технологии 802.11n и ac</vt:lpstr>
      <vt:lpstr>Соотношение длины заголовка и данных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Сети ЭВМ и телекоммуникации компьютерных сетей</dc:title>
  <dc:creator>Владимир Мулюха</dc:creator>
  <cp:lastModifiedBy>Владимир Мулюха</cp:lastModifiedBy>
  <cp:revision>26</cp:revision>
  <dcterms:created xsi:type="dcterms:W3CDTF">2026-01-29T09:33:20Z</dcterms:created>
  <dcterms:modified xsi:type="dcterms:W3CDTF">2026-02-03T21:08:19Z</dcterms:modified>
</cp:coreProperties>
</file>