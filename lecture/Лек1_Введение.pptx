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0" r:id="rId4"/>
    <p:sldId id="261" r:id="rId5"/>
    <p:sldId id="258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1" r:id="rId27"/>
    <p:sldId id="283" r:id="rId28"/>
    <p:sldId id="284" r:id="rId29"/>
    <p:sldId id="285" r:id="rId30"/>
    <p:sldId id="262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45" y="6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8D14A-A2BF-4D2C-97B1-47523DF8FA2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26E42-DDF8-4127-B88A-D6D542749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72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Пакеты проходят по пути через устройства «храни‑и‑передай» (коммутаторы/маршрутизаторы). Каждый выходной интерфейс — это источник данных, его передающий буфер – очередь.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26E42-DDF8-4127-B88A-D6D542749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084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Пакеты проходят по пути через устройства «храни‑и‑передай» (коммутаторы/маршрутизаторы). Каждый выходной интерфейс — это источник данных, его передающий буфер – очередь.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26E42-DDF8-4127-B88A-D6D542749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727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26E42-DDF8-4127-B88A-D6D542749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23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26E42-DDF8-4127-B88A-D6D542749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404" y="2055224"/>
            <a:ext cx="7541623" cy="160278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404" y="3750085"/>
            <a:ext cx="754162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60FA-70EF-4CD3-89A3-57483281B23F}" type="datetime1">
              <a:rPr lang="ru-RU" smtClean="0"/>
              <a:t>29.04.2026</a:t>
            </a:fld>
            <a:endParaRPr lang="ru-RU"/>
          </a:p>
        </p:txBody>
      </p:sp>
      <p:pic>
        <p:nvPicPr>
          <p:cNvPr id="1028" name="Picture 4" descr="https://habrastorage.org/getpro/habr/post_images/f0b/a0e/c89/f0ba0ec89f55b3982050105920980c70.jpg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06" r="14873"/>
          <a:stretch/>
        </p:blipFill>
        <p:spPr bwMode="auto">
          <a:xfrm flipH="1">
            <a:off x="9336069" y="478970"/>
            <a:ext cx="2585962" cy="57563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softEdge rad="127000"/>
          </a:effectLst>
        </p:spPr>
      </p:pic>
      <p:pic>
        <p:nvPicPr>
          <p:cNvPr id="1030" name="Picture 6" descr="https://www.spbstu.ru/upload/branding/logo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14"/>
            <a:ext cx="5235031" cy="196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09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909" y="0"/>
            <a:ext cx="10125891" cy="1087927"/>
          </a:xfrm>
        </p:spPr>
        <p:txBody>
          <a:bodyPr>
            <a:normAutofit/>
          </a:bodyPr>
          <a:lstStyle>
            <a:lvl1pPr>
              <a:defRPr sz="3200" b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271451"/>
            <a:ext cx="11747863" cy="5355772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0" y="0"/>
            <a:ext cx="838200" cy="1087927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fld id="{7B1085B8-078E-46E9-8900-DD129496809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50" name="Picture 2" descr="https://www.spbstu.ru/upload/branding/logo_03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7909" cy="108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113211" y="1087927"/>
            <a:ext cx="119220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90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8F1F6-3B01-4815-8B35-A2FA67A63612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085B8-078E-46E9-8900-DD12949680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53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/>
              <a:t>Сети ЭВМ и телекоммуникации компьютерных сетей</a:t>
            </a:r>
            <a:endParaRPr lang="ru-RU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 1: Введение: от битов к пакетам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3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занятий по дисциплине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Отчетность по дисциплине:</a:t>
            </a:r>
          </a:p>
          <a:p>
            <a:pPr lvl="1"/>
            <a:r>
              <a:rPr lang="ru-RU" dirty="0" smtClean="0"/>
              <a:t>Курсовая работа (совокупность сданных лабораторных работ) – зачет</a:t>
            </a:r>
          </a:p>
          <a:p>
            <a:pPr lvl="1"/>
            <a:r>
              <a:rPr lang="ru-RU" dirty="0" smtClean="0"/>
              <a:t>Экзамен – устный экзамен по курсу</a:t>
            </a:r>
          </a:p>
          <a:p>
            <a:pPr lvl="1"/>
            <a:endParaRPr lang="ru-RU" dirty="0" smtClean="0"/>
          </a:p>
          <a:p>
            <a:r>
              <a:rPr lang="ru-RU" dirty="0" smtClean="0"/>
              <a:t>Курс состоит из </a:t>
            </a:r>
            <a:r>
              <a:rPr lang="ru-RU" dirty="0" smtClean="0"/>
              <a:t>10 </a:t>
            </a:r>
            <a:r>
              <a:rPr lang="ru-RU" dirty="0" smtClean="0"/>
              <a:t>лекций и </a:t>
            </a:r>
            <a:r>
              <a:rPr lang="ru-RU" dirty="0" smtClean="0"/>
              <a:t>4 лабораторных </a:t>
            </a:r>
            <a:r>
              <a:rPr lang="ru-RU" dirty="0" smtClean="0"/>
              <a:t>работ</a:t>
            </a:r>
          </a:p>
          <a:p>
            <a:endParaRPr lang="ru-RU" dirty="0" smtClean="0"/>
          </a:p>
          <a:p>
            <a:r>
              <a:rPr lang="ru-RU" dirty="0" smtClean="0"/>
              <a:t>Цель курса – ознакомиться с современными сетевыми технологиями от битов в поводе до поведения приложений, а также получить практические навыки работы с компьютерными сетями</a:t>
            </a:r>
          </a:p>
          <a:p>
            <a:endParaRPr lang="ru-RU" dirty="0" smtClean="0"/>
          </a:p>
          <a:p>
            <a:r>
              <a:rPr lang="ru-RU" dirty="0" smtClean="0"/>
              <a:t>Каждое современное </a:t>
            </a:r>
            <a:r>
              <a:rPr lang="ru-RU" dirty="0"/>
              <a:t>приложение </a:t>
            </a:r>
            <a:r>
              <a:rPr lang="ru-RU" dirty="0" smtClean="0"/>
              <a:t>– </a:t>
            </a:r>
            <a:r>
              <a:rPr lang="ru-RU" dirty="0"/>
              <a:t>это распределённая система, связанная </a:t>
            </a:r>
            <a:r>
              <a:rPr lang="ru-RU" dirty="0" smtClean="0"/>
              <a:t>сетью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621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 по курсу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 smtClean="0">
                <a:latin typeface="PT Sans"/>
              </a:rPr>
              <a:t>Олифер</a:t>
            </a:r>
            <a:r>
              <a:rPr lang="ru-RU" dirty="0" smtClean="0">
                <a:latin typeface="PT Sans"/>
              </a:rPr>
              <a:t> В.Г., </a:t>
            </a:r>
            <a:r>
              <a:rPr lang="ru-RU" dirty="0" err="1" smtClean="0">
                <a:latin typeface="PT Sans"/>
              </a:rPr>
              <a:t>Олифер</a:t>
            </a:r>
            <a:r>
              <a:rPr lang="ru-RU" dirty="0" smtClean="0">
                <a:latin typeface="PT Sans"/>
              </a:rPr>
              <a:t> Н.А. - Компьютерные сети. Принципы, технологии, протоколы. </a:t>
            </a:r>
          </a:p>
          <a:p>
            <a:r>
              <a:rPr lang="ru-RU" dirty="0" err="1" smtClean="0">
                <a:latin typeface="PT Sans"/>
              </a:rPr>
              <a:t>Э.Таненбаум</a:t>
            </a:r>
            <a:r>
              <a:rPr lang="ru-RU" dirty="0" smtClean="0">
                <a:latin typeface="PT Sans"/>
              </a:rPr>
              <a:t>, </a:t>
            </a:r>
            <a:r>
              <a:rPr lang="ru-RU" dirty="0" err="1" smtClean="0">
                <a:latin typeface="PT Sans"/>
              </a:rPr>
              <a:t>Д.Уэзеролл</a:t>
            </a:r>
            <a:r>
              <a:rPr lang="ru-RU" dirty="0" smtClean="0">
                <a:latin typeface="PT Sans"/>
              </a:rPr>
              <a:t>. - Компьютерные сети.</a:t>
            </a:r>
          </a:p>
          <a:p>
            <a:r>
              <a:rPr lang="ru-RU" dirty="0" smtClean="0">
                <a:latin typeface="PT Sans"/>
              </a:rPr>
              <a:t>Д. Ф. </a:t>
            </a:r>
            <a:r>
              <a:rPr lang="ru-RU" dirty="0" err="1" smtClean="0">
                <a:latin typeface="PT Sans"/>
              </a:rPr>
              <a:t>Куроуз</a:t>
            </a:r>
            <a:r>
              <a:rPr lang="ru-RU" dirty="0" smtClean="0">
                <a:latin typeface="PT Sans"/>
              </a:rPr>
              <a:t>, К. В. Росс. - Компьютерные сети. Нисходящий подход</a:t>
            </a:r>
          </a:p>
          <a:p>
            <a:r>
              <a:rPr lang="ru-RU" dirty="0" err="1" smtClean="0">
                <a:latin typeface="PT Sans"/>
              </a:rPr>
              <a:t>Олифер</a:t>
            </a:r>
            <a:r>
              <a:rPr lang="ru-RU" dirty="0" smtClean="0">
                <a:latin typeface="PT Sans"/>
              </a:rPr>
              <a:t> В.Г., </a:t>
            </a:r>
            <a:r>
              <a:rPr lang="ru-RU" dirty="0" err="1" smtClean="0">
                <a:latin typeface="PT Sans"/>
              </a:rPr>
              <a:t>Олифер</a:t>
            </a:r>
            <a:r>
              <a:rPr lang="ru-RU" dirty="0" smtClean="0">
                <a:latin typeface="PT Sans"/>
              </a:rPr>
              <a:t> Н.А. – Основы компьютерных сетей</a:t>
            </a:r>
          </a:p>
          <a:p>
            <a:pPr marL="0" indent="0" algn="ctr">
              <a:lnSpc>
                <a:spcPct val="110000"/>
              </a:lnSpc>
              <a:buNone/>
            </a:pPr>
            <a:endParaRPr lang="ru-RU" sz="5000" b="1" dirty="0" smtClean="0">
              <a:solidFill>
                <a:srgbClr val="276D3F"/>
              </a:solidFill>
              <a:latin typeface="PT Sans"/>
            </a:endParaRPr>
          </a:p>
          <a:p>
            <a:r>
              <a:rPr lang="ru-RU" dirty="0" smtClean="0">
                <a:latin typeface="PT Sans"/>
              </a:rPr>
              <a:t>http://www.olifer.co.uk/	</a:t>
            </a:r>
          </a:p>
          <a:p>
            <a:r>
              <a:rPr lang="ru-RU" dirty="0" smtClean="0">
                <a:latin typeface="PT Sans"/>
              </a:rPr>
              <a:t>http://www.cse.wustl.edu/~jain/</a:t>
            </a:r>
          </a:p>
          <a:p>
            <a:r>
              <a:rPr lang="ru-RU" dirty="0" smtClean="0">
                <a:latin typeface="PT Sans"/>
              </a:rPr>
              <a:t>http://www.citforum.ru/nets/</a:t>
            </a:r>
          </a:p>
          <a:p>
            <a:r>
              <a:rPr lang="ru-RU" dirty="0" smtClean="0">
                <a:latin typeface="PT Sans"/>
              </a:rPr>
              <a:t>http://rtfm.vtt.net/tcp_ip/index.html</a:t>
            </a:r>
          </a:p>
          <a:p>
            <a:pPr marL="0" indent="0">
              <a:buNone/>
            </a:pPr>
            <a:endParaRPr lang="ru-RU" dirty="0" smtClean="0">
              <a:latin typeface="PT Sans"/>
            </a:endParaRPr>
          </a:p>
          <a:p>
            <a:pPr marL="0" indent="0">
              <a:buNone/>
            </a:pPr>
            <a:endParaRPr lang="ru-RU" dirty="0" smtClean="0">
              <a:latin typeface="PT Sans"/>
            </a:endParaRPr>
          </a:p>
          <a:p>
            <a:pPr marL="0" indent="0">
              <a:buNone/>
            </a:pPr>
            <a:r>
              <a:rPr lang="ru-RU" dirty="0" smtClean="0">
                <a:latin typeface="PT Sans"/>
              </a:rPr>
              <a:t>В презентациях использованы рисунки из перечисленных источников и открытых ресурсов сети Интернет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440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Проблематика телекоммуникации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Физическая передача данных по линиям связи</a:t>
            </a:r>
          </a:p>
          <a:p>
            <a:r>
              <a:rPr lang="ru-RU" dirty="0" smtClean="0"/>
              <a:t>Объединение большого числа абонентов</a:t>
            </a:r>
          </a:p>
          <a:p>
            <a:r>
              <a:rPr lang="ru-RU" dirty="0" smtClean="0"/>
              <a:t>Обеспечения качества передачи</a:t>
            </a:r>
          </a:p>
          <a:p>
            <a:r>
              <a:rPr lang="ru-RU" dirty="0" smtClean="0"/>
              <a:t>Обеспечения безопасности</a:t>
            </a:r>
          </a:p>
          <a:p>
            <a:r>
              <a:rPr lang="ru-RU" dirty="0" smtClean="0"/>
              <a:t>Экономическая эффективность</a:t>
            </a:r>
          </a:p>
          <a:p>
            <a:r>
              <a:rPr lang="ru-RU" dirty="0" smtClean="0"/>
              <a:t>Управление (администрирование) сетью</a:t>
            </a:r>
          </a:p>
          <a:p>
            <a:r>
              <a:rPr lang="ru-RU" dirty="0" smtClean="0"/>
              <a:t>Совместимость устройств и ПО разных производителей и сетей (сервисов) разных администраторов </a:t>
            </a:r>
          </a:p>
          <a:p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Все проблемы взаимосвязаны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68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Интернет – система очередей. Коммутация каналов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7566" y="1271451"/>
            <a:ext cx="8107680" cy="1637212"/>
          </a:xfrm>
        </p:spPr>
        <p:txBody>
          <a:bodyPr/>
          <a:lstStyle/>
          <a:p>
            <a:r>
              <a:rPr lang="ru-RU" dirty="0" smtClean="0"/>
              <a:t>Очень много соединений</a:t>
            </a:r>
          </a:p>
          <a:p>
            <a:r>
              <a:rPr lang="ru-RU" dirty="0" smtClean="0"/>
              <a:t>Большинство соединений не используются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01" y="1222688"/>
            <a:ext cx="2787922" cy="272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42108" y="4540703"/>
            <a:ext cx="5194323" cy="163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Линии связи бывают «заняты»</a:t>
            </a:r>
          </a:p>
          <a:p>
            <a:r>
              <a:rPr lang="ru-RU" dirty="0" smtClean="0"/>
              <a:t>Хорошо для регулярного трафика</a:t>
            </a:r>
          </a:p>
          <a:p>
            <a:endParaRPr lang="ru-RU" dirty="0"/>
          </a:p>
        </p:txBody>
      </p:sp>
      <p:grpSp>
        <p:nvGrpSpPr>
          <p:cNvPr id="7" name="Group 6"/>
          <p:cNvGrpSpPr/>
          <p:nvPr/>
        </p:nvGrpSpPr>
        <p:grpSpPr>
          <a:xfrm>
            <a:off x="5963513" y="3735842"/>
            <a:ext cx="5914832" cy="2521132"/>
            <a:chOff x="5920651" y="4093029"/>
            <a:chExt cx="5914832" cy="2521132"/>
          </a:xfrm>
        </p:grpSpPr>
        <p:pic>
          <p:nvPicPr>
            <p:cNvPr id="3076" name="Picture 4" descr="Picture background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540"/>
            <a:stretch/>
          </p:blipFill>
          <p:spPr bwMode="auto">
            <a:xfrm>
              <a:off x="5920651" y="4093029"/>
              <a:ext cx="5914832" cy="25211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9009698" y="6177915"/>
              <a:ext cx="711517" cy="4362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13692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Интернет – система очередей. Коммутация пакетов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3419475"/>
            <a:ext cx="11747863" cy="3207747"/>
          </a:xfrm>
        </p:spPr>
        <p:txBody>
          <a:bodyPr/>
          <a:lstStyle/>
          <a:p>
            <a:r>
              <a:rPr lang="ru-RU" dirty="0" smtClean="0"/>
              <a:t>Информация делится на части с заданной структурой – пакеты</a:t>
            </a:r>
          </a:p>
          <a:p>
            <a:r>
              <a:rPr lang="ru-RU" dirty="0" smtClean="0"/>
              <a:t>Каждый пакет обрабатывается независимо</a:t>
            </a:r>
          </a:p>
          <a:p>
            <a:r>
              <a:rPr lang="ru-RU" dirty="0" smtClean="0"/>
              <a:t>Характеристики линий связи с и устройств сети различаются</a:t>
            </a:r>
          </a:p>
          <a:p>
            <a:r>
              <a:rPr lang="ru-RU" dirty="0" smtClean="0"/>
              <a:t>Для хранения пакетов в устройствах используется память (буфер)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6</a:t>
            </a:fld>
            <a:endParaRPr lang="ru-RU" dirty="0"/>
          </a:p>
        </p:txBody>
      </p:sp>
      <p:grpSp>
        <p:nvGrpSpPr>
          <p:cNvPr id="5" name="Группа 1052"/>
          <p:cNvGrpSpPr/>
          <p:nvPr/>
        </p:nvGrpSpPr>
        <p:grpSpPr>
          <a:xfrm>
            <a:off x="382789" y="1154909"/>
            <a:ext cx="7428322" cy="1857373"/>
            <a:chOff x="1090021" y="4319590"/>
            <a:chExt cx="7428322" cy="1857373"/>
          </a:xfrm>
        </p:grpSpPr>
        <p:sp>
          <p:nvSpPr>
            <p:cNvPr id="6" name="laptop"/>
            <p:cNvSpPr>
              <a:spLocks noEditPoints="1" noChangeArrowheads="1"/>
            </p:cNvSpPr>
            <p:nvPr/>
          </p:nvSpPr>
          <p:spPr bwMode="auto">
            <a:xfrm>
              <a:off x="1090021" y="47244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" name="laptop"/>
            <p:cNvSpPr>
              <a:spLocks noEditPoints="1" noChangeArrowheads="1"/>
            </p:cNvSpPr>
            <p:nvPr/>
          </p:nvSpPr>
          <p:spPr bwMode="auto">
            <a:xfrm>
              <a:off x="2842626" y="47244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" name="laptop"/>
            <p:cNvSpPr>
              <a:spLocks noEditPoints="1" noChangeArrowheads="1"/>
            </p:cNvSpPr>
            <p:nvPr/>
          </p:nvSpPr>
          <p:spPr bwMode="auto">
            <a:xfrm>
              <a:off x="4711938" y="4738689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laptop"/>
            <p:cNvSpPr>
              <a:spLocks noEditPoints="1" noChangeArrowheads="1"/>
            </p:cNvSpPr>
            <p:nvPr/>
          </p:nvSpPr>
          <p:spPr bwMode="auto">
            <a:xfrm>
              <a:off x="6555174" y="4319590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laptop"/>
            <p:cNvSpPr>
              <a:spLocks noEditPoints="1" noChangeArrowheads="1"/>
            </p:cNvSpPr>
            <p:nvPr/>
          </p:nvSpPr>
          <p:spPr bwMode="auto">
            <a:xfrm>
              <a:off x="7955170" y="4922045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laptop"/>
            <p:cNvSpPr>
              <a:spLocks noEditPoints="1" noChangeArrowheads="1"/>
            </p:cNvSpPr>
            <p:nvPr/>
          </p:nvSpPr>
          <p:spPr bwMode="auto">
            <a:xfrm>
              <a:off x="5749518" y="57531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laptop"/>
            <p:cNvSpPr>
              <a:spLocks noEditPoints="1" noChangeArrowheads="1"/>
            </p:cNvSpPr>
            <p:nvPr/>
          </p:nvSpPr>
          <p:spPr bwMode="auto">
            <a:xfrm>
              <a:off x="7093345" y="57531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cxnSp>
          <p:nvCxnSpPr>
            <p:cNvPr id="13" name="Прямая соединительная линия 1035"/>
            <p:cNvCxnSpPr>
              <a:stCxn id="6" idx="3"/>
              <a:endCxn id="7" idx="1"/>
            </p:cNvCxnSpPr>
            <p:nvPr/>
          </p:nvCxnSpPr>
          <p:spPr>
            <a:xfrm>
              <a:off x="1567858" y="4865159"/>
              <a:ext cx="136242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037"/>
            <p:cNvCxnSpPr>
              <a:stCxn id="7" idx="3"/>
              <a:endCxn id="8" idx="1"/>
            </p:cNvCxnSpPr>
            <p:nvPr/>
          </p:nvCxnSpPr>
          <p:spPr>
            <a:xfrm>
              <a:off x="3320463" y="4865159"/>
              <a:ext cx="1479132" cy="142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039"/>
            <p:cNvCxnSpPr>
              <a:stCxn id="8" idx="3"/>
              <a:endCxn id="9" idx="1"/>
            </p:cNvCxnSpPr>
            <p:nvPr/>
          </p:nvCxnSpPr>
          <p:spPr>
            <a:xfrm flipV="1">
              <a:off x="5189775" y="4460348"/>
              <a:ext cx="1453056" cy="4190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41"/>
            <p:cNvCxnSpPr>
              <a:stCxn id="9" idx="3"/>
              <a:endCxn id="10" idx="1"/>
            </p:cNvCxnSpPr>
            <p:nvPr/>
          </p:nvCxnSpPr>
          <p:spPr>
            <a:xfrm>
              <a:off x="7033011" y="4460348"/>
              <a:ext cx="1009816" cy="6024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043"/>
            <p:cNvCxnSpPr>
              <a:stCxn id="12" idx="3"/>
              <a:endCxn id="10" idx="6"/>
            </p:cNvCxnSpPr>
            <p:nvPr/>
          </p:nvCxnSpPr>
          <p:spPr>
            <a:xfrm flipV="1">
              <a:off x="7571182" y="5345907"/>
              <a:ext cx="383988" cy="54795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045"/>
            <p:cNvCxnSpPr>
              <a:stCxn id="9" idx="5"/>
              <a:endCxn id="12" idx="4"/>
            </p:cNvCxnSpPr>
            <p:nvPr/>
          </p:nvCxnSpPr>
          <p:spPr>
            <a:xfrm>
              <a:off x="6836761" y="4743452"/>
              <a:ext cx="538171" cy="10096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047"/>
            <p:cNvCxnSpPr>
              <a:stCxn id="11" idx="3"/>
              <a:endCxn id="12" idx="1"/>
            </p:cNvCxnSpPr>
            <p:nvPr/>
          </p:nvCxnSpPr>
          <p:spPr>
            <a:xfrm>
              <a:off x="6227355" y="5893859"/>
              <a:ext cx="95364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049"/>
            <p:cNvCxnSpPr>
              <a:stCxn id="8" idx="5"/>
              <a:endCxn id="11" idx="4"/>
            </p:cNvCxnSpPr>
            <p:nvPr/>
          </p:nvCxnSpPr>
          <p:spPr>
            <a:xfrm>
              <a:off x="4993525" y="5162551"/>
              <a:ext cx="1037580" cy="5905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1051"/>
            <p:cNvCxnSpPr>
              <a:stCxn id="11" idx="1"/>
              <a:endCxn id="7" idx="7"/>
            </p:cNvCxnSpPr>
            <p:nvPr/>
          </p:nvCxnSpPr>
          <p:spPr>
            <a:xfrm flipH="1" flipV="1">
              <a:off x="3405799" y="5148263"/>
              <a:ext cx="2431376" cy="7455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163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Интернет – система очередей. Коммутация пакетов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3419475"/>
            <a:ext cx="11747863" cy="3207747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Если скорость поступления данных больше скорости передачи – накапливается очередь</a:t>
            </a:r>
          </a:p>
          <a:p>
            <a:r>
              <a:rPr lang="ru-RU" dirty="0" smtClean="0"/>
              <a:t>Чем больше очередь – тем выше задержка</a:t>
            </a:r>
          </a:p>
          <a:p>
            <a:r>
              <a:rPr lang="ru-RU" dirty="0" smtClean="0"/>
              <a:t>Переполнение очереди – потеря пакетов</a:t>
            </a:r>
          </a:p>
          <a:p>
            <a:r>
              <a:rPr lang="ru-RU" dirty="0" smtClean="0"/>
              <a:t>Задержка: обработка (</a:t>
            </a:r>
            <a:r>
              <a:rPr lang="ru-RU" i="1" dirty="0" smtClean="0"/>
              <a:t>почти </a:t>
            </a:r>
            <a:r>
              <a:rPr lang="en-US" i="1" dirty="0" err="1" smtClean="0"/>
              <a:t>const</a:t>
            </a:r>
            <a:r>
              <a:rPr lang="en-US" dirty="0" smtClean="0"/>
              <a:t>)</a:t>
            </a:r>
            <a:r>
              <a:rPr lang="ru-RU" dirty="0"/>
              <a:t> </a:t>
            </a:r>
            <a:r>
              <a:rPr lang="ru-RU" dirty="0" smtClean="0"/>
              <a:t>+ ожидание в очереди + передача (распространение – </a:t>
            </a:r>
            <a:r>
              <a:rPr lang="ru-RU" i="1" dirty="0" smtClean="0"/>
              <a:t>почти </a:t>
            </a:r>
            <a:r>
              <a:rPr lang="en-US" i="1" dirty="0" err="1" smtClean="0"/>
              <a:t>const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ru-RU" dirty="0" smtClean="0"/>
              <a:t>Вариабельность задержки – </a:t>
            </a:r>
            <a:r>
              <a:rPr lang="ru-RU" dirty="0" err="1" smtClean="0"/>
              <a:t>джиттер</a:t>
            </a:r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7</a:t>
            </a:fld>
            <a:endParaRPr lang="ru-RU" dirty="0"/>
          </a:p>
        </p:txBody>
      </p:sp>
      <p:grpSp>
        <p:nvGrpSpPr>
          <p:cNvPr id="5" name="Группа 1052"/>
          <p:cNvGrpSpPr/>
          <p:nvPr/>
        </p:nvGrpSpPr>
        <p:grpSpPr>
          <a:xfrm>
            <a:off x="382789" y="1154909"/>
            <a:ext cx="7428322" cy="1857373"/>
            <a:chOff x="1090021" y="4319590"/>
            <a:chExt cx="7428322" cy="1857373"/>
          </a:xfrm>
        </p:grpSpPr>
        <p:sp>
          <p:nvSpPr>
            <p:cNvPr id="6" name="laptop"/>
            <p:cNvSpPr>
              <a:spLocks noEditPoints="1" noChangeArrowheads="1"/>
            </p:cNvSpPr>
            <p:nvPr/>
          </p:nvSpPr>
          <p:spPr bwMode="auto">
            <a:xfrm>
              <a:off x="1090021" y="47244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" name="laptop"/>
            <p:cNvSpPr>
              <a:spLocks noEditPoints="1" noChangeArrowheads="1"/>
            </p:cNvSpPr>
            <p:nvPr/>
          </p:nvSpPr>
          <p:spPr bwMode="auto">
            <a:xfrm>
              <a:off x="2842626" y="47244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" name="laptop"/>
            <p:cNvSpPr>
              <a:spLocks noEditPoints="1" noChangeArrowheads="1"/>
            </p:cNvSpPr>
            <p:nvPr/>
          </p:nvSpPr>
          <p:spPr bwMode="auto">
            <a:xfrm>
              <a:off x="4711938" y="4738689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laptop"/>
            <p:cNvSpPr>
              <a:spLocks noEditPoints="1" noChangeArrowheads="1"/>
            </p:cNvSpPr>
            <p:nvPr/>
          </p:nvSpPr>
          <p:spPr bwMode="auto">
            <a:xfrm>
              <a:off x="6555174" y="4319590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laptop"/>
            <p:cNvSpPr>
              <a:spLocks noEditPoints="1" noChangeArrowheads="1"/>
            </p:cNvSpPr>
            <p:nvPr/>
          </p:nvSpPr>
          <p:spPr bwMode="auto">
            <a:xfrm>
              <a:off x="7955170" y="4922045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laptop"/>
            <p:cNvSpPr>
              <a:spLocks noEditPoints="1" noChangeArrowheads="1"/>
            </p:cNvSpPr>
            <p:nvPr/>
          </p:nvSpPr>
          <p:spPr bwMode="auto">
            <a:xfrm>
              <a:off x="5749518" y="57531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laptop"/>
            <p:cNvSpPr>
              <a:spLocks noEditPoints="1" noChangeArrowheads="1"/>
            </p:cNvSpPr>
            <p:nvPr/>
          </p:nvSpPr>
          <p:spPr bwMode="auto">
            <a:xfrm>
              <a:off x="7093345" y="57531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cxnSp>
          <p:nvCxnSpPr>
            <p:cNvPr id="13" name="Прямая соединительная линия 1035"/>
            <p:cNvCxnSpPr>
              <a:stCxn id="6" idx="3"/>
              <a:endCxn id="7" idx="1"/>
            </p:cNvCxnSpPr>
            <p:nvPr/>
          </p:nvCxnSpPr>
          <p:spPr>
            <a:xfrm>
              <a:off x="1567858" y="4865159"/>
              <a:ext cx="136242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037"/>
            <p:cNvCxnSpPr>
              <a:stCxn id="7" idx="3"/>
              <a:endCxn id="8" idx="1"/>
            </p:cNvCxnSpPr>
            <p:nvPr/>
          </p:nvCxnSpPr>
          <p:spPr>
            <a:xfrm>
              <a:off x="3320463" y="4865159"/>
              <a:ext cx="1479132" cy="142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039"/>
            <p:cNvCxnSpPr>
              <a:stCxn id="8" idx="3"/>
              <a:endCxn id="9" idx="1"/>
            </p:cNvCxnSpPr>
            <p:nvPr/>
          </p:nvCxnSpPr>
          <p:spPr>
            <a:xfrm flipV="1">
              <a:off x="5189775" y="4460348"/>
              <a:ext cx="1453056" cy="419099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41"/>
            <p:cNvCxnSpPr>
              <a:stCxn id="9" idx="3"/>
              <a:endCxn id="10" idx="1"/>
            </p:cNvCxnSpPr>
            <p:nvPr/>
          </p:nvCxnSpPr>
          <p:spPr>
            <a:xfrm>
              <a:off x="7033011" y="4460348"/>
              <a:ext cx="1009816" cy="602455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043"/>
            <p:cNvCxnSpPr>
              <a:stCxn id="12" idx="3"/>
              <a:endCxn id="10" idx="6"/>
            </p:cNvCxnSpPr>
            <p:nvPr/>
          </p:nvCxnSpPr>
          <p:spPr>
            <a:xfrm flipV="1">
              <a:off x="7571182" y="5345907"/>
              <a:ext cx="383988" cy="54795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045"/>
            <p:cNvCxnSpPr>
              <a:stCxn id="9" idx="5"/>
              <a:endCxn id="12" idx="4"/>
            </p:cNvCxnSpPr>
            <p:nvPr/>
          </p:nvCxnSpPr>
          <p:spPr>
            <a:xfrm>
              <a:off x="6836761" y="4743452"/>
              <a:ext cx="538171" cy="1009649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047"/>
            <p:cNvCxnSpPr>
              <a:stCxn id="11" idx="3"/>
              <a:endCxn id="12" idx="1"/>
            </p:cNvCxnSpPr>
            <p:nvPr/>
          </p:nvCxnSpPr>
          <p:spPr>
            <a:xfrm>
              <a:off x="6227355" y="5893859"/>
              <a:ext cx="953647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049"/>
            <p:cNvCxnSpPr>
              <a:stCxn id="8" idx="5"/>
              <a:endCxn id="11" idx="4"/>
            </p:cNvCxnSpPr>
            <p:nvPr/>
          </p:nvCxnSpPr>
          <p:spPr>
            <a:xfrm>
              <a:off x="4993525" y="5162551"/>
              <a:ext cx="1037580" cy="5905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1051"/>
            <p:cNvCxnSpPr>
              <a:stCxn id="11" idx="1"/>
              <a:endCxn id="7" idx="7"/>
            </p:cNvCxnSpPr>
            <p:nvPr/>
          </p:nvCxnSpPr>
          <p:spPr>
            <a:xfrm flipH="1" flipV="1">
              <a:off x="3405799" y="5148263"/>
              <a:ext cx="2431376" cy="74559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/>
          <p:cNvCxnSpPr>
            <a:stCxn id="7" idx="3"/>
            <a:endCxn id="8" idx="1"/>
          </p:cNvCxnSpPr>
          <p:nvPr/>
        </p:nvCxnSpPr>
        <p:spPr>
          <a:xfrm>
            <a:off x="2613231" y="1700478"/>
            <a:ext cx="1479132" cy="142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39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Интернет – система очередей. Коммутация пакетов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3419475"/>
            <a:ext cx="11747863" cy="3207747"/>
          </a:xfrm>
        </p:spPr>
        <p:txBody>
          <a:bodyPr>
            <a:normAutofit/>
          </a:bodyPr>
          <a:lstStyle/>
          <a:p>
            <a:r>
              <a:rPr lang="ru-RU" dirty="0" smtClean="0"/>
              <a:t>Сети неформально подчиняются закону </a:t>
            </a:r>
            <a:r>
              <a:rPr lang="ru-RU" dirty="0" err="1" smtClean="0"/>
              <a:t>Литтла</a:t>
            </a:r>
            <a:r>
              <a:rPr lang="ru-RU" dirty="0" smtClean="0"/>
              <a:t> (размер очереди = пропускная способность * среднее время пакета в очереди) =</a:t>
            </a:r>
            <a:r>
              <a:rPr lang="en-US" dirty="0" smtClean="0"/>
              <a:t>&gt; </a:t>
            </a:r>
            <a:r>
              <a:rPr lang="ru-RU" dirty="0" smtClean="0"/>
              <a:t>чем выше загруженность, тем больше задержки</a:t>
            </a:r>
          </a:p>
          <a:p>
            <a:r>
              <a:rPr lang="ru-RU" dirty="0" smtClean="0"/>
              <a:t>Потери – «что отбрасывать и когда?»:</a:t>
            </a:r>
          </a:p>
          <a:p>
            <a:pPr lvl="1"/>
            <a:r>
              <a:rPr lang="en-US" dirty="0" smtClean="0"/>
              <a:t>Drop-Tail</a:t>
            </a:r>
            <a:endParaRPr lang="ru-RU" dirty="0" smtClean="0"/>
          </a:p>
          <a:p>
            <a:pPr lvl="1"/>
            <a:r>
              <a:rPr lang="ru-RU" dirty="0" smtClean="0"/>
              <a:t>Случайные пакеты (</a:t>
            </a:r>
            <a:r>
              <a:rPr lang="en-US" dirty="0" smtClean="0"/>
              <a:t>RED</a:t>
            </a:r>
            <a:r>
              <a:rPr lang="ru-RU" dirty="0" smtClean="0"/>
              <a:t>, </a:t>
            </a:r>
            <a:r>
              <a:rPr lang="en-US" dirty="0" smtClean="0"/>
              <a:t>Blue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/>
              <a:t>Отметки </a:t>
            </a:r>
            <a:r>
              <a:rPr lang="en-US" dirty="0" smtClean="0"/>
              <a:t>ECN</a:t>
            </a:r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8</a:t>
            </a:fld>
            <a:endParaRPr lang="ru-RU" dirty="0"/>
          </a:p>
        </p:txBody>
      </p:sp>
      <p:grpSp>
        <p:nvGrpSpPr>
          <p:cNvPr id="5" name="Группа 1052"/>
          <p:cNvGrpSpPr/>
          <p:nvPr/>
        </p:nvGrpSpPr>
        <p:grpSpPr>
          <a:xfrm>
            <a:off x="382789" y="1154909"/>
            <a:ext cx="7428322" cy="1857373"/>
            <a:chOff x="1090021" y="4319590"/>
            <a:chExt cx="7428322" cy="1857373"/>
          </a:xfrm>
        </p:grpSpPr>
        <p:sp>
          <p:nvSpPr>
            <p:cNvPr id="6" name="laptop"/>
            <p:cNvSpPr>
              <a:spLocks noEditPoints="1" noChangeArrowheads="1"/>
            </p:cNvSpPr>
            <p:nvPr/>
          </p:nvSpPr>
          <p:spPr bwMode="auto">
            <a:xfrm>
              <a:off x="1090021" y="47244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" name="laptop"/>
            <p:cNvSpPr>
              <a:spLocks noEditPoints="1" noChangeArrowheads="1"/>
            </p:cNvSpPr>
            <p:nvPr/>
          </p:nvSpPr>
          <p:spPr bwMode="auto">
            <a:xfrm>
              <a:off x="2842626" y="47244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" name="laptop"/>
            <p:cNvSpPr>
              <a:spLocks noEditPoints="1" noChangeArrowheads="1"/>
            </p:cNvSpPr>
            <p:nvPr/>
          </p:nvSpPr>
          <p:spPr bwMode="auto">
            <a:xfrm>
              <a:off x="4711938" y="4738689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laptop"/>
            <p:cNvSpPr>
              <a:spLocks noEditPoints="1" noChangeArrowheads="1"/>
            </p:cNvSpPr>
            <p:nvPr/>
          </p:nvSpPr>
          <p:spPr bwMode="auto">
            <a:xfrm>
              <a:off x="6555174" y="4319590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laptop"/>
            <p:cNvSpPr>
              <a:spLocks noEditPoints="1" noChangeArrowheads="1"/>
            </p:cNvSpPr>
            <p:nvPr/>
          </p:nvSpPr>
          <p:spPr bwMode="auto">
            <a:xfrm>
              <a:off x="7955170" y="4922045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laptop"/>
            <p:cNvSpPr>
              <a:spLocks noEditPoints="1" noChangeArrowheads="1"/>
            </p:cNvSpPr>
            <p:nvPr/>
          </p:nvSpPr>
          <p:spPr bwMode="auto">
            <a:xfrm>
              <a:off x="5749518" y="57531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laptop"/>
            <p:cNvSpPr>
              <a:spLocks noEditPoints="1" noChangeArrowheads="1"/>
            </p:cNvSpPr>
            <p:nvPr/>
          </p:nvSpPr>
          <p:spPr bwMode="auto">
            <a:xfrm>
              <a:off x="7093345" y="5753101"/>
              <a:ext cx="563173" cy="423862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cxnSp>
          <p:nvCxnSpPr>
            <p:cNvPr id="13" name="Прямая соединительная линия 1035"/>
            <p:cNvCxnSpPr>
              <a:stCxn id="6" idx="3"/>
              <a:endCxn id="7" idx="1"/>
            </p:cNvCxnSpPr>
            <p:nvPr/>
          </p:nvCxnSpPr>
          <p:spPr>
            <a:xfrm>
              <a:off x="1567858" y="4865159"/>
              <a:ext cx="136242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037"/>
            <p:cNvCxnSpPr>
              <a:stCxn id="7" idx="3"/>
              <a:endCxn id="8" idx="1"/>
            </p:cNvCxnSpPr>
            <p:nvPr/>
          </p:nvCxnSpPr>
          <p:spPr>
            <a:xfrm>
              <a:off x="3320463" y="4865159"/>
              <a:ext cx="1479132" cy="142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039"/>
            <p:cNvCxnSpPr>
              <a:stCxn id="8" idx="3"/>
              <a:endCxn id="9" idx="1"/>
            </p:cNvCxnSpPr>
            <p:nvPr/>
          </p:nvCxnSpPr>
          <p:spPr>
            <a:xfrm flipV="1">
              <a:off x="5189775" y="4460348"/>
              <a:ext cx="1453056" cy="419099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41"/>
            <p:cNvCxnSpPr>
              <a:stCxn id="9" idx="3"/>
              <a:endCxn id="10" idx="1"/>
            </p:cNvCxnSpPr>
            <p:nvPr/>
          </p:nvCxnSpPr>
          <p:spPr>
            <a:xfrm>
              <a:off x="7033011" y="4460348"/>
              <a:ext cx="1009816" cy="602455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043"/>
            <p:cNvCxnSpPr>
              <a:stCxn id="12" idx="3"/>
              <a:endCxn id="10" idx="6"/>
            </p:cNvCxnSpPr>
            <p:nvPr/>
          </p:nvCxnSpPr>
          <p:spPr>
            <a:xfrm flipV="1">
              <a:off x="7571182" y="5345907"/>
              <a:ext cx="383988" cy="54795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045"/>
            <p:cNvCxnSpPr>
              <a:stCxn id="9" idx="5"/>
              <a:endCxn id="12" idx="4"/>
            </p:cNvCxnSpPr>
            <p:nvPr/>
          </p:nvCxnSpPr>
          <p:spPr>
            <a:xfrm>
              <a:off x="6836761" y="4743452"/>
              <a:ext cx="538171" cy="1009649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047"/>
            <p:cNvCxnSpPr>
              <a:stCxn id="11" idx="3"/>
              <a:endCxn id="12" idx="1"/>
            </p:cNvCxnSpPr>
            <p:nvPr/>
          </p:nvCxnSpPr>
          <p:spPr>
            <a:xfrm>
              <a:off x="6227355" y="5893859"/>
              <a:ext cx="953647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049"/>
            <p:cNvCxnSpPr>
              <a:stCxn id="8" idx="5"/>
              <a:endCxn id="11" idx="4"/>
            </p:cNvCxnSpPr>
            <p:nvPr/>
          </p:nvCxnSpPr>
          <p:spPr>
            <a:xfrm>
              <a:off x="4993525" y="5162551"/>
              <a:ext cx="1037580" cy="5905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1051"/>
            <p:cNvCxnSpPr>
              <a:stCxn id="11" idx="1"/>
              <a:endCxn id="7" idx="7"/>
            </p:cNvCxnSpPr>
            <p:nvPr/>
          </p:nvCxnSpPr>
          <p:spPr>
            <a:xfrm flipH="1" flipV="1">
              <a:off x="3405799" y="5148263"/>
              <a:ext cx="2431376" cy="74559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/>
          <p:cNvCxnSpPr>
            <a:stCxn id="7" idx="3"/>
            <a:endCxn id="8" idx="1"/>
          </p:cNvCxnSpPr>
          <p:nvPr/>
        </p:nvCxnSpPr>
        <p:spPr>
          <a:xfrm>
            <a:off x="2613231" y="1700478"/>
            <a:ext cx="1479132" cy="142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34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</a:t>
            </a:r>
            <a:r>
              <a:rPr lang="en-US" dirty="0" smtClean="0"/>
              <a:t>. </a:t>
            </a:r>
            <a:r>
              <a:rPr lang="ru-RU" dirty="0" smtClean="0"/>
              <a:t>Декомпозиция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Общий подход:</a:t>
            </a:r>
          </a:p>
          <a:p>
            <a:r>
              <a:rPr lang="ru-RU" dirty="0" smtClean="0"/>
              <a:t>Разбиение на более простые подзадачи</a:t>
            </a:r>
          </a:p>
          <a:p>
            <a:r>
              <a:rPr lang="ru-RU" dirty="0" smtClean="0"/>
              <a:t>Четкое определение функций </a:t>
            </a:r>
          </a:p>
          <a:p>
            <a:r>
              <a:rPr lang="ru-RU" dirty="0" smtClean="0"/>
              <a:t>Входные и выходные интерфейсы 	</a:t>
            </a:r>
          </a:p>
          <a:p>
            <a:r>
              <a:rPr lang="ru-RU" dirty="0" smtClean="0"/>
              <a:t>Координация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 smtClean="0"/>
              <a:t>Иерархический подход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</a:p>
          <a:p>
            <a:r>
              <a:rPr lang="ru-RU" dirty="0" smtClean="0"/>
              <a:t>Строгая последовательность</a:t>
            </a:r>
          </a:p>
          <a:p>
            <a:r>
              <a:rPr lang="ru-RU" dirty="0" smtClean="0"/>
              <a:t>Связь только со смежным уровнем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30" name="Объект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92" y="1465019"/>
            <a:ext cx="5676688" cy="51038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60148" y="1892056"/>
            <a:ext cx="1160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PT Sans"/>
              </a:rPr>
              <a:t>Сообщение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48" y="1892056"/>
            <a:ext cx="966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PT Sans"/>
              </a:rPr>
              <a:t>Философ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2998" y="3196981"/>
            <a:ext cx="12954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PT Sans"/>
              </a:rPr>
              <a:t>Информация для переводчика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7208" y="3235081"/>
            <a:ext cx="1178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PT Sans"/>
              </a:rPr>
              <a:t>Переводчик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2282" y="4616206"/>
            <a:ext cx="12954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PT Sans"/>
              </a:rPr>
              <a:t>Информация для секретаря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1630" y="4831649"/>
            <a:ext cx="1056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PT Sans"/>
              </a:rPr>
              <a:t>Секретарь</a:t>
            </a:r>
          </a:p>
        </p:txBody>
      </p:sp>
    </p:spTree>
    <p:extLst>
      <p:ext uri="{BB962C8B-B14F-4D97-AF65-F5344CB8AC3E}">
        <p14:creationId xmlns:p14="http://schemas.microsoft.com/office/powerpoint/2010/main" val="2784972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сети. Уровни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271451"/>
            <a:ext cx="6013923" cy="5355772"/>
          </a:xfrm>
        </p:spPr>
        <p:txBody>
          <a:bodyPr/>
          <a:lstStyle/>
          <a:p>
            <a:r>
              <a:rPr lang="ru-RU" dirty="0" smtClean="0"/>
              <a:t>Функциональные уровни</a:t>
            </a:r>
          </a:p>
          <a:p>
            <a:endParaRPr lang="ru-RU" dirty="0" smtClean="0"/>
          </a:p>
          <a:p>
            <a:r>
              <a:rPr lang="ru-RU" dirty="0" smtClean="0"/>
              <a:t>Правила взаимодействия уровней - </a:t>
            </a:r>
            <a:r>
              <a:rPr lang="ru-RU" b="1" dirty="0" smtClean="0">
                <a:solidFill>
                  <a:srgbClr val="276D3F"/>
                </a:solidFill>
              </a:rPr>
              <a:t>протоколы</a:t>
            </a:r>
          </a:p>
          <a:p>
            <a:endParaRPr lang="ru-RU" dirty="0" smtClean="0"/>
          </a:p>
          <a:p>
            <a:r>
              <a:rPr lang="ru-RU" dirty="0" smtClean="0"/>
              <a:t>Правила взаимодействия смежных уровней - (межуровневый) </a:t>
            </a:r>
            <a:r>
              <a:rPr lang="ru-RU" b="1" dirty="0" smtClean="0">
                <a:solidFill>
                  <a:srgbClr val="276D3F"/>
                </a:solidFill>
              </a:rPr>
              <a:t>интерфейс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098" y="1561156"/>
            <a:ext cx="4898403" cy="423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4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сети. Модель </a:t>
            </a:r>
            <a:r>
              <a:rPr lang="en-US" dirty="0" smtClean="0"/>
              <a:t>OSI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450" y="1271588"/>
            <a:ext cx="7707275" cy="5356225"/>
          </a:xfrm>
        </p:spPr>
      </p:pic>
    </p:spTree>
    <p:extLst>
      <p:ext uri="{BB962C8B-B14F-4D97-AF65-F5344CB8AC3E}">
        <p14:creationId xmlns:p14="http://schemas.microsoft.com/office/powerpoint/2010/main" val="3388929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Иерархическая организация сети. Физический </a:t>
            </a:r>
            <a:r>
              <a:rPr lang="ru-RU" dirty="0"/>
              <a:t>уровень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7756" y="1327794"/>
            <a:ext cx="10159164" cy="5104252"/>
          </a:xfrm>
        </p:spPr>
        <p:txBody>
          <a:bodyPr>
            <a:normAutofit/>
          </a:bodyPr>
          <a:lstStyle/>
          <a:p>
            <a:r>
              <a:rPr lang="ru-RU" dirty="0"/>
              <a:t>Во всех устройствах сети</a:t>
            </a:r>
          </a:p>
          <a:p>
            <a:r>
              <a:rPr lang="ru-RU" dirty="0"/>
              <a:t>Физическая среда, дальность, скорость, кодирование, синхронизация, уровни сигналов, разъемы</a:t>
            </a:r>
          </a:p>
          <a:p>
            <a:r>
              <a:rPr lang="ru-RU" dirty="0"/>
              <a:t>Аппаратная реализация (сетевые адаптеры</a:t>
            </a:r>
            <a:r>
              <a:rPr lang="ru-RU" dirty="0" smtClean="0"/>
              <a:t>)</a:t>
            </a:r>
          </a:p>
          <a:p>
            <a:endParaRPr lang="ru-RU" dirty="0"/>
          </a:p>
          <a:p>
            <a:r>
              <a:rPr lang="ru-RU" dirty="0" smtClean="0"/>
              <a:t>Ошибки – </a:t>
            </a:r>
            <a:r>
              <a:rPr lang="en-US" dirty="0" smtClean="0"/>
              <a:t>BER</a:t>
            </a:r>
            <a:r>
              <a:rPr lang="en-US" dirty="0"/>
              <a:t> </a:t>
            </a:r>
            <a:r>
              <a:rPr lang="en-US" dirty="0" smtClean="0"/>
              <a:t>(10</a:t>
            </a:r>
            <a:r>
              <a:rPr lang="en-US" baseline="30000" dirty="0" smtClean="0"/>
              <a:t>-</a:t>
            </a:r>
            <a:r>
              <a:rPr lang="ru-RU" baseline="30000" dirty="0" smtClean="0"/>
              <a:t>3</a:t>
            </a:r>
            <a:r>
              <a:rPr lang="en-US" dirty="0" smtClean="0"/>
              <a:t> – </a:t>
            </a:r>
            <a:r>
              <a:rPr lang="ru-RU" dirty="0" smtClean="0"/>
              <a:t>эфир, 10</a:t>
            </a:r>
            <a:r>
              <a:rPr lang="ru-RU" baseline="30000" dirty="0" smtClean="0"/>
              <a:t>-6</a:t>
            </a:r>
            <a:r>
              <a:rPr lang="ru-RU" dirty="0" smtClean="0"/>
              <a:t> – медь, 10</a:t>
            </a:r>
            <a:r>
              <a:rPr lang="ru-RU" baseline="30000" dirty="0" smtClean="0"/>
              <a:t>-12</a:t>
            </a:r>
            <a:r>
              <a:rPr lang="ru-RU" dirty="0" smtClean="0"/>
              <a:t> – оптоволокно)</a:t>
            </a:r>
          </a:p>
          <a:p>
            <a:endParaRPr lang="ru-RU" dirty="0" smtClean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10 </a:t>
            </a:r>
            <a:r>
              <a:rPr lang="ru-RU" dirty="0" err="1"/>
              <a:t>BaseT</a:t>
            </a:r>
            <a:r>
              <a:rPr lang="ru-RU" dirty="0"/>
              <a:t>   -  UTP кат 3, 100 ом, 100</a:t>
            </a:r>
            <a:r>
              <a:rPr lang="en-US" dirty="0"/>
              <a:t> </a:t>
            </a:r>
            <a:r>
              <a:rPr lang="ru-RU" dirty="0"/>
              <a:t>м, 10</a:t>
            </a:r>
            <a:r>
              <a:rPr lang="en-US" dirty="0"/>
              <a:t> </a:t>
            </a:r>
            <a:r>
              <a:rPr lang="ru-RU" dirty="0"/>
              <a:t>Мбит/c, Манчестерский код, RJ-45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439" y="1278917"/>
            <a:ext cx="1155713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Иерархическая организация сети. Канальный </a:t>
            </a:r>
            <a:r>
              <a:rPr lang="ru-RU" dirty="0"/>
              <a:t>уровень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6164" y="1299367"/>
            <a:ext cx="7750377" cy="510425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Управление доступом к среде (МАС)</a:t>
            </a:r>
          </a:p>
          <a:p>
            <a:r>
              <a:rPr lang="ru-RU" dirty="0"/>
              <a:t>Обработка ошибок (Кадры, контрольная сумма, повторная передача)</a:t>
            </a:r>
          </a:p>
          <a:p>
            <a:r>
              <a:rPr lang="ru-RU" dirty="0"/>
              <a:t>Адресация</a:t>
            </a:r>
          </a:p>
          <a:p>
            <a:r>
              <a:rPr lang="ru-RU" dirty="0"/>
              <a:t>Управление потоком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Хосты, мосты, коммутаторы, маршрутизаторы</a:t>
            </a:r>
          </a:p>
          <a:p>
            <a:pPr marL="0" indent="0">
              <a:buNone/>
            </a:pPr>
            <a:r>
              <a:rPr lang="ru-RU" dirty="0"/>
              <a:t>Хост :  Сетевые карты + драйверы</a:t>
            </a:r>
          </a:p>
          <a:p>
            <a:endParaRPr lang="ru-RU" dirty="0"/>
          </a:p>
          <a:p>
            <a:r>
              <a:rPr lang="ru-RU" dirty="0"/>
              <a:t>LAN: </a:t>
            </a:r>
            <a:r>
              <a:rPr lang="ru-RU" dirty="0" err="1"/>
              <a:t>Ethernet</a:t>
            </a:r>
            <a:r>
              <a:rPr lang="ru-RU" dirty="0"/>
              <a:t>, </a:t>
            </a:r>
            <a:r>
              <a:rPr lang="ru-RU" dirty="0" err="1"/>
              <a:t>Token</a:t>
            </a:r>
            <a:r>
              <a:rPr lang="ru-RU" dirty="0"/>
              <a:t> </a:t>
            </a:r>
            <a:r>
              <a:rPr lang="ru-RU" dirty="0" err="1"/>
              <a:t>Ring</a:t>
            </a:r>
            <a:r>
              <a:rPr lang="ru-RU" dirty="0"/>
              <a:t>, FDDI (типовые топологии)</a:t>
            </a:r>
          </a:p>
          <a:p>
            <a:r>
              <a:rPr lang="ru-RU" dirty="0"/>
              <a:t>WAN: “точка-точка”, PPP,  LAP-B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6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439" y="1278917"/>
            <a:ext cx="1155713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1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Иерархическая организация сети. </a:t>
            </a:r>
            <a:r>
              <a:rPr lang="ru-RU" dirty="0"/>
              <a:t>Сетевой уровень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6687" y="1299367"/>
            <a:ext cx="8808885" cy="51042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Для работы составных сетей. Компоненты составных сетей – локальные и глобальные сети. Внутренняя структура сети (подсети) не важна.  Термин </a:t>
            </a:r>
            <a:r>
              <a:rPr lang="ru-RU" dirty="0" smtClean="0"/>
              <a:t>«сеть» </a:t>
            </a:r>
            <a:r>
              <a:rPr lang="ru-RU" dirty="0"/>
              <a:t>на  сетевом уровне имеет специфическое значение. Обычно </a:t>
            </a:r>
            <a:r>
              <a:rPr lang="ru-RU" dirty="0" smtClean="0"/>
              <a:t>«Сеть» </a:t>
            </a:r>
            <a:r>
              <a:rPr lang="ru-RU" dirty="0"/>
              <a:t>-  типовая топология, стандартный канальный протокол, один администратор</a:t>
            </a:r>
          </a:p>
          <a:p>
            <a:r>
              <a:rPr lang="ru-RU" dirty="0"/>
              <a:t>Внутри сети – канальный уровень</a:t>
            </a:r>
          </a:p>
          <a:p>
            <a:r>
              <a:rPr lang="ru-RU" dirty="0"/>
              <a:t>Между сетями – сетевой уровень</a:t>
            </a:r>
          </a:p>
          <a:p>
            <a:endParaRPr lang="en-US" dirty="0"/>
          </a:p>
          <a:p>
            <a:r>
              <a:rPr lang="ru-RU" dirty="0"/>
              <a:t>Маршрутизация, </a:t>
            </a:r>
          </a:p>
          <a:p>
            <a:r>
              <a:rPr lang="ru-RU" dirty="0"/>
              <a:t>Согласование технологий</a:t>
            </a:r>
          </a:p>
          <a:p>
            <a:r>
              <a:rPr lang="ru-RU" dirty="0"/>
              <a:t>Адресация (“сеть” – хосты c единым номером сети)</a:t>
            </a:r>
          </a:p>
          <a:p>
            <a:r>
              <a:rPr lang="ru-RU" dirty="0"/>
              <a:t>Программный модуль ОС, ПО маршрутизатора</a:t>
            </a:r>
          </a:p>
          <a:p>
            <a:r>
              <a:rPr lang="ru-RU" dirty="0"/>
              <a:t>Пример: IP, IPX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6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439" y="1278917"/>
            <a:ext cx="1155713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00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Иерархическая организация сети. </a:t>
            </a:r>
            <a:r>
              <a:rPr lang="ru-RU" dirty="0"/>
              <a:t>Транспортный уровень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Протоколы  END-</a:t>
            </a:r>
            <a:r>
              <a:rPr lang="ru-RU" dirty="0" err="1"/>
              <a:t>to</a:t>
            </a:r>
            <a:r>
              <a:rPr lang="ru-RU" dirty="0"/>
              <a:t>-END</a:t>
            </a:r>
          </a:p>
          <a:p>
            <a:r>
              <a:rPr lang="ru-RU" dirty="0"/>
              <a:t>Качество передачи (достоверность,     очередность)</a:t>
            </a:r>
          </a:p>
          <a:p>
            <a:r>
              <a:rPr lang="ru-RU" dirty="0"/>
              <a:t>Управление передачей</a:t>
            </a:r>
          </a:p>
          <a:p>
            <a:r>
              <a:rPr lang="ru-RU" dirty="0"/>
              <a:t>Мультиплексирование  </a:t>
            </a:r>
          </a:p>
          <a:p>
            <a:r>
              <a:rPr lang="ru-RU" dirty="0"/>
              <a:t>ПО хоста</a:t>
            </a:r>
          </a:p>
          <a:p>
            <a:r>
              <a:rPr lang="ru-RU" dirty="0"/>
              <a:t>Пример: TCP, UDP, SPX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6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439" y="1278917"/>
            <a:ext cx="1155713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4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Иерархическая организация сети. </a:t>
            </a:r>
            <a:r>
              <a:rPr lang="ru-RU" dirty="0"/>
              <a:t>Сеансовый уровень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Управление диалогом</a:t>
            </a:r>
          </a:p>
          <a:p>
            <a:r>
              <a:rPr lang="ru-RU" dirty="0"/>
              <a:t>Установление/разъединение  соединения</a:t>
            </a:r>
          </a:p>
          <a:p>
            <a:r>
              <a:rPr lang="ru-RU" dirty="0"/>
              <a:t>Синхронизация (точки отката)</a:t>
            </a:r>
          </a:p>
          <a:p>
            <a:r>
              <a:rPr lang="ru-RU" dirty="0"/>
              <a:t>ПО хоста</a:t>
            </a:r>
          </a:p>
          <a:p>
            <a:endParaRPr lang="ru-RU" dirty="0"/>
          </a:p>
          <a:p>
            <a:r>
              <a:rPr lang="ru-RU" dirty="0"/>
              <a:t>Обычно совмещается с транспортным или прикладным уровнем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6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439" y="1278917"/>
            <a:ext cx="1155713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99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сети. Представительский </a:t>
            </a:r>
            <a:r>
              <a:rPr lang="ru-RU" dirty="0"/>
              <a:t>уровень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0108" y="1308842"/>
            <a:ext cx="8369585" cy="5104252"/>
          </a:xfrm>
        </p:spPr>
        <p:txBody>
          <a:bodyPr/>
          <a:lstStyle/>
          <a:p>
            <a:r>
              <a:rPr lang="ru-RU" dirty="0"/>
              <a:t>Унификация формы представления информации</a:t>
            </a:r>
          </a:p>
          <a:p>
            <a:r>
              <a:rPr lang="ru-RU" dirty="0"/>
              <a:t>Шифрация</a:t>
            </a:r>
          </a:p>
          <a:p>
            <a:r>
              <a:rPr lang="ru-RU" dirty="0"/>
              <a:t>Пример: SSL</a:t>
            </a:r>
          </a:p>
          <a:p>
            <a:r>
              <a:rPr lang="ru-RU" dirty="0"/>
              <a:t>Обычно совмещается с прикладным уровнем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17</a:t>
            </a:fld>
            <a:endParaRPr lang="ru-RU" dirty="0"/>
          </a:p>
        </p:txBody>
      </p:sp>
      <p:pic>
        <p:nvPicPr>
          <p:cNvPr id="6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439" y="1278917"/>
            <a:ext cx="1155713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40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Иерархическая организация сети. Прикладной </a:t>
            </a:r>
            <a:r>
              <a:rPr lang="ru-RU" dirty="0"/>
              <a:t>уровень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Доступ к распределенным ресурсам</a:t>
            </a:r>
          </a:p>
          <a:p>
            <a:r>
              <a:rPr lang="ru-RU" dirty="0"/>
              <a:t>Большое число протоколов</a:t>
            </a:r>
          </a:p>
          <a:p>
            <a:r>
              <a:rPr lang="ru-RU" dirty="0"/>
              <a:t>Модель “клиент-сервер”</a:t>
            </a:r>
          </a:p>
          <a:p>
            <a:r>
              <a:rPr lang="ru-RU" dirty="0"/>
              <a:t>HTTP, FTP, NFS, SMTP, </a:t>
            </a:r>
            <a:r>
              <a:rPr lang="ru-RU" dirty="0" err="1"/>
              <a:t>Telnet</a:t>
            </a:r>
            <a:r>
              <a:rPr lang="ru-RU" dirty="0"/>
              <a:t>…</a:t>
            </a:r>
          </a:p>
          <a:p>
            <a:r>
              <a:rPr lang="ru-RU" dirty="0"/>
              <a:t>Служебные протоколы  DNS, LDAP ...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18</a:t>
            </a:fld>
            <a:endParaRPr lang="ru-RU" dirty="0"/>
          </a:p>
        </p:txBody>
      </p:sp>
      <p:pic>
        <p:nvPicPr>
          <p:cNvPr id="6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439" y="1278917"/>
            <a:ext cx="1155713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35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сети. </a:t>
            </a:r>
            <a:r>
              <a:rPr lang="en-US" dirty="0" smtClean="0"/>
              <a:t>TCP/IP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5" name="Рисунок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0" y="1985608"/>
            <a:ext cx="12043430" cy="4647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1890" y="1440299"/>
            <a:ext cx="9129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Модель </a:t>
            </a:r>
            <a:r>
              <a:rPr lang="en-US" dirty="0" smtClean="0"/>
              <a:t>ISO/OSI			</a:t>
            </a:r>
            <a:r>
              <a:rPr lang="ru-RU" dirty="0"/>
              <a:t> </a:t>
            </a:r>
            <a:r>
              <a:rPr lang="ru-RU" dirty="0" smtClean="0"/>
              <a:t>    Протоколы			</a:t>
            </a:r>
            <a:r>
              <a:rPr lang="en-US" dirty="0" smtClean="0"/>
              <a:t>     </a:t>
            </a:r>
            <a:r>
              <a:rPr lang="ru-RU" dirty="0" smtClean="0"/>
              <a:t>Стек </a:t>
            </a:r>
            <a:r>
              <a:rPr lang="en-US" dirty="0" smtClean="0"/>
              <a:t>TCP/IP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77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сети.</a:t>
            </a:r>
            <a:r>
              <a:rPr lang="en-US" dirty="0" smtClean="0"/>
              <a:t> </a:t>
            </a:r>
            <a:r>
              <a:rPr lang="ru-RU" dirty="0" smtClean="0"/>
              <a:t>Инкапсуляция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4" y="1271451"/>
            <a:ext cx="3576466" cy="535577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Процесс преобразования данных (с верхнего уровня) в сигналы - </a:t>
            </a:r>
            <a:r>
              <a:rPr lang="ru-RU" b="1" dirty="0" smtClean="0">
                <a:solidFill>
                  <a:srgbClr val="276D3F"/>
                </a:solidFill>
              </a:rPr>
              <a:t>инкапсуляция</a:t>
            </a:r>
          </a:p>
          <a:p>
            <a:r>
              <a:rPr lang="ru-RU" dirty="0" smtClean="0"/>
              <a:t>Процесс преобразования сигналов в данные - </a:t>
            </a:r>
            <a:r>
              <a:rPr lang="ru-RU" b="1" dirty="0" err="1" smtClean="0">
                <a:solidFill>
                  <a:srgbClr val="276D3F"/>
                </a:solidFill>
              </a:rPr>
              <a:t>декапсуляция</a:t>
            </a:r>
            <a:endParaRPr lang="ru-RU" b="1" dirty="0" smtClean="0">
              <a:solidFill>
                <a:srgbClr val="276D3F"/>
              </a:solidFill>
            </a:endParaRPr>
          </a:p>
          <a:p>
            <a:r>
              <a:rPr lang="ru-RU" dirty="0" smtClean="0"/>
              <a:t>Данных (вместе с заголовками), которые переходят с уровня на уровень - </a:t>
            </a:r>
            <a:r>
              <a:rPr lang="ru-RU" b="1" dirty="0" err="1" smtClean="0">
                <a:solidFill>
                  <a:srgbClr val="276D3F"/>
                </a:solidFill>
              </a:rPr>
              <a:t>Protocol</a:t>
            </a:r>
            <a:r>
              <a:rPr lang="ru-RU" b="1" dirty="0" smtClean="0">
                <a:solidFill>
                  <a:srgbClr val="276D3F"/>
                </a:solidFill>
              </a:rPr>
              <a:t> </a:t>
            </a:r>
            <a:r>
              <a:rPr lang="ru-RU" b="1" dirty="0" err="1" smtClean="0">
                <a:solidFill>
                  <a:srgbClr val="276D3F"/>
                </a:solidFill>
              </a:rPr>
              <a:t>Data</a:t>
            </a:r>
            <a:r>
              <a:rPr lang="ru-RU" b="1" dirty="0" smtClean="0">
                <a:solidFill>
                  <a:srgbClr val="276D3F"/>
                </a:solidFill>
              </a:rPr>
              <a:t> </a:t>
            </a:r>
            <a:r>
              <a:rPr lang="ru-RU" b="1" dirty="0" err="1" smtClean="0">
                <a:solidFill>
                  <a:srgbClr val="276D3F"/>
                </a:solidFill>
              </a:rPr>
              <a:t>Unit</a:t>
            </a:r>
            <a:r>
              <a:rPr lang="ru-RU" b="1" dirty="0" smtClean="0">
                <a:solidFill>
                  <a:srgbClr val="276D3F"/>
                </a:solidFill>
              </a:rPr>
              <a:t> </a:t>
            </a:r>
            <a:r>
              <a:rPr lang="ru-RU" dirty="0" smtClean="0"/>
              <a:t>или </a:t>
            </a:r>
            <a:r>
              <a:rPr lang="ru-RU" b="1" dirty="0" smtClean="0">
                <a:solidFill>
                  <a:srgbClr val="276D3F"/>
                </a:solidFill>
              </a:rPr>
              <a:t>PDU (фрагмент данных)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5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228" y="1736215"/>
            <a:ext cx="8001876" cy="408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0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сети. Демультиплексирование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4" y="1271451"/>
            <a:ext cx="4952650" cy="5355772"/>
          </a:xfrm>
        </p:spPr>
        <p:txBody>
          <a:bodyPr/>
          <a:lstStyle/>
          <a:p>
            <a:r>
              <a:rPr lang="ru-RU" dirty="0" smtClean="0"/>
              <a:t>Фрагмент данных на каждом уровне содержит информацию для демультиплексирования</a:t>
            </a:r>
          </a:p>
          <a:p>
            <a:r>
              <a:rPr lang="ru-RU" dirty="0" smtClean="0"/>
              <a:t>В реальности есть нарушения следования уровней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5" name="Объект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093" y="1314261"/>
            <a:ext cx="6436807" cy="510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59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Иерархическая организация сети. Пример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22</a:t>
            </a:fld>
            <a:endParaRPr lang="ru-RU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902" y="1087927"/>
            <a:ext cx="10323464" cy="577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10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Контроль передачи. </a:t>
            </a:r>
            <a:r>
              <a:rPr lang="en-US" dirty="0" smtClean="0"/>
              <a:t>CRC</a:t>
            </a:r>
            <a:r>
              <a:rPr lang="ru-RU" dirty="0" smtClean="0"/>
              <a:t>/контрольные суммы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Выявление ошибок на каждом уровне отличается:</a:t>
            </a:r>
          </a:p>
          <a:p>
            <a:r>
              <a:rPr lang="ru-RU" dirty="0" smtClean="0"/>
              <a:t>Канальный уровень - CRC‑32</a:t>
            </a:r>
          </a:p>
          <a:p>
            <a:r>
              <a:rPr lang="ru-RU" dirty="0" smtClean="0"/>
              <a:t>Сетевой уровень – контроль четности,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127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Характеристики канала и линий связи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зависимости от используемой кодировки полоса пропускания определяет максимальное количество бит, которые можно передать в единицу времени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24</a:t>
            </a:fld>
            <a:endParaRPr lang="ru-RU" dirty="0"/>
          </a:p>
        </p:txBody>
      </p:sp>
      <p:pic>
        <p:nvPicPr>
          <p:cNvPr id="5" name="Объект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44" y="2307947"/>
            <a:ext cx="7512708" cy="4550053"/>
          </a:xfrm>
          <a:prstGeom prst="rect">
            <a:avLst/>
          </a:prstGeom>
        </p:spPr>
      </p:pic>
      <p:sp>
        <p:nvSpPr>
          <p:cNvPr id="6" name="Прямоугольник 4"/>
          <p:cNvSpPr/>
          <p:nvPr/>
        </p:nvSpPr>
        <p:spPr>
          <a:xfrm>
            <a:off x="8001850" y="3369614"/>
            <a:ext cx="3448050" cy="1392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Определение характеристик ЛС - анализ реакций на эталонные сигналы</a:t>
            </a:r>
          </a:p>
          <a:p>
            <a:pPr>
              <a:spcBef>
                <a:spcPts val="1500"/>
              </a:spcBef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Гармонический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913033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канала и линий связи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25</a:t>
            </a:fld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996" y="1271588"/>
            <a:ext cx="8472183" cy="5356225"/>
          </a:xfrm>
        </p:spPr>
      </p:pic>
    </p:spTree>
    <p:extLst>
      <p:ext uri="{BB962C8B-B14F-4D97-AF65-F5344CB8AC3E}">
        <p14:creationId xmlns:p14="http://schemas.microsoft.com/office/powerpoint/2010/main" val="3144181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канала и линий связи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Задержка (</a:t>
            </a:r>
            <a:r>
              <a:rPr lang="en-US" dirty="0" smtClean="0"/>
              <a:t>latency) ~ ½ RTT – </a:t>
            </a:r>
            <a:r>
              <a:rPr lang="ru-RU" dirty="0" smtClean="0"/>
              <a:t>время для передачи пакета до приемника:</a:t>
            </a:r>
          </a:p>
          <a:p>
            <a:pPr lvl="1"/>
            <a:r>
              <a:rPr lang="ru-RU" dirty="0" smtClean="0"/>
              <a:t>Обработка пакета</a:t>
            </a:r>
          </a:p>
          <a:p>
            <a:pPr lvl="1"/>
            <a:r>
              <a:rPr lang="ru-RU" dirty="0" smtClean="0"/>
              <a:t>Передача по линиям связи – скорость передачи и время на формирование пакета в линии связи</a:t>
            </a:r>
          </a:p>
          <a:p>
            <a:pPr lvl="1"/>
            <a:r>
              <a:rPr lang="ru-RU" dirty="0" smtClean="0"/>
              <a:t>Ожидание в очереди</a:t>
            </a:r>
          </a:p>
          <a:p>
            <a:pPr lv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26</a:t>
            </a:fld>
            <a:endParaRPr lang="ru-RU" dirty="0"/>
          </a:p>
        </p:txBody>
      </p:sp>
      <p:pic>
        <p:nvPicPr>
          <p:cNvPr id="5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991" y="3178313"/>
            <a:ext cx="7396809" cy="334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4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канала и линий связи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Пропускная способность – фактически достигнутая скорость передачи за единицу времени</a:t>
            </a:r>
          </a:p>
          <a:p>
            <a:r>
              <a:rPr lang="ru-RU" dirty="0" smtClean="0"/>
              <a:t>В зависимости от размеров пакетов может варьироваться, например, для </a:t>
            </a:r>
            <a:r>
              <a:rPr lang="en-US" dirty="0" smtClean="0"/>
              <a:t>10Base-T</a:t>
            </a:r>
            <a:r>
              <a:rPr lang="ru-RU" dirty="0" smtClean="0"/>
              <a:t> от 5,48 до 9,76 Мбит/с</a:t>
            </a:r>
            <a:endParaRPr lang="en-US" dirty="0"/>
          </a:p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3820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канала и линий связи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Bandwidth-Delay Product (BDP) </a:t>
            </a:r>
            <a:r>
              <a:rPr lang="en-US" dirty="0" smtClean="0"/>
              <a:t>- </a:t>
            </a:r>
            <a:r>
              <a:rPr lang="ru-RU" dirty="0"/>
              <a:t>произведение </a:t>
            </a:r>
            <a:r>
              <a:rPr lang="ru-RU" b="1" dirty="0"/>
              <a:t>пропускной способности</a:t>
            </a:r>
            <a:r>
              <a:rPr lang="ru-RU" dirty="0"/>
              <a:t> канала на </a:t>
            </a:r>
            <a:r>
              <a:rPr lang="ru-RU" b="1" dirty="0"/>
              <a:t>задержку</a:t>
            </a:r>
            <a:r>
              <a:rPr lang="ru-RU" dirty="0"/>
              <a:t> передачи. Результат, обычно в битах или байтах, представляет </a:t>
            </a:r>
            <a:r>
              <a:rPr lang="ru-RU" b="1" dirty="0"/>
              <a:t>максимальный объём данных, который может одновременно находиться «в </a:t>
            </a:r>
            <a:r>
              <a:rPr lang="ru-RU" b="1" dirty="0" smtClean="0"/>
              <a:t>пути»</a:t>
            </a:r>
            <a:endParaRPr lang="en-US" dirty="0"/>
          </a:p>
          <a:p>
            <a:r>
              <a:rPr lang="ru-RU" dirty="0" smtClean="0"/>
              <a:t>Для </a:t>
            </a:r>
            <a:r>
              <a:rPr lang="en-US" dirty="0" smtClean="0"/>
              <a:t>TCP</a:t>
            </a:r>
            <a:r>
              <a:rPr lang="ru-RU" dirty="0" smtClean="0"/>
              <a:t> – размер окна/</a:t>
            </a:r>
            <a:r>
              <a:rPr lang="en-US" dirty="0" smtClean="0"/>
              <a:t>RTT</a:t>
            </a:r>
            <a:r>
              <a:rPr lang="ru-RU" dirty="0" smtClean="0"/>
              <a:t>:</a:t>
            </a:r>
          </a:p>
          <a:p>
            <a:pPr lvl="1"/>
            <a:r>
              <a:rPr lang="ru-RU" dirty="0" smtClean="0"/>
              <a:t>Для 100 Мбит/с и </a:t>
            </a:r>
            <a:r>
              <a:rPr lang="en-US" dirty="0" smtClean="0"/>
              <a:t>RTT</a:t>
            </a:r>
            <a:r>
              <a:rPr lang="ru-RU" dirty="0" smtClean="0"/>
              <a:t>=40 </a:t>
            </a:r>
            <a:r>
              <a:rPr lang="ru-RU" dirty="0" err="1" smtClean="0"/>
              <a:t>мс</a:t>
            </a:r>
            <a:r>
              <a:rPr lang="ru-RU" dirty="0" smtClean="0"/>
              <a:t> =</a:t>
            </a:r>
            <a:r>
              <a:rPr lang="en-US" dirty="0" smtClean="0"/>
              <a:t>&gt; BDP </a:t>
            </a:r>
            <a:r>
              <a:rPr lang="ru-RU" dirty="0" smtClean="0"/>
              <a:t>=</a:t>
            </a:r>
            <a:r>
              <a:rPr lang="en-US" dirty="0" smtClean="0"/>
              <a:t> 4*10</a:t>
            </a:r>
            <a:r>
              <a:rPr lang="en-US" baseline="30000" dirty="0" smtClean="0"/>
              <a:t>6</a:t>
            </a:r>
            <a:r>
              <a:rPr lang="ru-RU" dirty="0" smtClean="0"/>
              <a:t> бит </a:t>
            </a:r>
            <a:r>
              <a:rPr lang="en-US" dirty="0" smtClean="0"/>
              <a:t>~ 0,5 </a:t>
            </a:r>
            <a:r>
              <a:rPr lang="ru-RU" dirty="0" smtClean="0"/>
              <a:t>МБ (размер окна приемника/передатчика)</a:t>
            </a:r>
          </a:p>
          <a:p>
            <a:pPr lvl="1"/>
            <a:r>
              <a:rPr lang="ru-RU" dirty="0" smtClean="0"/>
              <a:t>Для 10 Гбит/с и </a:t>
            </a:r>
            <a:r>
              <a:rPr lang="en-US" dirty="0" smtClean="0"/>
              <a:t>RTT=80 </a:t>
            </a:r>
            <a:r>
              <a:rPr lang="ru-RU" dirty="0" err="1" smtClean="0"/>
              <a:t>мс</a:t>
            </a:r>
            <a:r>
              <a:rPr lang="ru-RU" dirty="0" smtClean="0"/>
              <a:t> =</a:t>
            </a:r>
            <a:r>
              <a:rPr lang="en-US" dirty="0" smtClean="0"/>
              <a:t>&gt; BDP ~100 </a:t>
            </a:r>
            <a:r>
              <a:rPr lang="ru-RU" dirty="0" smtClean="0"/>
              <a:t>МБ</a:t>
            </a:r>
          </a:p>
          <a:p>
            <a:pPr lvl="1"/>
            <a:r>
              <a:rPr lang="ru-RU" dirty="0" smtClean="0"/>
              <a:t>При росте буфера растет задержка</a:t>
            </a:r>
          </a:p>
          <a:p>
            <a:r>
              <a:rPr lang="ru-RU" dirty="0" smtClean="0"/>
              <a:t>Методы компенсации:</a:t>
            </a:r>
            <a:endParaRPr lang="en-US" dirty="0" smtClean="0"/>
          </a:p>
          <a:p>
            <a:pPr lvl="1"/>
            <a:r>
              <a:rPr lang="ru-RU" dirty="0" smtClean="0"/>
              <a:t>Управление перегрузкой </a:t>
            </a:r>
            <a:r>
              <a:rPr lang="en-US" dirty="0" smtClean="0"/>
              <a:t>TCP</a:t>
            </a:r>
            <a:endParaRPr lang="ru-RU" dirty="0" smtClean="0"/>
          </a:p>
          <a:p>
            <a:pPr lvl="1"/>
            <a:r>
              <a:rPr lang="ru-RU" dirty="0" smtClean="0"/>
              <a:t>Несколько потоков</a:t>
            </a:r>
          </a:p>
          <a:p>
            <a:pPr lvl="1"/>
            <a:r>
              <a:rPr lang="ru-RU" dirty="0" err="1" smtClean="0"/>
              <a:t>Приоритезация</a:t>
            </a:r>
            <a:r>
              <a:rPr lang="ru-RU" dirty="0" smtClean="0"/>
              <a:t> трафика для чувствительных приложений</a:t>
            </a:r>
            <a:endParaRPr lang="en-US" dirty="0" smtClean="0"/>
          </a:p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9932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Типичные заблуждения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«</a:t>
            </a:r>
            <a:r>
              <a:rPr lang="ru-RU" dirty="0"/>
              <a:t>Больше полосы всегда означает меньшую задержку». Неверно; очереди могут увеличить задержку даже при широкой полосе.</a:t>
            </a:r>
          </a:p>
          <a:p>
            <a:r>
              <a:rPr lang="ru-RU" dirty="0" smtClean="0"/>
              <a:t>«</a:t>
            </a:r>
            <a:r>
              <a:rPr lang="ru-RU" dirty="0"/>
              <a:t>Интернет использует модель OSI». Нет; используем упрощённую модель TCP/IP, но OSI полезна как учебный инструмент.</a:t>
            </a:r>
          </a:p>
          <a:p>
            <a:r>
              <a:rPr lang="ru-RU" dirty="0" smtClean="0"/>
              <a:t>«</a:t>
            </a:r>
            <a:r>
              <a:rPr lang="ru-RU" dirty="0"/>
              <a:t>Проблемы </a:t>
            </a:r>
            <a:r>
              <a:rPr lang="ru-RU" dirty="0" err="1"/>
              <a:t>Wi‑Fi</a:t>
            </a:r>
            <a:r>
              <a:rPr lang="ru-RU" dirty="0"/>
              <a:t> — это всегда слабый сигнал». Часто важнее конкуренция в среде, адаптация скорости и </a:t>
            </a:r>
            <a:r>
              <a:rPr lang="ru-RU" dirty="0" err="1"/>
              <a:t>bufferbloat</a:t>
            </a:r>
            <a:r>
              <a:rPr lang="ru-RU" dirty="0"/>
              <a:t>.</a:t>
            </a:r>
          </a:p>
          <a:p>
            <a:r>
              <a:rPr lang="ru-RU" dirty="0" smtClean="0"/>
              <a:t>«</a:t>
            </a:r>
            <a:r>
              <a:rPr lang="ru-RU" dirty="0"/>
              <a:t>Контрольная сумма и CRC одинаково сильные». Обычно CRC обнаруживает больше шаблонов ошибок; контрольные суммы быстрее, но слабее.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29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Основа компьютерных сетей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Метод пакетной коммутации</a:t>
            </a:r>
          </a:p>
          <a:p>
            <a:endParaRPr lang="ru-RU" dirty="0" smtClean="0"/>
          </a:p>
          <a:p>
            <a:r>
              <a:rPr lang="ru-RU" dirty="0" smtClean="0"/>
              <a:t>Иерархическая организация (стандартов) связи, инкапсуляция</a:t>
            </a:r>
          </a:p>
          <a:p>
            <a:endParaRPr lang="ru-RU" dirty="0" smtClean="0"/>
          </a:p>
          <a:p>
            <a:r>
              <a:rPr lang="ru-RU" dirty="0" smtClean="0"/>
              <a:t>Стек протоколов TCP/IP</a:t>
            </a:r>
          </a:p>
          <a:p>
            <a:endParaRPr lang="ru-RU" dirty="0" smtClean="0"/>
          </a:p>
          <a:p>
            <a:r>
              <a:rPr lang="ru-RU" dirty="0" smtClean="0"/>
              <a:t>Динамическая маршрутизация</a:t>
            </a:r>
          </a:p>
          <a:p>
            <a:endParaRPr lang="ru-RU" dirty="0" smtClean="0"/>
          </a:p>
          <a:p>
            <a:r>
              <a:rPr lang="ru-RU" dirty="0" smtClean="0"/>
              <a:t>Технология </a:t>
            </a:r>
            <a:r>
              <a:rPr lang="ru-RU" dirty="0" err="1" smtClean="0"/>
              <a:t>Ethernet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94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1274</Words>
  <Application>Microsoft Office PowerPoint</Application>
  <PresentationFormat>Widescreen</PresentationFormat>
  <Paragraphs>222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PT Sans</vt:lpstr>
      <vt:lpstr>Office Theme</vt:lpstr>
      <vt:lpstr>Сети ЭВМ и телекоммуникации компьютерных сетей</vt:lpstr>
      <vt:lpstr>План занятий по дисциплине</vt:lpstr>
      <vt:lpstr>Литература по курсу</vt:lpstr>
      <vt:lpstr>Проблематика телекоммуникации</vt:lpstr>
      <vt:lpstr>Интернет – система очередей. Коммутация каналов</vt:lpstr>
      <vt:lpstr>Интернет – система очередей. Коммутация пакетов</vt:lpstr>
      <vt:lpstr>Интернет – система очередей. Коммутация пакетов</vt:lpstr>
      <vt:lpstr>Интернет – система очередей. Коммутация пакетов</vt:lpstr>
      <vt:lpstr>Иерархическая организация сети. Декомпозиция</vt:lpstr>
      <vt:lpstr>Иерархическая организация сети. Уровни</vt:lpstr>
      <vt:lpstr>Иерархическая организация сети. Модель OSI</vt:lpstr>
      <vt:lpstr>Иерархическая организация сети. Физический уровень</vt:lpstr>
      <vt:lpstr>Иерархическая организация сети. Канальный уровень</vt:lpstr>
      <vt:lpstr>Иерархическая организация сети. Сетевой уровень</vt:lpstr>
      <vt:lpstr>Иерархическая организация сети. Транспортный уровень</vt:lpstr>
      <vt:lpstr>Иерархическая организация сети. Сеансовый уровень</vt:lpstr>
      <vt:lpstr>Иерархическая организация сети. Представительский уровень</vt:lpstr>
      <vt:lpstr>Иерархическая организация сети. Прикладной уровень</vt:lpstr>
      <vt:lpstr>Иерархическая организация сети. TCP/IP</vt:lpstr>
      <vt:lpstr>Иерархическая организация сети. Инкапсуляция</vt:lpstr>
      <vt:lpstr>Иерархическая организация сети. Демультиплексирование</vt:lpstr>
      <vt:lpstr>Иерархическая организация сети. Пример</vt:lpstr>
      <vt:lpstr>Контроль передачи. CRC/контрольные суммы</vt:lpstr>
      <vt:lpstr>Характеристики канала и линий связи</vt:lpstr>
      <vt:lpstr>Характеристики канала и линий связи</vt:lpstr>
      <vt:lpstr>Характеристики канала и линий связи</vt:lpstr>
      <vt:lpstr>Характеристики канала и линий связи</vt:lpstr>
      <vt:lpstr>Характеристики канала и линий связи</vt:lpstr>
      <vt:lpstr>Типичные заблуждения</vt:lpstr>
      <vt:lpstr>Основа компьютерных сетей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ЭВМ и телекоммуникации компьютерных сетей</dc:title>
  <dc:creator>Владимир Мулюха</dc:creator>
  <cp:lastModifiedBy>Владимир Мулюха</cp:lastModifiedBy>
  <cp:revision>26</cp:revision>
  <dcterms:created xsi:type="dcterms:W3CDTF">2026-01-29T09:33:20Z</dcterms:created>
  <dcterms:modified xsi:type="dcterms:W3CDTF">2026-04-29T20:38:31Z</dcterms:modified>
</cp:coreProperties>
</file>